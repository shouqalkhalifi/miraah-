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p:sldMasterIdLst>
    <p:sldMasterId id="2147483648" r:id="rId4"/>
  </p:sldMasterIdLst>
  <p:notesMasterIdLst>
    <p:notesMasterId r:id="rId5"/>
  </p:notesMasterIdLst>
  <p:sldIdLst>
    <p:sldId id="263" r:id="rId13"/>
    <p:sldId id="264" r:id="rId14"/>
    <p:sldId id="265" r:id="rId15"/>
    <p:sldId id="268" r:id="rId18"/>
    <p:sldId id="266" r:id="rId16"/>
    <p:sldId id="271" r:id="rId21"/>
    <p:sldId id="287" r:id="rId50"/>
    <p:sldId id="279" r:id="rId29"/>
    <p:sldId id="282" r:id="rId32"/>
    <p:sldId id="280" r:id="rId30"/>
    <p:sldId id="281" r:id="rId31"/>
    <p:sldId id="269" r:id="rId19"/>
    <p:sldId id="288" r:id="rId51"/>
    <p:sldId id="272" r:id="rId22"/>
    <p:sldId id="270" r:id="rId20"/>
    <p:sldId id="277" r:id="rId27"/>
    <p:sldId id="278" r:id="rId28"/>
    <p:sldId id="289" r:id="rId52"/>
    <p:sldId id="283" r:id="rId33"/>
    <p:sldId id="275" r:id="rId25"/>
    <p:sldId id="290" r:id="rId53"/>
    <p:sldId id="267" r:id="rId17"/>
    <p:sldId id="276" r:id="rId26"/>
    <p:sldId id="273" r:id="rId23"/>
    <p:sldId id="274" r:id="rId24"/>
    <p:sldId id="286" r:id="rId36"/>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5.xml"/><Relationship Id="rId17" Type="http://schemas.openxmlformats.org/officeDocument/2006/relationships/slide" Target="slides/slide22.xml"/><Relationship Id="rId18" Type="http://schemas.openxmlformats.org/officeDocument/2006/relationships/slide" Target="slides/slide4.xml"/><Relationship Id="rId19" Type="http://schemas.openxmlformats.org/officeDocument/2006/relationships/slide" Target="slides/slide12.xml"/><Relationship Id="rId20" Type="http://schemas.openxmlformats.org/officeDocument/2006/relationships/slide" Target="slides/slide15.xml"/><Relationship Id="rId21" Type="http://schemas.openxmlformats.org/officeDocument/2006/relationships/slide" Target="slides/slide6.xml"/><Relationship Id="rId22" Type="http://schemas.openxmlformats.org/officeDocument/2006/relationships/slide" Target="slides/slide14.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8.xml"/><Relationship Id="rId30" Type="http://schemas.openxmlformats.org/officeDocument/2006/relationships/slide" Target="slides/slide10.xml"/><Relationship Id="rId31" Type="http://schemas.openxmlformats.org/officeDocument/2006/relationships/slide" Target="slides/slide11.xml"/><Relationship Id="rId32" Type="http://schemas.openxmlformats.org/officeDocument/2006/relationships/slide" Target="slides/slide9.xml"/><Relationship Id="rId33" Type="http://schemas.openxmlformats.org/officeDocument/2006/relationships/slide" Target="slides/slide19.xml"/><Relationship Id="rId36" Type="http://schemas.openxmlformats.org/officeDocument/2006/relationships/slide" Target="slides/slide26.xml"/><Relationship Id="rId49" Type="http://customschemas.google.com/relationships/presentationmetadata" Target="metadata"/><Relationship Id="rId50" Type="http://schemas.openxmlformats.org/officeDocument/2006/relationships/slide" Target="slides/slide7.xml"/><Relationship Id="rId51" Type="http://schemas.openxmlformats.org/officeDocument/2006/relationships/slide" Target="slides/slide13.xml"/><Relationship Id="rId52" Type="http://schemas.openxmlformats.org/officeDocument/2006/relationships/slide" Target="slides/slide18.xml"/><Relationship Id="rId5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مِرآة: أداة تكشف أين تغيّر معنى المحتوى الإسلامي وهو ينتقل من الأصل العربي إلى الترجمة والملخص والمنشور، وفي أي حلقة دخل الخلل.</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عرّف بأقسام العرض في كلمات قليلة. عدّل العدد بحسب أقسامك، واحذف العناصر التي لا تحتاجها.</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هذه الشريحة بين الأقسام الرئيسة عند الحاجة. غيّر الرقم والعنوان والجملة التمهيدية.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24" name="Google Shape;52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عنوانًا واضحًا لكل نقطة وشرحًا قصيرًا. يمكن استخدام هذا التخطيط لملخص المشكلة أو مميزات الحل. لا تضف نقاطًا لا تحتاجها لمجرد ملء المساحة.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استخدم فقرة واحدة قصيرة. اجعل السطر بطول مريح للقراءة. يمكن حذف العنوان الداعم والملاحظة عند عدم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7" name="Google Shape;5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مثال حقيقي الشكل: الترجمة سليمة، لكن المنشور المأخوذ عنها جعل الرخصة الخاصة بالمسافر حكماً عاماً، وأسقط وجوب القضاء. لم ينتبه أحد.</a:t>
            </a:r>
          </a:p>
        </p:txBody>
      </p:sp>
      <p:sp>
        <p:nvSpPr>
          <p:cNvPr id="568" name="Google Shape;568;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هذا العنصر النائب مربع بنسبة 1:1. أضف الصورة ثم اضبط القص لتحافظ على الموضوع الأساسي داخل الإطار.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84" name="Google Shape;584;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استبدل القيم ببيانات حقيقية واذكر الوحدة والفترة والمصدر. إذا كان الرقم مستهدفًا، اكتب «مستهدف» في وصف المؤشر. لا تعرض القيم المستهدفة على أنها نتائج محققة.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اكتب رسالة قصيرة ترتبط بمشروعك. إذا استخدمت اقتباسًا، انقله بدقة واذكر صاحبه والمصدر. احذف خانة المصدر إذا كانت الرسالة من صياغة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24" name="Google Shape;624;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عدّل عناوين الأعمدة بحسب بياناتك، ثم أضف الصفوف أو احذفها من أدوات الجدول. ترتيب الأعمدة يبدأ من اليمين.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املأ المراحل من اليمين إلى اليسار. لكل مرحلة اسم وفترة ومخرج واضح. هذا نموذج لخطة مشروع الفريق، وليس جدولًا رسميًا لمواعيد التحدي.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كل عضو واسمه ودوره الفعلي في المشروع. الصور اختيارية. احذف إطار الصورة إن لم تستخدمه، وعدّل عدد الأعضاء بحسب الفريق.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بديل فاتح لعرض النقاط. استخدم النص الكحلي للتباين. يمكن استخدام البنفسجي للتأكيد.</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جدول أصلي قابل للتحرير. مناسب لخطة المهام أو المقارنة التفصيلية. استبدل بيانات الأعمدة والصفوف وأضف المصدر عند الحاجة.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3fa608e3085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8" name="Google Shape;738;g3fa608e3085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اختر تحرير البيانات لاستبدال أسماء الفئات والقيم. القيم 20، 35، 50، 65 أمثلة توضيحية. حدّث عنوان الشريحة والوحدة والمصدر، واحذف عبارة البيانات التوضيحية بعد إدخال البيانات الحقيقية.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39" name="Google Shape;739;g3fa608e3085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9" name="Google Shape;78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الرسم أصلي قابل للتحرير ومرتبط بجدول بيانات مضمن. القيم 40، 30، 20، 10 أمثلة فقط. استبدل الفئات وقيمها ببياناتك. تأكد أن الفئات أجزاء من إجمالي واحد. يعرض الرسم النسب من مجموع القيم المدخلة.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790" name="Google Shape;79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التسلسل من اليمين إلى اليسار: المدخلات، ثم المعالجة، ثم المخرجات، ثم الأثر على المستخدم. استبدل النصوص بين الأقواس بما يناسب مشروعك. كل مرحلة مربع نص واحد قابل للتحرير، ويمكن تكراره أو حذفه. حافظ على تساوي المسافات عند تعديل عدد المراحل.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أضف صورة أو لقطة واجهة واضحة داخل المساحة المخصصة. الصورة تشغل معظم الشريحة مع مساحة مستقلة للنص لضمان القراءة.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اختر صورًا مترابطة، وأضف تعليقًا موجزًا تحت كل صورة. حافظ على أحجام الإطارات والمحاذاة.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الأيقونات الأربع صور أصلية من القالب المرفق، ويمكن تحريكها وتغيير حجمها مع الحفاظ على النسب. كرّر الأيقونة التي تحتاجها. هذه الصفحة لا تدّعي توافر مكتبة أيقونات إضافية غير مرفقة.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قارن الخيارين باستخدام الأبعاد نفسها، مع وصف منصف لكل خيار. يمكن استخدام هذا النموذج لمقارنة الوضع الحالي والحل المقترح.</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احتفظ بشعاري التحول التقني وسدايا باللون الأبيض على الخلفية الداكنة. شعار سدايا أصلي مقتطع بإطار الصورة من مجموعة الشعارات داخل القالب المرفق. استبدل اسم المشروع والرابط، أو احذف سطر الرابط إذا لم تستخدمه.</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الهوية: ملف ATIC-Template-01 والنسخة المحدثة لعرض اللجنة الإشرافية المرفقان.</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3" Type="http://schemas.openxmlformats.org/officeDocument/2006/relationships/image" Target="../media/image4.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مِرآة MIRAAH</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نحافظ على المعنى، لا على الكلمات فقط: منظومة ذكاء اصطناعي تتتبّع المعنى الإسلامي من الأصل العربي إلى كل ترجمة ونسخة، قبل النشر</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شوق سالم الخليفي</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المحتويات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محتويات العرض</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المشكلة</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معنى يتغيّر في الطريق ولا ينتبه أحد</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الحل</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محرك واحد يقابل كل نسخة بأصلها</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التقنية والنتائج</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96٪ كشف مقابل 14٪ للمقياس التقليدي</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القيمة والموثوقية</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ضوابط ثابتة ومصادر رسمية</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الاستمرار والفريق</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ما أُنجز في التحدي وما يليه</a:t>
            </a:r>
            <a:endParaRPr>
              <a:latin typeface="Readex Pro Light"/>
              <a:ea typeface="Readex Pro Light"/>
              <a:cs typeface="Readex Pro Light"/>
              <a:sym typeface="Readex Pro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01</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المشكلة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المعنى الإسلامي قد يتغيّر في الترجمة والتلخيص دون أن يلاحظ أحد</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69" name="Shape 569"/>
        <p:cNvGrpSpPr/>
        <p:nvPr/>
      </p:nvGrpSpPr>
      <p:grpSpPr>
        <a:xfrm>
          <a:off x="0" y="0"/>
          <a:ext cx="0" cy="0"/>
          <a:chOff x="0" y="0"/>
          <a:chExt cx="0" cy="0"/>
        </a:xfrm>
      </p:grpSpPr>
      <p:pic>
        <p:nvPicPr>
          <p:cNvPr id="570" name="Google Shape;570;p13"/>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71" name="Google Shape;571;p13"/>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72" name="Google Shape;572;p1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73" name="Google Shape;573;p1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74" name="Google Shape;574;p1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مصدر موثوق وترجمة سليمة… ثم سقط الشرط</a:t>
            </a:r>
            <a:endParaRPr/>
          </a:p>
        </p:txBody>
      </p:sp>
      <p:sp>
        <p:nvSpPr>
          <p:cNvPr id="575" name="Google Shape;575;p1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76" name="Google Shape;576;p13" descr="home-demo.png"/>
          <p:cNvPicPr>
            <a:picLocks noGrp="1" noChangeAspect="1"/>
          </p:cNvPicPr>
          <p:nvPr>
            <p:ph idx="2" type="pic"/>
          </p:nvPr>
        </p:nvPicPr>
        <p:blipFill>
          <a:blip r:embed="rId5"/>
          <a:srcRect t="12" b="12"/>
          <a:stretch>
            <a:fillRect/>
          </a:stretch>
        </p:blipFill>
        <p:spPr>
          <a:xfrm>
            <a:off x="1428750" y="4048125"/>
            <a:ext cx="8382000" cy="4714800"/>
          </a:xfrm>
        </p:spPr>
      </p:pic>
      <p:sp>
        <p:nvSpPr>
          <p:cNvPr id="577" name="Google Shape;577;p13"/>
          <p:cNvSpPr txBox="1"/>
          <p:nvPr>
            <p:ph idx="3" type="body"/>
          </p:nvPr>
        </p:nvSpPr>
        <p:spPr>
          <a:xfrm>
            <a:off x="10458450" y="409575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ما الذي نراه؟ (مثال اصطناعي)</a:t>
            </a:r>
            <a:endParaRPr/>
          </a:p>
        </p:txBody>
      </p:sp>
      <p:sp>
        <p:nvSpPr>
          <p:cNvPr id="578" name="Google Shape;578;p13"/>
          <p:cNvSpPr txBox="1"/>
          <p:nvPr>
            <p:ph idx="4" type="body"/>
          </p:nvPr>
        </p:nvSpPr>
        <p:spPr>
          <a:xfrm>
            <a:off x="10458450" y="480060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منشور مأخوذ عن ترجمة أمينة: «يجوز للمسافر أن يفطر» صارت «Muslims may break the fast»، واختفت جملة القضاء.</a:t>
            </a:r>
            <a:endParaRPr/>
          </a:p>
        </p:txBody>
      </p:sp>
      <p:sp>
        <p:nvSpPr>
          <p:cNvPr id="579" name="Google Shape;579;p13"/>
          <p:cNvSpPr txBox="1"/>
          <p:nvPr>
            <p:ph idx="5" type="body"/>
          </p:nvPr>
        </p:nvSpPr>
        <p:spPr>
          <a:xfrm>
            <a:off x="10458450" y="6667500"/>
            <a:ext cx="6381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لماذا يهم؟</a:t>
            </a:r>
            <a:endParaRPr/>
          </a:p>
        </p:txBody>
      </p:sp>
      <p:sp>
        <p:nvSpPr>
          <p:cNvPr id="580" name="Google Shape;580;p13"/>
          <p:cNvSpPr txBox="1"/>
          <p:nvPr>
            <p:ph idx="6" type="body"/>
          </p:nvPr>
        </p:nvSpPr>
        <p:spPr>
          <a:xfrm>
            <a:off x="10458450" y="7372350"/>
            <a:ext cx="6381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من يتعرّف على الإسلام بلغة أخرى لا يقرأ الأصل بل النسخة. والمراجع يرى الترجمة الأخيرة وحدها، ولا يعرف أين تغيّر المعنى.</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أعطال لا تكشفها مقاييس الترجمة</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قد تكون الترجمة سليمة لغوياً، ويتغيّر مع ذلك ما يفهمه القارئ</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سقوط القيود</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يُحذف شرط أو استثناء أو درجة يقين، فيصير الحكم أعمّ وأقطع من الأصل.</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نسبة بلا مصدر</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قول مأثور يصير «قال رسول الله ﷺ»، ورأي عالم يصير «الإسلام يوجب».</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الخلافي يصير قطعياً</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مسألة فيها أقوال للعلماء تُعرض قولاً واحداً، فيُظن أنها إجماع.</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ضياع الأثر</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بعد الترجمة والتلخيص وإعادة النشر لا يُعرف في أي حلقة بدأ التغيّر.</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4FF"/>
        </a:solidFill>
      </p:bgPr>
    </p:bg>
    <p:spTree>
      <p:nvGrpSpPr>
        <p:cNvPr id="625" name="Shape 625"/>
        <p:cNvGrpSpPr/>
        <p:nvPr/>
      </p:nvGrpSpPr>
      <p:grpSpPr>
        <a:xfrm>
          <a:off x="0" y="0"/>
          <a:ext cx="0" cy="0"/>
          <a:chOff x="0" y="0"/>
          <a:chExt cx="0" cy="0"/>
        </a:xfrm>
      </p:grpSpPr>
      <p:pic>
        <p:nvPicPr>
          <p:cNvPr id="626" name="Google Shape;626;p16"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627" name="Google Shape;627;p1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628" name="Google Shape;628;p16"/>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يعالج مشروعنا تغيّر المعنى الشرعي</a:t>
            </a:r>
            <a:endParaRPr/>
          </a:p>
          <a:p>
            <a:pPr indent="0" lvl="0" marL="0" rtl="1" algn="ctr">
              <a:lnSpc>
                <a:spcPct val="100000"/>
              </a:lnSpc>
              <a:spcBef>
                <a:spcPts val="0"/>
              </a:spcBef>
              <a:spcAft>
                <a:spcPts val="0"/>
              </a:spcAft>
              <a:buSzPts val="5550"/>
              <a:buNone/>
            </a:pPr>
            <a:r>
              <a:rPr b="1" lang="ar-SA" sz="5550">
                <a:solidFill>
                  <a:srgbClr val="12183F"/>
                </a:solidFill>
                <a:latin typeface="Readex Pro"/>
                <a:ea typeface="Readex Pro"/>
                <a:cs typeface="Readex Pro"/>
                <a:sym typeface="Readex Pro"/>
              </a:rPr>
              <a:t>في رحلة المحتوى من الأصل إلى كل نسخة</a:t>
            </a:r>
            <a:endParaRPr/>
          </a:p>
        </p:txBody>
      </p:sp>
      <p:sp>
        <p:nvSpPr>
          <p:cNvPr id="629" name="Google Shape;629;p16"/>
          <p:cNvSpPr txBox="1"/>
          <p:nvPr>
            <p:ph idx="1" type="body"/>
          </p:nvPr>
        </p:nvSpPr>
        <p:spPr>
          <a:xfrm>
            <a:off x="4202375" y="6905625"/>
            <a:ext cx="10752000" cy="5667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6150EA"/>
                </a:solidFill>
                <a:latin typeface="Readex Pro"/>
                <a:ea typeface="Readex Pro"/>
                <a:cs typeface="Readex Pro"/>
                <a:sym typeface="Readex Pro"/>
              </a:rPr>
              <a:t>ويُقاس نجاحه بدقة كشف التغيّر، وصحة الامتناع عند غياب المرجع، ووقت المراجعة</a:t>
            </a:r>
            <a:endParaRPr/>
          </a:p>
        </p:txBody>
      </p:sp>
      <p:sp>
        <p:nvSpPr>
          <p:cNvPr id="630" name="Google Shape;630;p16"/>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1950"/>
              <a:buNone/>
            </a:pPr>
            <a:r>
              <a:rPr b="0" lang="ar-SA" sz="1950">
                <a:solidFill>
                  <a:srgbClr val="4A5590"/>
                </a:solidFill>
                <a:latin typeface="Readex Pro"/>
                <a:ea typeface="Readex Pro"/>
                <a:cs typeface="Readex Pro"/>
                <a:sym typeface="Readex Pro"/>
              </a:rPr>
              <a:t>الجمهور: المترجمون والمحررون والجهات المنتجة لمحتوى إسلامي متعدد اللغات · المسار المفتوح (02 الترجمة + 04 التحقق)</a:t>
            </a:r>
            <a:endParaRPr/>
          </a:p>
        </p:txBody>
      </p:sp>
      <p:pic>
        <p:nvPicPr>
          <p:cNvPr id="631" name="Google Shape;631;p16"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02</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الحل</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مِرآة تقابل كل نسخة بأصلها، وتكشف ما تغيّر وفي أي حلقة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تعمل مِرآة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الأصل ونسخه إلى تقرير مراجعة قبل النشر</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الأصل العربي ومرجعه، وحتى 6 نسخ</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ترجمة، ملخص، منشور، إجابة ذكاء اصطناعي</a:t>
            </a:r>
            <a:endParaRPr>
              <a:solidFill>
                <a:schemeClr val="dk1"/>
              </a:solidFill>
              <a:latin typeface="Readex Pro"/>
              <a:ea typeface="Readex Pro"/>
              <a:cs typeface="Readex Pro"/>
              <a:sym typeface="Readex Pro"/>
            </a:endParaRPr>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محاذاة الجمل وبصمة المعنى</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قواعد ثابتة، وميزان من مصادر رسمية</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تنبيهات في موضعها وبدليلها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الحلقة التي دخل فيها الخلل، وصياغة مقترحة، وPDF</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«لا تنشر» قبل أن يصل الخطأ</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يُقاس بدقة الكشف ووقت المراجعة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أربعة محركات في مراجعة واحدة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الذكاء الاصطناعي حيث يلزم، والقواعد الثابتة حيث تكفي</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أثر</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يقارن بصمة المعنى بين كل حلقة وأمها، ويحدد أول حلقة انكسر فيها المعنى</a:t>
            </a:r>
            <a:endParaRPr/>
          </a:p>
        </p:txBody>
      </p:sp>
      <p:pic>
        <p:nvPicPr>
          <p:cNvPr id="867" name="Google Shape;867;p27"/>
          <p:cNvPicPr preferRelativeResize="0"/>
          <p:nvPr/>
        </p:nvPicPr>
        <p:blipFill rotWithShape="1">
          <a:blip r:embed="rId6">
            <a:alphaModFix/>
          </a:blip>
          <a:srcRect b="0" l="0" r="0" t="0"/>
          <a:stretch/>
        </p:blipFill>
        <p:spPr>
          <a:xfrm>
            <a:off x="2457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ميزان</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يبحث عن كل آية وحديث منسوب في المدونة، وما لا يجده «غير متحقق»</a:t>
            </a:r>
            <a:endParaRPr/>
          </a:p>
        </p:txBody>
      </p:sp>
      <p:pic>
        <p:nvPicPr>
          <p:cNvPr id="870" name="Google Shape;870;p27"/>
          <p:cNvPicPr preferRelativeResize="0"/>
          <p:nvPr/>
        </p:nvPicPr>
        <p:blipFill rotWithShape="1">
          <a:blip r:embed="rId7">
            <a:alphaModFix/>
          </a:blip>
          <a:srcRect b="0" l="0" r="0" t="0"/>
          <a:stretch/>
        </p:blipFill>
        <p:spPr>
          <a:xfrm>
            <a:off x="104584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فهم</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يفحص المصطلحات بضوابط الحزمة العلمية، ويعرض مخاطر الفهم</a:t>
            </a:r>
            <a:endParaRPr/>
          </a:p>
        </p:txBody>
      </p:sp>
      <p:pic>
        <p:nvPicPr>
          <p:cNvPr id="873" name="Google Shape;873;p27"/>
          <p:cNvPicPr preferRelativeResize="0"/>
          <p:nvPr/>
        </p:nvPicPr>
        <p:blipFill rotWithShape="1">
          <a:blip r:embed="rId8">
            <a:alphaModFix/>
          </a:blip>
          <a:srcRect b="0" l="0" r="0" t="0"/>
          <a:stretch/>
        </p:blipFill>
        <p:spPr>
          <a:xfrm>
            <a:off x="64579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امتحان القارئ</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قارئ يرى الأصل وآخر يرى النسخة، ثم تُقارن إجاباتهما</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34" name="Google Shape;834;p25" descr="report.png"/>
          <p:cNvPicPr>
            <a:picLocks noGrp="1" noChangeAspect="1"/>
          </p:cNvPicPr>
          <p:nvPr>
            <p:ph idx="2" type="pic"/>
          </p:nvPr>
        </p:nvPicPr>
        <p:blipFill>
          <a:blip r:embed="rId4"/>
          <a:srcRect t="15646" b="15646"/>
          <a:stretch>
            <a:fillRect/>
          </a:stretch>
        </p:blipFill>
        <p:spPr>
          <a:xfrm>
            <a:off x="1047750" y="666750"/>
            <a:ext cx="16192500" cy="6953400"/>
          </a:xfrm>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التقرير: ماذا تغيّر، وأين، ولماذا يهم</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مثال اصطناعي: مسألة خلافية في زكاة الحلي تصير قطعية في الملخص، ثم «الإسلام يوجب»، ثم قولاً منسوباً إلى النبي ﷺ</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المحرك نفسه في ثلاثة مواضع</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46" name="Google Shape;846;p26" descr="reverse-result.png"/>
          <p:cNvPicPr>
            <a:picLocks noGrp="1" noChangeAspect="1"/>
          </p:cNvPicPr>
          <p:nvPr>
            <p:ph idx="2" type="pic"/>
          </p:nvPr>
        </p:nvPicPr>
        <p:blipFill>
          <a:blip r:embed="rId5"/>
          <a:srcRect l="11421" r="11421"/>
          <a:stretch>
            <a:fillRect/>
          </a:stretch>
        </p:blipFill>
        <p:spPr>
          <a:xfrm>
            <a:off x="12077700" y="3714750"/>
            <a:ext cx="4762500" cy="4286400"/>
          </a:xfrm>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تحقّق مما قرأت: للقارئ، ولا يُحفظ نصه</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تقرير المراجعة: شاركه أو نزّله PDF</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مصادر مِرآة: المصحف كاملاً و3548 حديثاً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851" name="Google Shape;851;p26" descr="report-trav.png"/>
          <p:cNvPicPr>
            <a:picLocks noGrp="1" noChangeAspect="1"/>
          </p:cNvPicPr>
          <p:nvPr>
            <p:ph idx="2" type="pic"/>
          </p:nvPr>
        </p:nvPicPr>
        <p:blipFill>
          <a:blip r:embed="rId6"/>
          <a:srcRect l="15279" r="15279"/>
          <a:stretch>
            <a:fillRect/>
          </a:stretch>
        </p:blipFill>
        <p:spPr>
          <a:xfrm>
            <a:off x="6743700" y="3714675"/>
            <a:ext cx="4762500" cy="4286400"/>
          </a:xfrm>
        </p:spPr>
      </p:pic>
      <p:pic>
        <p:nvPicPr>
          <p:cNvPr id="852" name="Google Shape;852;p26" descr="sources.png"/>
          <p:cNvPicPr>
            <a:picLocks noGrp="1" noChangeAspect="1"/>
          </p:cNvPicPr>
          <p:nvPr>
            <p:ph idx="2" type="pic"/>
          </p:nvPr>
        </p:nvPicPr>
        <p:blipFill>
          <a:blip r:embed="rId7"/>
          <a:srcRect l="15279" r="15279"/>
          <a:stretch>
            <a:fillRect/>
          </a:stretch>
        </p:blipFill>
        <p:spPr>
          <a:xfrm>
            <a:off x="1409700" y="3714750"/>
            <a:ext cx="4762500" cy="4286400"/>
          </a:xfr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85" name="Shape 585"/>
        <p:cNvGrpSpPr/>
        <p:nvPr/>
      </p:nvGrpSpPr>
      <p:grpSpPr>
        <a:xfrm>
          <a:off x="0" y="0"/>
          <a:ext cx="0" cy="0"/>
          <a:chOff x="0" y="0"/>
          <a:chExt cx="0" cy="0"/>
        </a:xfrm>
      </p:grpSpPr>
      <p:pic>
        <p:nvPicPr>
          <p:cNvPr id="586" name="Google Shape;586;p14"/>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87" name="Google Shape;587;p14"/>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88" name="Google Shape;588;p1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89" name="Google Shape;589;p1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90" name="Google Shape;590;p1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قابِل ذكرك: المحرك نفسه يعلّم الصلاة</a:t>
            </a:r>
            <a:endParaRPr/>
          </a:p>
        </p:txBody>
      </p:sp>
      <p:sp>
        <p:nvSpPr>
          <p:cNvPr id="591" name="Google Shape;591;p1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592" name="Google Shape;592;p14" descr="salah-live.jpg"/>
          <p:cNvPicPr>
            <a:picLocks noGrp="1" noChangeAspect="1"/>
          </p:cNvPicPr>
          <p:nvPr>
            <p:ph idx="2" type="pic"/>
          </p:nvPr>
        </p:nvPicPr>
        <p:blipFill>
          <a:blip r:embed="rId5"/>
          <a:srcRect l="21875" r="21875"/>
          <a:stretch>
            <a:fillRect/>
          </a:stretch>
        </p:blipFill>
        <p:spPr>
          <a:xfrm>
            <a:off x="2190750" y="2999025"/>
            <a:ext cx="5715000" cy="5715000"/>
          </a:xfrm>
        </p:spPr>
      </p:pic>
      <p:sp>
        <p:nvSpPr>
          <p:cNvPr id="593" name="Google Shape;593;p14"/>
          <p:cNvSpPr txBox="1"/>
          <p:nvPr>
            <p:ph idx="3" type="body"/>
          </p:nvPr>
        </p:nvSpPr>
        <p:spPr>
          <a:xfrm>
            <a:off x="9696450" y="3905250"/>
            <a:ext cx="7143900" cy="800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450"/>
              <a:buNone/>
            </a:pPr>
            <a:r>
              <a:rPr b="1" lang="ar-SA" sz="3450">
                <a:solidFill>
                  <a:srgbClr val="2EF2C2"/>
                </a:solidFill>
                <a:latin typeface="Readex Pro"/>
                <a:ea typeface="Readex Pro"/>
                <a:cs typeface="Readex Pro"/>
                <a:sym typeface="Readex Pro"/>
              </a:rPr>
              <a:t>الأحمر ما سقط من الذكر</a:t>
            </a:r>
            <a:endParaRPr/>
          </a:p>
        </p:txBody>
      </p:sp>
      <p:sp>
        <p:nvSpPr>
          <p:cNvPr id="594" name="Google Shape;594;p14"/>
          <p:cNvSpPr txBox="1"/>
          <p:nvPr>
            <p:ph idx="4" type="body"/>
          </p:nvPr>
        </p:nvSpPr>
        <p:spPr>
          <a:xfrm>
            <a:off x="9696450" y="5191125"/>
            <a:ext cx="7143900" cy="20325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2850"/>
              <a:buNone/>
            </a:pPr>
            <a:r>
              <a:rPr lang="ar-SA" sz="2850">
                <a:solidFill>
                  <a:srgbClr val="F2F4FF"/>
                </a:solidFill>
                <a:latin typeface="Readex Pro Light"/>
                <a:ea typeface="Readex Pro Light"/>
                <a:cs typeface="Readex Pro Light"/>
                <a:sym typeface="Readex Pro Light"/>
              </a:rPr>
              <a:t>تقابل مِرآة ما ينطقه المتعلّم بنص الذكر في مصدره كلمةً كلمة، على صورة الكاميرا بخط يُقرأ من بُعد مترين. كل ذكر من مدونتها بمرجعه، والصورة تُحلَّل داخل المتصفح ولا تُرفع.</a:t>
            </a:r>
            <a:endParaRPr>
              <a:latin typeface="Readex Pro Light"/>
              <a:ea typeface="Readex Pro Light"/>
              <a:cs typeface="Readex Pro Light"/>
              <a:sym typeface="Readex Pro Light"/>
            </a:endParaRPr>
          </a:p>
        </p:txBody>
      </p:sp>
      <p:sp>
        <p:nvSpPr>
          <p:cNvPr id="595" name="Google Shape;595;p14"/>
          <p:cNvSpPr txBox="1"/>
          <p:nvPr>
            <p:ph idx="5" type="body"/>
          </p:nvPr>
        </p:nvSpPr>
        <p:spPr>
          <a:xfrm>
            <a:off x="9696450" y="8048625"/>
            <a:ext cx="7143900" cy="743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950"/>
              <a:buNone/>
            </a:pPr>
            <a:r>
              <a:rPr b="0" lang="ar-SA" sz="1950">
                <a:solidFill>
                  <a:srgbClr val="CBCFE6"/>
                </a:solidFill>
                <a:latin typeface="Readex Pro"/>
                <a:ea typeface="Readex Pro"/>
                <a:cs typeface="Readex Pro"/>
                <a:sym typeface="Readex Pro"/>
              </a:rPr>
              <a:t>تدريب على الألفاظ والحركات، لا حكم بصحة الصلاة</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03</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التقنية والنتائج</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الذكاء الاصطناعي حيث يلزم، والقواعد حيث تكفي، والنتائج مقيسة</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ولماذا لا يكفي البديل الأبسط</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لكل تقنية وظيفة محددة، وما لا يحتاج نموذجاً لا يمر بنموذج</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360000"/>
        </p:xfrm>
        <a:graphic>
          <a:graphicData uri="http://schemas.openxmlformats.org/drawingml/2006/table">
            <a:tbl>
              <a:tblPr>
                <a:noFill/>
                <a:tableStyleId>{B8ED9858-D163-4338-9E88-1F424354888F}</a:tableStyleId>
              </a:tblPr>
              <a:tblGrid>
                <a:gridCol w="2286000"/>
                <a:gridCol w="3238500"/>
                <a:gridCol w="61912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لماذا لا يكفي الأبسط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المكوّن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وظيفتها في مِرآة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2EF2C2"/>
                          </a:solidFill>
                          <a:latin typeface="Readex Pro"/>
                          <a:ea typeface="Readex Pro"/>
                          <a:cs typeface="Readex Pro"/>
                          <a:sym typeface="Readex Pro"/>
                        </a:rPr>
                        <a:t>التقنية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التشابه النصي لا يرى سقوط شرط</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align · fingerprint</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محاذاة الجمل وبصمة المعنى وامتحان القارئ</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نموذج لغوي (Claude) بشاهدين</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نتائج ثابتة قابلة للتدقيق</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rules · chain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الشروط والنفي والأرقام والنسبة والخلاف</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قواعد حتمية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يمنع الاعتماد على ذاكرة النموذج</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mizan</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البحث في مدونة محلية من مصادر رسمية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استرجاع </a:t>
                      </a:r>
                      <a:r>
                        <a:rPr b="0" lang="en-US" sz="1600" u="none" cap="none" strike="noStrike">
                          <a:solidFill>
                            <a:srgbClr val="F2F4FF"/>
                          </a:solidFill>
                          <a:latin typeface="Readex Pro"/>
                          <a:ea typeface="Readex Pro"/>
                          <a:cs typeface="Readex Pro"/>
                          <a:sym typeface="Readex Pro"/>
                        </a:rPr>
                        <a:t>BM25</a:t>
                      </a:r>
                      <a:r>
                        <a:rPr b="0" lang="ar-SA" sz="1600" u="none" cap="none" strike="noStrike">
                          <a:solidFill>
                            <a:srgbClr val="F2F4FF"/>
                          </a:solidFill>
                          <a:latin typeface="Readex Pro"/>
                          <a:ea typeface="Readex Pro"/>
                          <a:cs typeface="Readex Pro"/>
                          <a:sym typeface="Readex Pro"/>
                        </a:rPr>
                        <a:t> وتطبيع عربي</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الصورة لا تغادر المتصفح</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MediaPipe</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التعرّف على وضعيات الصلاة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رؤية حاسوبية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مقابلة الذكر بنصه كلمة كلمة</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Web Speech</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الاستماع إلى ما ينطقه المتعلّم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F2F4FF"/>
                          </a:solidFill>
                          <a:latin typeface="Readex Pro"/>
                          <a:ea typeface="Readex Pro"/>
                          <a:cs typeface="Readex Pro"/>
                          <a:sym typeface="Readex Pro"/>
                        </a:rPr>
                        <a:t>تعرّف على الكلام</a:t>
                      </a:r>
                      <a:endParaRPr/>
                    </a:p>
                  </a:txBody>
                  <a:tcPr marT="60000" marB="60000"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FastAPI · SQLite · Docker · تخزين مؤقت للاستجابات وسجل tokens لتقدير التكلفة</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ترى ما لا تراه المقاييس التقليدية</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47 حالة اصطناعية: 28 تغيّراً مزروعاً، و15 صياغة سليمة المعنى، و4 حالات امتناع</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96٪</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التغيّر المزروع</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مِرآة</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14٪</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كشف المقياس التقليدي</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chrF أو نسبة الطول</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صحة الامتناع</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«غير متحقق» بالعبارة الثابتة</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20٪</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إنذارات كاذبة</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على الصياغات السليمة (كانت 44٪)</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الكود النهائي 5 أكتوبر 2026 · الثبات 87٪ بين تشغيلين حيّين · البذور مسودة لم تُراجع بعد</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pic>
        <p:nvPicPr>
          <p:cNvPr id="741" name="Google Shape;741;g3fa608e3085_0_0"/>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42" name="Google Shape;742;g3fa608e3085_0_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43" name="Google Shape;743;g3fa608e3085_0_0"/>
          <p:cNvSpPr txBox="1"/>
          <p:nvPr>
            <p:ph type="title"/>
          </p:nvPr>
        </p:nvSpPr>
        <p:spPr>
          <a:xfrm>
            <a:off x="1409700" y="15811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مِرآة مقابل المقياس التقليدي</a:t>
            </a:r>
            <a:endParaRPr/>
          </a:p>
        </p:txBody>
      </p:sp>
      <p:sp>
        <p:nvSpPr>
          <p:cNvPr id="744" name="Google Shape;744;g3fa608e3085_0_0"/>
          <p:cNvSpPr txBox="1"/>
          <p:nvPr>
            <p:ph idx="2" type="body"/>
          </p:nvPr>
        </p:nvSpPr>
        <p:spPr>
          <a:xfrm>
            <a:off x="1409700" y="2324100"/>
            <a:ext cx="15430500" cy="685800"/>
          </a:xfrm>
          <a:prstGeom prst="rect">
            <a:avLst/>
          </a:prstGeom>
          <a:noFill/>
          <a:ln>
            <a:noFill/>
          </a:ln>
        </p:spPr>
        <p:txBody>
          <a:bodyPr anchorCtr="0" anchor="ctr"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الأعلى أفضل في الكشف، والأقل أفضل في الإنذارات الكاذبة</a:t>
            </a:r>
            <a:endParaRPr/>
          </a:p>
        </p:txBody>
      </p:sp>
      <p:sp>
        <p:nvSpPr>
          <p:cNvPr id="745" name="Google Shape;745;g3fa608e3085_0_0"/>
          <p:cNvSpPr txBox="1"/>
          <p:nvPr>
            <p:ph idx="12" type="sldNum"/>
          </p:nvPr>
        </p:nvSpPr>
        <p:spPr>
          <a:xfrm>
            <a:off x="1066800" y="9467850"/>
            <a:ext cx="952500" cy="400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46" name="Google Shape;746;g3fa608e3085_0_0"/>
          <p:cNvSpPr txBox="1"/>
          <p:nvPr>
            <p:ph idx="3" type="body"/>
          </p:nvPr>
        </p:nvSpPr>
        <p:spPr>
          <a:xfrm>
            <a:off x="2095500" y="8905875"/>
            <a:ext cx="141921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النسبة المئوية · eval/results.md، الكود النهائي 5 أكتوبر 2026، 47 حالة اصطناعية</a:t>
            </a:r>
            <a:endParaRPr/>
          </a:p>
        </p:txBody>
      </p:sp>
      <p:sp>
        <p:nvSpPr>
          <p:cNvPr id="747" name="Google Shape;747;g3fa608e3085_0_0"/>
          <p:cNvSpPr txBox="1"/>
          <p:nvPr/>
        </p:nvSpPr>
        <p:spPr>
          <a:xfrm>
            <a:off x="103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كشف التغيّر المزروع</a:t>
            </a:r>
            <a:endParaRPr sz="1451">
              <a:solidFill>
                <a:srgbClr val="FFFFFF"/>
              </a:solidFill>
              <a:latin typeface="Readex Pro SemiBold"/>
              <a:ea typeface="Readex Pro SemiBold"/>
              <a:cs typeface="Readex Pro SemiBold"/>
              <a:sym typeface="Readex Pro SemiBold"/>
            </a:endParaRPr>
          </a:p>
        </p:txBody>
      </p:sp>
      <p:sp>
        <p:nvSpPr>
          <p:cNvPr id="990" name="Google Shape;747;g3fa608e3085_0_0"/>
          <p:cNvSpPr txBox="1"/>
          <p:nvPr/>
        </p:nvSpPr>
        <p:spPr>
          <a:xfrm>
            <a:off x="4980000" y="8033292"/>
            <a:ext cx="3673200" cy="490752"/>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إنذارات كاذبة على السليم</a:t>
            </a:r>
            <a:endParaRPr sz="1451">
              <a:solidFill>
                <a:srgbClr val="FFFFFF"/>
              </a:solidFill>
              <a:latin typeface="Readex Pro SemiBold"/>
              <a:ea typeface="Readex Pro SemiBold"/>
              <a:cs typeface="Readex Pro SemiBold"/>
              <a:sym typeface="Readex Pro SemiBold"/>
            </a:endParaRPr>
          </a:p>
        </p:txBody>
      </p:sp>
      <p:grpSp>
        <p:nvGrpSpPr>
          <p:cNvPr id="748" name="Google Shape;748;g3fa608e3085_0_0"/>
          <p:cNvGrpSpPr/>
          <p:nvPr/>
        </p:nvGrpSpPr>
        <p:grpSpPr>
          <a:xfrm>
            <a:off x="4980000" y="3991768"/>
            <a:ext cx="1723200" cy="3877231"/>
            <a:chOff x="4980000" y="3991768"/>
            <a:chExt cx="1723200" cy="3877231"/>
          </a:xfrm>
        </p:grpSpPr>
        <p:grpSp>
          <p:nvGrpSpPr>
            <p:cNvPr id="749" name="Google Shape;749;g3fa608e3085_0_0"/>
            <p:cNvGrpSpPr/>
            <p:nvPr/>
          </p:nvGrpSpPr>
          <p:grpSpPr>
            <a:xfrm>
              <a:off x="4980000" y="4425717"/>
              <a:ext cx="1723200" cy="3443282"/>
              <a:chOff x="7838420" y="3212056"/>
              <a:chExt cx="144600" cy="722523"/>
            </a:xfrm>
          </p:grpSpPr>
          <p:sp>
            <p:nvSpPr>
              <p:cNvPr id="750" name="Google Shape;750;g3fa608e3085_0_0"/>
              <p:cNvSpPr/>
              <p:nvPr/>
            </p:nvSpPr>
            <p:spPr>
              <a:xfrm>
                <a:off x="7838420" y="3212056"/>
                <a:ext cx="144600" cy="7224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51" name="Google Shape;75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52" name="Google Shape;752;g3fa608e3085_0_0"/>
            <p:cNvSpPr txBox="1"/>
            <p:nvPr/>
          </p:nvSpPr>
          <p:spPr>
            <a:xfrm>
              <a:off x="4980000" y="3991768"/>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73</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58" name="Google Shape;758;g3fa608e3085_0_0"/>
          <p:cNvGrpSpPr/>
          <p:nvPr/>
        </p:nvGrpSpPr>
        <p:grpSpPr>
          <a:xfrm>
            <a:off x="6930000" y="6491686"/>
            <a:ext cx="1723200" cy="1377314"/>
            <a:chOff x="6930000" y="6491686"/>
            <a:chExt cx="1723200" cy="1377314"/>
          </a:xfrm>
        </p:grpSpPr>
        <p:grpSp>
          <p:nvGrpSpPr>
            <p:cNvPr id="759" name="Google Shape;759;g3fa608e3085_0_0"/>
            <p:cNvGrpSpPr/>
            <p:nvPr/>
          </p:nvGrpSpPr>
          <p:grpSpPr>
            <a:xfrm>
              <a:off x="6930000" y="6925635"/>
              <a:ext cx="1723200" cy="943365"/>
              <a:chOff x="7838420" y="2974225"/>
              <a:chExt cx="144600" cy="960629"/>
            </a:xfrm>
          </p:grpSpPr>
          <p:sp>
            <p:nvSpPr>
              <p:cNvPr id="760" name="Google Shape;760;g3fa608e3085_0_0"/>
              <p:cNvSpPr/>
              <p:nvPr/>
            </p:nvSpPr>
            <p:spPr>
              <a:xfrm>
                <a:off x="7838420" y="2974225"/>
                <a:ext cx="144600" cy="9603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1" name="Google Shape;761;g3fa608e3085_0_0"/>
              <p:cNvSpPr txBox="1"/>
              <p:nvPr/>
            </p:nvSpPr>
            <p:spPr>
              <a:xfrm>
                <a:off x="7838420" y="3764455"/>
                <a:ext cx="144600" cy="170400"/>
              </a:xfrm>
              <a:prstGeom prst="rect">
                <a:avLst/>
              </a:prstGeom>
              <a:noFill/>
              <a:ln>
                <a:noFill/>
              </a:ln>
            </p:spPr>
            <p:txBody>
              <a:bodyPr anchorCtr="0" anchor="ctr" bIns="0" lIns="0" spcFirstLastPara="1" rIns="0" wrap="square" tIns="0">
                <a:noAutofit/>
              </a:bodyPr>
              <a:lstStyle/>
              <a:p>
                <a:pPr indent="0" lvl="0" marL="0" rtl="1" algn="ctr">
                  <a:spcBef>
                    <a:spcPts val="0"/>
                  </a:spcBef>
                  <a:spcAft>
                    <a:spcPts val="0"/>
                  </a:spcAft>
                  <a:buNone/>
                </a:pPr>
                <a:r>
                  <a:rPr lang="ar-SA" sz="1161">
                    <a:latin typeface="Readex Pro"/>
                    <a:ea typeface="Readex Pro"/>
                    <a:cs typeface="Readex Pro"/>
                    <a:sym typeface="Readex Pro"/>
                  </a:rPr>
                  <a:t>مِرآة</a:t>
                </a:r>
                <a:endParaRPr sz="1161">
                  <a:solidFill>
                    <a:srgbClr val="000000"/>
                  </a:solidFill>
                  <a:latin typeface="Readex Pro"/>
                  <a:ea typeface="Readex Pro"/>
                  <a:cs typeface="Readex Pro"/>
                  <a:sym typeface="Readex Pro"/>
                </a:endParaRPr>
              </a:p>
            </p:txBody>
          </p:sp>
        </p:grpSp>
        <p:sp>
          <p:nvSpPr>
            <p:cNvPr id="762" name="Google Shape;762;g3fa608e3085_0_0"/>
            <p:cNvSpPr txBox="1"/>
            <p:nvPr/>
          </p:nvSpPr>
          <p:spPr>
            <a:xfrm>
              <a:off x="6930000" y="6491686"/>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20</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3" name="Google Shape;763;g3fa608e3085_0_0"/>
          <p:cNvGrpSpPr/>
          <p:nvPr/>
        </p:nvGrpSpPr>
        <p:grpSpPr>
          <a:xfrm>
            <a:off x="12330000" y="2906899"/>
            <a:ext cx="1723200" cy="4962101"/>
            <a:chOff x="12330000" y="2906899"/>
            <a:chExt cx="1723200" cy="4962101"/>
          </a:xfrm>
        </p:grpSpPr>
        <p:grpSp>
          <p:nvGrpSpPr>
            <p:cNvPr id="764" name="Google Shape;764;g3fa608e3085_0_0"/>
            <p:cNvGrpSpPr/>
            <p:nvPr/>
          </p:nvGrpSpPr>
          <p:grpSpPr>
            <a:xfrm>
              <a:off x="12330000" y="3340848"/>
              <a:ext cx="1723200" cy="4528152"/>
              <a:chOff x="7838420" y="3043418"/>
              <a:chExt cx="144600" cy="891220"/>
            </a:xfrm>
          </p:grpSpPr>
          <p:sp>
            <p:nvSpPr>
              <p:cNvPr id="765" name="Google Shape;765;g3fa608e3085_0_0"/>
              <p:cNvSpPr/>
              <p:nvPr/>
            </p:nvSpPr>
            <p:spPr>
              <a:xfrm>
                <a:off x="7838420" y="3043418"/>
                <a:ext cx="144600" cy="891000"/>
              </a:xfrm>
              <a:prstGeom prst="roundRect">
                <a:avLst>
                  <a:gd fmla="val 16667" name="adj"/>
                </a:avLst>
              </a:prstGeom>
              <a:solidFill>
                <a:srgbClr val="2EF2C2"/>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66" name="Google Shape;766;g3fa608e3085_0_0"/>
              <p:cNvSpPr txBox="1"/>
              <p:nvPr/>
            </p:nvSpPr>
            <p:spPr>
              <a:xfrm>
                <a:off x="7838420" y="3803838"/>
                <a:ext cx="144600" cy="13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مِرآة</a:t>
                </a:r>
                <a:endParaRPr sz="1161">
                  <a:latin typeface="Readex Pro"/>
                  <a:ea typeface="Readex Pro"/>
                  <a:cs typeface="Readex Pro"/>
                  <a:sym typeface="Readex Pro"/>
                </a:endParaRPr>
              </a:p>
            </p:txBody>
          </p:sp>
        </p:grpSp>
        <p:sp>
          <p:nvSpPr>
            <p:cNvPr id="767" name="Google Shape;767;g3fa608e3085_0_0"/>
            <p:cNvSpPr txBox="1"/>
            <p:nvPr/>
          </p:nvSpPr>
          <p:spPr>
            <a:xfrm>
              <a:off x="12330000" y="2906899"/>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96</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grpSp>
        <p:nvGrpSpPr>
          <p:cNvPr id="768" name="Google Shape;768;g3fa608e3085_0_0"/>
          <p:cNvGrpSpPr/>
          <p:nvPr/>
        </p:nvGrpSpPr>
        <p:grpSpPr>
          <a:xfrm>
            <a:off x="10380000" y="6774695"/>
            <a:ext cx="1723200" cy="1094304"/>
            <a:chOff x="10380000" y="6774695"/>
            <a:chExt cx="1723200" cy="1094304"/>
          </a:xfrm>
        </p:grpSpPr>
        <p:grpSp>
          <p:nvGrpSpPr>
            <p:cNvPr id="769" name="Google Shape;769;g3fa608e3085_0_0"/>
            <p:cNvGrpSpPr/>
            <p:nvPr/>
          </p:nvGrpSpPr>
          <p:grpSpPr>
            <a:xfrm>
              <a:off x="10380000" y="7208644"/>
              <a:ext cx="1723200" cy="660355"/>
              <a:chOff x="7838420" y="2513618"/>
              <a:chExt cx="144600" cy="1420961"/>
            </a:xfrm>
          </p:grpSpPr>
          <p:sp>
            <p:nvSpPr>
              <p:cNvPr id="770" name="Google Shape;770;g3fa608e3085_0_0"/>
              <p:cNvSpPr/>
              <p:nvPr/>
            </p:nvSpPr>
            <p:spPr>
              <a:xfrm>
                <a:off x="7838420" y="2513618"/>
                <a:ext cx="144600" cy="1420800"/>
              </a:xfrm>
              <a:prstGeom prst="roundRect">
                <a:avLst>
                  <a:gd fmla="val 16667" name="adj"/>
                </a:avLst>
              </a:prstGeom>
              <a:solidFill>
                <a:srgbClr val="DCD7FA"/>
              </a:solidFill>
              <a:ln>
                <a:noFill/>
              </a:ln>
            </p:spPr>
            <p:txBody>
              <a:bodyPr anchorCtr="0" anchor="ctr" bIns="132700" lIns="132700" spcFirstLastPara="1" rIns="132700" wrap="square" tIns="132700">
                <a:noAutofit/>
              </a:bodyPr>
              <a:lstStyle/>
              <a:p>
                <a:pPr indent="0" lvl="0" marL="0" rtl="0" algn="ctr">
                  <a:spcBef>
                    <a:spcPts val="0"/>
                  </a:spcBef>
                  <a:spcAft>
                    <a:spcPts val="0"/>
                  </a:spcAft>
                  <a:buNone/>
                </a:pPr>
                <a:r>
                  <a:t/>
                </a:r>
                <a:endParaRPr sz="2032">
                  <a:solidFill>
                    <a:srgbClr val="000000"/>
                  </a:solidFill>
                  <a:latin typeface="Readex Pro"/>
                  <a:ea typeface="Readex Pro"/>
                  <a:cs typeface="Readex Pro"/>
                  <a:sym typeface="Readex Pro"/>
                </a:endParaRPr>
              </a:p>
            </p:txBody>
          </p:sp>
          <p:sp>
            <p:nvSpPr>
              <p:cNvPr id="771" name="Google Shape;771;g3fa608e3085_0_0"/>
              <p:cNvSpPr txBox="1"/>
              <p:nvPr/>
            </p:nvSpPr>
            <p:spPr>
              <a:xfrm>
                <a:off x="7838420" y="3596479"/>
                <a:ext cx="144600" cy="338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161">
                    <a:latin typeface="Readex Pro"/>
                    <a:ea typeface="Readex Pro"/>
                    <a:cs typeface="Readex Pro"/>
                    <a:sym typeface="Readex Pro"/>
                  </a:rPr>
                  <a:t>chrF</a:t>
                </a:r>
                <a:endParaRPr sz="1161">
                  <a:latin typeface="Readex Pro"/>
                  <a:ea typeface="Readex Pro"/>
                  <a:cs typeface="Readex Pro"/>
                  <a:sym typeface="Readex Pro"/>
                </a:endParaRPr>
              </a:p>
            </p:txBody>
          </p:sp>
        </p:grpSp>
        <p:sp>
          <p:nvSpPr>
            <p:cNvPr id="772" name="Google Shape;772;g3fa608e3085_0_0"/>
            <p:cNvSpPr txBox="1"/>
            <p:nvPr/>
          </p:nvSpPr>
          <p:spPr>
            <a:xfrm>
              <a:off x="10380000" y="6774695"/>
              <a:ext cx="17232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14</a:t>
              </a:r>
              <a:r>
                <a:rPr lang="ar-SA" sz="1451">
                  <a:solidFill>
                    <a:srgbClr val="FFFFFF"/>
                  </a:solidFill>
                  <a:latin typeface="Readex Pro SemiBold"/>
                  <a:ea typeface="Readex Pro SemiBold"/>
                  <a:cs typeface="Readex Pro SemiBold"/>
                  <a:sym typeface="Readex Pro SemiBold"/>
                </a:rPr>
                <a:t>%</a:t>
              </a:r>
              <a:endParaRPr sz="1451">
                <a:solidFill>
                  <a:srgbClr val="FFFFFF"/>
                </a:solidFill>
                <a:latin typeface="Readex Pro SemiBold"/>
                <a:ea typeface="Readex Pro SemiBold"/>
                <a:cs typeface="Readex Pro SemiBold"/>
                <a:sym typeface="Readex Pro SemiBold"/>
              </a:endParaRPr>
            </a:p>
          </p:txBody>
        </p:sp>
      </p:grpSp>
      <p:cxnSp>
        <p:nvCxnSpPr>
          <p:cNvPr id="773" name="Google Shape;773;g3fa608e3085_0_0"/>
          <p:cNvCxnSpPr/>
          <p:nvPr/>
        </p:nvCxnSpPr>
        <p:spPr>
          <a:xfrm flipH="1" rot="10800000">
            <a:off x="2011600" y="3016275"/>
            <a:ext cx="24000" cy="4866600"/>
          </a:xfrm>
          <a:prstGeom prst="straightConnector1">
            <a:avLst/>
          </a:prstGeom>
          <a:noFill/>
          <a:ln cap="flat" cmpd="sng" w="9525">
            <a:solidFill>
              <a:srgbClr val="FAF9FF"/>
            </a:solidFill>
            <a:prstDash val="solid"/>
            <a:round/>
            <a:headEnd len="med" w="med" type="diamond"/>
            <a:tailEnd len="med" w="med" type="triangle"/>
          </a:ln>
        </p:spPr>
      </p:cxnSp>
      <p:sp>
        <p:nvSpPr>
          <p:cNvPr id="774" name="Google Shape;774;g3fa608e3085_0_0"/>
          <p:cNvSpPr txBox="1"/>
          <p:nvPr/>
        </p:nvSpPr>
        <p:spPr>
          <a:xfrm>
            <a:off x="1427184" y="768740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0</a:t>
            </a:r>
            <a:endParaRPr sz="800">
              <a:solidFill>
                <a:srgbClr val="F2F4FF"/>
              </a:solidFill>
              <a:latin typeface="Readex Pro"/>
              <a:ea typeface="Readex Pro"/>
              <a:cs typeface="Readex Pro"/>
              <a:sym typeface="Readex Pro"/>
            </a:endParaRPr>
          </a:p>
        </p:txBody>
      </p:sp>
      <p:sp>
        <p:nvSpPr>
          <p:cNvPr id="775" name="Google Shape;775;g3fa608e3085_0_0"/>
          <p:cNvSpPr txBox="1"/>
          <p:nvPr/>
        </p:nvSpPr>
        <p:spPr>
          <a:xfrm>
            <a:off x="1427184" y="721611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a:t>
            </a:r>
            <a:endParaRPr sz="800">
              <a:solidFill>
                <a:srgbClr val="F2F4FF"/>
              </a:solidFill>
              <a:latin typeface="Readex Pro"/>
              <a:ea typeface="Readex Pro"/>
              <a:cs typeface="Readex Pro"/>
              <a:sym typeface="Readex Pro"/>
            </a:endParaRPr>
          </a:p>
        </p:txBody>
      </p:sp>
      <p:sp>
        <p:nvSpPr>
          <p:cNvPr id="776" name="Google Shape;776;g3fa608e3085_0_0"/>
          <p:cNvSpPr txBox="1"/>
          <p:nvPr/>
        </p:nvSpPr>
        <p:spPr>
          <a:xfrm>
            <a:off x="1427184" y="6744822"/>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20</a:t>
            </a:r>
            <a:endParaRPr sz="800">
              <a:solidFill>
                <a:srgbClr val="F2F4FF"/>
              </a:solidFill>
              <a:latin typeface="Readex Pro"/>
              <a:ea typeface="Readex Pro"/>
              <a:cs typeface="Readex Pro"/>
              <a:sym typeface="Readex Pro"/>
            </a:endParaRPr>
          </a:p>
        </p:txBody>
      </p:sp>
      <p:sp>
        <p:nvSpPr>
          <p:cNvPr id="777" name="Google Shape;777;g3fa608e3085_0_0"/>
          <p:cNvSpPr txBox="1"/>
          <p:nvPr/>
        </p:nvSpPr>
        <p:spPr>
          <a:xfrm>
            <a:off x="1427184" y="6273534"/>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30</a:t>
            </a:r>
            <a:endParaRPr sz="800">
              <a:solidFill>
                <a:srgbClr val="F2F4FF"/>
              </a:solidFill>
              <a:latin typeface="Readex Pro"/>
              <a:ea typeface="Readex Pro"/>
              <a:cs typeface="Readex Pro"/>
              <a:sym typeface="Readex Pro"/>
            </a:endParaRPr>
          </a:p>
        </p:txBody>
      </p:sp>
      <p:sp>
        <p:nvSpPr>
          <p:cNvPr id="778" name="Google Shape;778;g3fa608e3085_0_0"/>
          <p:cNvSpPr txBox="1"/>
          <p:nvPr/>
        </p:nvSpPr>
        <p:spPr>
          <a:xfrm>
            <a:off x="1427184" y="5802245"/>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40</a:t>
            </a:r>
            <a:endParaRPr sz="800">
              <a:solidFill>
                <a:srgbClr val="F2F4FF"/>
              </a:solidFill>
              <a:latin typeface="Readex Pro"/>
              <a:ea typeface="Readex Pro"/>
              <a:cs typeface="Readex Pro"/>
              <a:sym typeface="Readex Pro"/>
            </a:endParaRPr>
          </a:p>
        </p:txBody>
      </p:sp>
      <p:sp>
        <p:nvSpPr>
          <p:cNvPr id="779" name="Google Shape;779;g3fa608e3085_0_0"/>
          <p:cNvSpPr txBox="1"/>
          <p:nvPr/>
        </p:nvSpPr>
        <p:spPr>
          <a:xfrm>
            <a:off x="1427184" y="5330956"/>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50</a:t>
            </a:r>
            <a:endParaRPr sz="800">
              <a:solidFill>
                <a:srgbClr val="F2F4FF"/>
              </a:solidFill>
              <a:latin typeface="Readex Pro"/>
              <a:ea typeface="Readex Pro"/>
              <a:cs typeface="Readex Pro"/>
              <a:sym typeface="Readex Pro"/>
            </a:endParaRPr>
          </a:p>
        </p:txBody>
      </p:sp>
      <p:sp>
        <p:nvSpPr>
          <p:cNvPr id="780" name="Google Shape;780;g3fa608e3085_0_0"/>
          <p:cNvSpPr txBox="1"/>
          <p:nvPr/>
        </p:nvSpPr>
        <p:spPr>
          <a:xfrm>
            <a:off x="1427184" y="4859667"/>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60</a:t>
            </a:r>
            <a:endParaRPr sz="800">
              <a:solidFill>
                <a:srgbClr val="F2F4FF"/>
              </a:solidFill>
              <a:latin typeface="Readex Pro"/>
              <a:ea typeface="Readex Pro"/>
              <a:cs typeface="Readex Pro"/>
              <a:sym typeface="Readex Pro"/>
            </a:endParaRPr>
          </a:p>
        </p:txBody>
      </p:sp>
      <p:sp>
        <p:nvSpPr>
          <p:cNvPr id="781" name="Google Shape;781;g3fa608e3085_0_0"/>
          <p:cNvSpPr txBox="1"/>
          <p:nvPr/>
        </p:nvSpPr>
        <p:spPr>
          <a:xfrm>
            <a:off x="1427184" y="4388379"/>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70</a:t>
            </a:r>
            <a:endParaRPr sz="800">
              <a:solidFill>
                <a:srgbClr val="F2F4FF"/>
              </a:solidFill>
              <a:latin typeface="Readex Pro"/>
              <a:ea typeface="Readex Pro"/>
              <a:cs typeface="Readex Pro"/>
              <a:sym typeface="Readex Pro"/>
            </a:endParaRPr>
          </a:p>
        </p:txBody>
      </p:sp>
      <p:sp>
        <p:nvSpPr>
          <p:cNvPr id="782" name="Google Shape;782;g3fa608e3085_0_0"/>
          <p:cNvSpPr txBox="1"/>
          <p:nvPr/>
        </p:nvSpPr>
        <p:spPr>
          <a:xfrm>
            <a:off x="1427184" y="3917090"/>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80</a:t>
            </a:r>
            <a:endParaRPr sz="800">
              <a:solidFill>
                <a:srgbClr val="F2F4FF"/>
              </a:solidFill>
              <a:latin typeface="Readex Pro"/>
              <a:ea typeface="Readex Pro"/>
              <a:cs typeface="Readex Pro"/>
              <a:sym typeface="Readex Pro"/>
            </a:endParaRPr>
          </a:p>
        </p:txBody>
      </p:sp>
      <p:sp>
        <p:nvSpPr>
          <p:cNvPr id="783" name="Google Shape;783;g3fa608e3085_0_0"/>
          <p:cNvSpPr txBox="1"/>
          <p:nvPr/>
        </p:nvSpPr>
        <p:spPr>
          <a:xfrm>
            <a:off x="1427184" y="3445801"/>
            <a:ext cx="4059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90</a:t>
            </a:r>
            <a:endParaRPr sz="800">
              <a:solidFill>
                <a:srgbClr val="F2F4FF"/>
              </a:solidFill>
              <a:latin typeface="Readex Pro"/>
              <a:ea typeface="Readex Pro"/>
              <a:cs typeface="Readex Pro"/>
              <a:sym typeface="Readex Pro"/>
            </a:endParaRPr>
          </a:p>
        </p:txBody>
      </p:sp>
      <p:sp>
        <p:nvSpPr>
          <p:cNvPr id="784" name="Google Shape;784;g3fa608e3085_0_0"/>
          <p:cNvSpPr txBox="1"/>
          <p:nvPr/>
        </p:nvSpPr>
        <p:spPr>
          <a:xfrm>
            <a:off x="1372725" y="3025575"/>
            <a:ext cx="514800" cy="2532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ar-SA" sz="800">
                <a:solidFill>
                  <a:srgbClr val="F2F4FF"/>
                </a:solidFill>
                <a:latin typeface="Readex Pro"/>
                <a:ea typeface="Readex Pro"/>
                <a:cs typeface="Readex Pro"/>
                <a:sym typeface="Readex Pro"/>
              </a:rPr>
              <a:t>100</a:t>
            </a:r>
            <a:endParaRPr sz="800">
              <a:solidFill>
                <a:srgbClr val="F2F4FF"/>
              </a:solidFill>
              <a:latin typeface="Readex Pro"/>
              <a:ea typeface="Readex Pro"/>
              <a:cs typeface="Readex Pro"/>
              <a:sym typeface="Readex Pro"/>
            </a:endParaRPr>
          </a:p>
        </p:txBody>
      </p:sp>
      <p:pic>
        <p:nvPicPr>
          <p:cNvPr id="785" name="Google Shape;785;g3fa608e3085_0_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786" name="Google Shape;786;g3fa608e3085_0_0"/>
          <p:cNvCxnSpPr/>
          <p:nvPr/>
        </p:nvCxnSpPr>
        <p:spPr>
          <a:xfrm rot="10800000">
            <a:off x="2289875" y="7941775"/>
            <a:ext cx="14453700" cy="0"/>
          </a:xfrm>
          <a:prstGeom prst="straightConnector1">
            <a:avLst/>
          </a:prstGeom>
          <a:noFill/>
          <a:ln cap="flat" cmpd="sng" w="9525">
            <a:solidFill>
              <a:srgbClr val="8E99CC"/>
            </a:solidFill>
            <a:prstDash val="solid"/>
            <a:round/>
            <a:headEnd len="med" w="med" type="none"/>
            <a:tailEnd len="med" w="med" type="none"/>
          </a:ln>
        </p:spPr>
      </p:cxn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p23"/>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793" name="Google Shape;793;p23"/>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794" name="Google Shape;794;p23"/>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ماذا اختُبرت مِرآة</a:t>
            </a:r>
            <a:endParaRPr/>
          </a:p>
        </p:txBody>
      </p:sp>
      <p:sp>
        <p:nvSpPr>
          <p:cNvPr id="795" name="Google Shape;795;p23"/>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حالات التقييم: تغيّر مزروع لقياس الكشف، وصياغات سليمة لقياس الإنذار الكاذب، وأقوال بلا مصدر لقياس الامتناع</a:t>
            </a:r>
            <a:endParaRPr/>
          </a:p>
        </p:txBody>
      </p:sp>
      <p:sp>
        <p:nvSpPr>
          <p:cNvPr id="796" name="Google Shape;796;p2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797" name="Google Shape;797;p23"/>
          <p:cNvSpPr txBox="1"/>
          <p:nvPr>
            <p:ph idx="3" type="body"/>
          </p:nvPr>
        </p:nvSpPr>
        <p:spPr>
          <a:xfrm>
            <a:off x="1409700" y="890587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eval/results.md · data/eval/cases.jsonl</a:t>
            </a:r>
            <a:endParaRPr/>
          </a:p>
        </p:txBody>
      </p:sp>
      <p:grpSp>
        <p:nvGrpSpPr>
          <p:cNvPr id="798" name="Google Shape;798;p23"/>
          <p:cNvGrpSpPr/>
          <p:nvPr/>
        </p:nvGrpSpPr>
        <p:grpSpPr>
          <a:xfrm>
            <a:off x="6531752" y="3082259"/>
            <a:ext cx="5501766" cy="5503883"/>
            <a:chOff x="9818123" y="3876685"/>
            <a:chExt cx="3913341" cy="3914847"/>
          </a:xfrm>
        </p:grpSpPr>
        <p:grpSp>
          <p:nvGrpSpPr>
            <p:cNvPr id="799" name="Google Shape;799;p23"/>
            <p:cNvGrpSpPr/>
            <p:nvPr/>
          </p:nvGrpSpPr>
          <p:grpSpPr>
            <a:xfrm>
              <a:off x="9818123" y="3876685"/>
              <a:ext cx="3913341" cy="3914847"/>
              <a:chOff x="7227167" y="3027486"/>
              <a:chExt cx="1559100" cy="1559700"/>
            </a:xfrm>
          </p:grpSpPr>
          <p:sp>
            <p:nvSpPr>
              <p:cNvPr id="800" name="Google Shape;800;p23"/>
              <p:cNvSpPr/>
              <p:nvPr/>
            </p:nvSpPr>
            <p:spPr>
              <a:xfrm rot="2694635">
                <a:off x="7471537" y="3255980"/>
                <a:ext cx="1087390" cy="1087390"/>
              </a:xfrm>
              <a:prstGeom prst="ellipse">
                <a:avLst/>
              </a:prstGeom>
              <a:solidFill>
                <a:srgbClr val="6150EA"/>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id="801" name="Google Shape;801;p23"/>
              <p:cNvSpPr/>
              <p:nvPr/>
            </p:nvSpPr>
            <p:spPr>
              <a:xfrm>
                <a:off x="7455575" y="3255975"/>
                <a:ext cx="1102500" cy="1102500"/>
              </a:xfrm>
              <a:prstGeom prst="pie">
                <a:avLst>
                  <a:gd fmla="val 17234042" name="adj1"/>
                  <a:gd fmla="val 2527659" name="adj2"/>
                </a:avLst>
              </a:prstGeom>
              <a:solidFill>
                <a:srgbClr val="2EF2C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sp>
            <p:nvSpPr>
              <p:cNvPr descr="A pie chart comparing sales across online stores, physical stores, and social media. " id="802" name="Google Shape;802;p23"/>
              <p:cNvSpPr/>
              <p:nvPr/>
            </p:nvSpPr>
            <p:spPr>
              <a:xfrm>
                <a:off x="7455386" y="3256005"/>
                <a:ext cx="1102662" cy="1102662"/>
              </a:xfrm>
              <a:prstGeom prst="pie">
                <a:avLst>
                  <a:gd fmla="val 2527659" name="adj1"/>
                  <a:gd fmla="val 4365957" name="adj2"/>
                </a:avLst>
              </a:prstGeom>
              <a:solidFill>
                <a:srgbClr val="4A90E2"/>
              </a:solidFill>
              <a:ln>
                <a:noFill/>
              </a:ln>
            </p:spPr>
            <p:txBody>
              <a:bodyPr anchorCtr="0" anchor="ctr" bIns="399650" lIns="399650" spcFirstLastPara="1" rIns="399650" wrap="square" tIns="399650">
                <a:noAutofit/>
              </a:bodyPr>
              <a:lstStyle/>
              <a:p>
                <a:pPr indent="0" lvl="0" marL="0" rtl="0" algn="ctr">
                  <a:spcBef>
                    <a:spcPts val="0"/>
                  </a:spcBef>
                  <a:spcAft>
                    <a:spcPts val="0"/>
                  </a:spcAft>
                  <a:buNone/>
                </a:pPr>
                <a:r>
                  <a:t/>
                </a:r>
                <a:endParaRPr sz="6120">
                  <a:solidFill>
                    <a:srgbClr val="000000"/>
                  </a:solidFill>
                  <a:latin typeface="Urbanist"/>
                  <a:ea typeface="Urbanist"/>
                  <a:cs typeface="Urbanist"/>
                  <a:sym typeface="Urbanist"/>
                </a:endParaRPr>
              </a:p>
            </p:txBody>
          </p:sp>
        </p:grpSp>
        <p:sp>
          <p:nvSpPr>
            <p:cNvPr id="803" name="Google Shape;803;p23"/>
            <p:cNvSpPr/>
            <p:nvPr/>
          </p:nvSpPr>
          <p:spPr>
            <a:xfrm>
              <a:off x="11022135" y="5060983"/>
              <a:ext cx="1546200" cy="1546200"/>
            </a:xfrm>
            <a:prstGeom prst="ellipse">
              <a:avLst/>
            </a:prstGeom>
            <a:solidFill>
              <a:srgbClr val="12183F"/>
            </a:solidFill>
            <a:ln cap="flat" cmpd="sng" w="13400">
              <a:solidFill>
                <a:schemeClr val="dk2"/>
              </a:solidFill>
              <a:prstDash val="solid"/>
              <a:round/>
              <a:headEnd len="sm" w="sm" type="none"/>
              <a:tailEnd len="sm" w="sm" type="none"/>
            </a:ln>
          </p:spPr>
          <p:txBody>
            <a:bodyPr anchorCtr="0" anchor="ctr" bIns="128525" lIns="128525" spcFirstLastPara="1" rIns="128525" wrap="square" tIns="128525">
              <a:noAutofit/>
            </a:bodyPr>
            <a:lstStyle/>
            <a:p>
              <a:pPr indent="0" lvl="0" marL="0" rtl="0" algn="ctr">
                <a:spcBef>
                  <a:spcPts val="0"/>
                </a:spcBef>
                <a:spcAft>
                  <a:spcPts val="0"/>
                </a:spcAft>
                <a:buNone/>
              </a:pPr>
              <a:r>
                <a:t/>
              </a:r>
              <a:endParaRPr sz="1968"/>
            </a:p>
          </p:txBody>
        </p:sp>
      </p:grpSp>
      <p:sp>
        <p:nvSpPr>
          <p:cNvPr id="804" name="Google Shape;804;p23"/>
          <p:cNvSpPr txBox="1"/>
          <p:nvPr/>
        </p:nvSpPr>
        <p:spPr>
          <a:xfrm>
            <a:off x="5810250" y="563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60%</a:t>
            </a:r>
            <a:endParaRPr sz="1451">
              <a:solidFill>
                <a:schemeClr val="lt1"/>
              </a:solidFill>
              <a:latin typeface="Readex Pro SemiBold"/>
              <a:ea typeface="Readex Pro SemiBold"/>
              <a:cs typeface="Readex Pro SemiBold"/>
              <a:sym typeface="Readex Pro SemiBold"/>
            </a:endParaRPr>
          </a:p>
        </p:txBody>
      </p:sp>
      <p:sp>
        <p:nvSpPr>
          <p:cNvPr id="805" name="Google Shape;805;p23"/>
          <p:cNvSpPr txBox="1"/>
          <p:nvPr/>
        </p:nvSpPr>
        <p:spPr>
          <a:xfrm>
            <a:off x="5810250" y="602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تغيّر مزروع (28)</a:t>
            </a:r>
            <a:endParaRPr sz="1451">
              <a:solidFill>
                <a:schemeClr val="lt1"/>
              </a:solidFill>
              <a:latin typeface="Readex Pro SemiBold"/>
              <a:ea typeface="Readex Pro SemiBold"/>
              <a:cs typeface="Readex Pro SemiBold"/>
              <a:sym typeface="Readex Pro SemiBold"/>
            </a:endParaRPr>
          </a:p>
        </p:txBody>
      </p:sp>
      <p:sp>
        <p:nvSpPr>
          <p:cNvPr id="806" name="Google Shape;806;p23"/>
          <p:cNvSpPr txBox="1"/>
          <p:nvPr/>
        </p:nvSpPr>
        <p:spPr>
          <a:xfrm>
            <a:off x="11017250" y="3994938"/>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32%</a:t>
            </a:r>
            <a:endParaRPr sz="1451">
              <a:solidFill>
                <a:schemeClr val="lt1"/>
              </a:solidFill>
              <a:latin typeface="Readex Pro SemiBold"/>
              <a:ea typeface="Readex Pro SemiBold"/>
              <a:cs typeface="Readex Pro SemiBold"/>
              <a:sym typeface="Readex Pro SemiBold"/>
            </a:endParaRPr>
          </a:p>
        </p:txBody>
      </p:sp>
      <p:sp>
        <p:nvSpPr>
          <p:cNvPr id="807" name="Google Shape;807;p23"/>
          <p:cNvSpPr txBox="1"/>
          <p:nvPr/>
        </p:nvSpPr>
        <p:spPr>
          <a:xfrm>
            <a:off x="11017250" y="4385450"/>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صياغة سليمة (15)</a:t>
            </a:r>
            <a:endParaRPr sz="1451">
              <a:solidFill>
                <a:schemeClr val="lt1"/>
              </a:solidFill>
              <a:latin typeface="Readex Pro SemiBold"/>
              <a:ea typeface="Readex Pro SemiBold"/>
              <a:cs typeface="Readex Pro SemiBold"/>
              <a:sym typeface="Readex Pro SemiBold"/>
            </a:endParaRPr>
          </a:p>
        </p:txBody>
      </p:sp>
      <p:sp>
        <p:nvSpPr>
          <p:cNvPr id="808" name="Google Shape;808;p23"/>
          <p:cNvSpPr txBox="1"/>
          <p:nvPr/>
        </p:nvSpPr>
        <p:spPr>
          <a:xfrm>
            <a:off x="11017250" y="6900063"/>
            <a:ext cx="1285500" cy="408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8%</a:t>
            </a:r>
            <a:endParaRPr sz="1451">
              <a:solidFill>
                <a:schemeClr val="lt1"/>
              </a:solidFill>
              <a:latin typeface="Readex Pro SemiBold"/>
              <a:ea typeface="Readex Pro SemiBold"/>
              <a:cs typeface="Readex Pro SemiBold"/>
              <a:sym typeface="Readex Pro SemiBold"/>
            </a:endParaRPr>
          </a:p>
        </p:txBody>
      </p:sp>
      <p:sp>
        <p:nvSpPr>
          <p:cNvPr id="809" name="Google Shape;809;p23"/>
          <p:cNvSpPr txBox="1"/>
          <p:nvPr/>
        </p:nvSpPr>
        <p:spPr>
          <a:xfrm>
            <a:off x="11017250" y="7290575"/>
            <a:ext cx="1285500" cy="408000"/>
          </a:xfrm>
          <a:prstGeom prst="rect">
            <a:avLst/>
          </a:prstGeom>
          <a:noFill/>
          <a:ln>
            <a:noFill/>
          </a:ln>
        </p:spPr>
        <p:txBody>
          <a:bodyPr anchorCtr="0" anchor="t" bIns="91425" lIns="91425" spcFirstLastPara="1" rIns="91425" wrap="square" tIns="91425">
            <a:spAutoFit/>
          </a:bodyPr>
          <a:lstStyle/>
          <a:p>
            <a:pPr indent="0" lvl="0" marL="0" rtl="1" algn="ctr">
              <a:spcBef>
                <a:spcPts val="0"/>
              </a:spcBef>
              <a:spcAft>
                <a:spcPts val="0"/>
              </a:spcAft>
              <a:buNone/>
            </a:pPr>
            <a:r>
              <a:rPr lang="ar-SA" sz="1451">
                <a:solidFill>
                  <a:schemeClr val="lt1"/>
                </a:solidFill>
                <a:latin typeface="Readex Pro SemiBold"/>
                <a:ea typeface="Readex Pro SemiBold"/>
                <a:cs typeface="Readex Pro SemiBold"/>
                <a:sym typeface="Readex Pro SemiBold"/>
              </a:rPr>
              <a:t>امتناع (4)</a:t>
            </a:r>
            <a:endParaRPr sz="1451">
              <a:solidFill>
                <a:schemeClr val="lt1"/>
              </a:solidFill>
              <a:latin typeface="Readex Pro SemiBold"/>
              <a:ea typeface="Readex Pro SemiBold"/>
              <a:cs typeface="Readex Pro SemiBold"/>
              <a:sym typeface="Readex Pro SemiBold"/>
            </a:endParaRPr>
          </a:p>
        </p:txBody>
      </p:sp>
      <p:sp>
        <p:nvSpPr>
          <p:cNvPr id="810" name="Google Shape;810;p23"/>
          <p:cNvSpPr txBox="1"/>
          <p:nvPr/>
        </p:nvSpPr>
        <p:spPr>
          <a:xfrm>
            <a:off x="1790508" y="8033292"/>
            <a:ext cx="14685600" cy="490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ar-SA" sz="1451">
                <a:solidFill>
                  <a:srgbClr val="FFFFFF"/>
                </a:solidFill>
                <a:latin typeface="Readex Pro SemiBold"/>
                <a:ea typeface="Readex Pro SemiBold"/>
                <a:cs typeface="Readex Pro SemiBold"/>
                <a:sym typeface="Readex Pro SemiBold"/>
              </a:rPr>
              <a:t>47 حالة اصطناعية</a:t>
            </a:r>
            <a:endParaRPr sz="1451">
              <a:solidFill>
                <a:srgbClr val="FFFFFF"/>
              </a:solidFill>
              <a:latin typeface="Readex Pro SemiBold"/>
              <a:ea typeface="Readex Pro SemiBold"/>
              <a:cs typeface="Readex Pro SemiBold"/>
              <a:sym typeface="Readex Pro SemiBold"/>
            </a:endParaRPr>
          </a:p>
        </p:txBody>
      </p:sp>
      <p:pic>
        <p:nvPicPr>
          <p:cNvPr id="811" name="Google Shape;811;p23"/>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04</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القيمة والموثوقية</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تضيفه مِرآة، والضوابط التي لا تتجاوزها</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تضيفه مِرآة إلى الممارسة الحالية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أساس المقارنة: ماذا يرى المراجع قبل أن ينشر؟</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مِرآة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سجلّ لأثر المعنى عبر السلسلة كلها</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الممارسة الحالية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ترجمة نهائية من أداة أو مترجم</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ما تغيّر، وأين، وفي أي حلقة، ولماذا يهم</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تحتاج مدونة مصادر تتسع</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المترجم والجهة قبل النشر</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سريعة ومألوفة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حكم واحد على «جودة الترجمة»، ولا يظهر أين تغيّر المعنى</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تناسب: النصوص غير الحساسة</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الموثوقية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ضوابط ثابتة في كل خطوة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الامتناع والإحالة جزء من التصميم، لا عطل</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ترجيح</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مِرآة تقابل وتنبّه، والقرار للمراجع؛ والحالة الشخصية تُحال إلى مختص.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اختلاق للمصادر</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ما ليس في المدونة: «لم نعثر على هذا النص في المصادر المعتمدة المتاحة لمِرآة».</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مصادر رسمية</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المصحف من مجمع الملك فهد، و3548 حديثاً بحكمها، والمذاهب الأربعة بكتبها من الدرر السنية.</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الخصوصية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بيانات اصطناعية، ونص القارئ لا يُحفظ، وصورة الكاميرا لا تغادر المتصفح.</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25"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p:nvPr>
            <p:ph idx="1" type="body"/>
          </p:nvPr>
        </p:nvSpPr>
        <p:spPr>
          <a:xfrm>
            <a:off x="13125450" y="3143250"/>
            <a:ext cx="3619500" cy="12384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8400"/>
              <a:buNone/>
            </a:pPr>
            <a:r>
              <a:rPr b="1" lang="ar-SA" sz="8400">
                <a:solidFill>
                  <a:srgbClr val="2EF2C2"/>
                </a:solidFill>
                <a:latin typeface="Readex Pro"/>
                <a:ea typeface="Readex Pro"/>
                <a:cs typeface="Readex Pro"/>
                <a:sym typeface="Readex Pro"/>
              </a:rPr>
              <a:t>05</a:t>
            </a:r>
            <a:endParaRPr/>
          </a:p>
        </p:txBody>
      </p:sp>
      <p:sp>
        <p:nvSpPr>
          <p:cNvPr id="528" name="Google Shape;528;p10"/>
          <p:cNvSpPr txBox="1"/>
          <p:nvPr>
            <p:ph type="title"/>
          </p:nvPr>
        </p:nvSpPr>
        <p:spPr>
          <a:xfrm>
            <a:off x="9179000" y="4810125"/>
            <a:ext cx="7566000" cy="1238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000"/>
              <a:buNone/>
            </a:pPr>
            <a:r>
              <a:rPr b="1" lang="ar-SA" sz="6000">
                <a:solidFill>
                  <a:srgbClr val="F2F4FF"/>
                </a:solidFill>
                <a:latin typeface="Readex Pro"/>
                <a:ea typeface="Readex Pro"/>
                <a:cs typeface="Readex Pro"/>
                <a:sym typeface="Readex Pro"/>
              </a:rPr>
              <a:t>الاستمرار والفريق</a:t>
            </a:r>
            <a:endParaRPr/>
          </a:p>
        </p:txBody>
      </p:sp>
      <p:sp>
        <p:nvSpPr>
          <p:cNvPr id="529" name="Google Shape;529;p10"/>
          <p:cNvSpPr txBox="1"/>
          <p:nvPr>
            <p:ph idx="2" type="body"/>
          </p:nvPr>
        </p:nvSpPr>
        <p:spPr>
          <a:xfrm>
            <a:off x="9729275" y="6572250"/>
            <a:ext cx="7015500" cy="675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0" lang="ar-SA" sz="2850">
                <a:solidFill>
                  <a:srgbClr val="CBCFE6"/>
                </a:solidFill>
                <a:latin typeface="Readex Pro"/>
                <a:ea typeface="Readex Pro"/>
                <a:cs typeface="Readex Pro"/>
                <a:sym typeface="Readex Pro"/>
              </a:rPr>
              <a:t>ما أُنجز في أيام التحدي، وكيف يستمر المشروع</a:t>
            </a:r>
            <a:endParaRPr/>
          </a:p>
        </p:txBody>
      </p:sp>
      <p:pic>
        <p:nvPicPr>
          <p:cNvPr id="530" name="Google Shape;530;p10"/>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ما أُنجز خلال أيام التحدي (4–6 أكتوبر)</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بُني محرك المقابلة قبل التحدي ووُثّقت نسخة البداية في BASELINE.md. وفي أيام التحدي أُضيفت المدونة الرسمية (المصحف كاملاً، و3548 حديثاً)، والمذاهب الأربعة مراجعَ في الميزان، وكشف رقم الآية الخاطئ، و«قابِل ذكرك»، و«ماذا تعلّمت اليوم؟»، وصفحة «مصادر مِرآة».</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كل خطوة موثّقة بتاريخها</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CHANGELOG.md وسجل git بتواريخه الحقيقية: ما قبل التحدي وما بعده مفصولان</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15430500" cy="3360000"/>
        </p:xfrm>
        <a:graphic>
          <a:graphicData uri="http://schemas.openxmlformats.org/drawingml/2006/table">
            <a:tbl>
              <a:tblPr>
                <a:noFill/>
                <a:tableStyleId>{B8ED9858-D163-4338-9E88-1F424354888F}</a:tableStyleId>
              </a:tblPr>
              <a:tblGrid>
                <a:gridCol w="2286000"/>
                <a:gridCol w="2286000"/>
                <a:gridCol w="7143750"/>
                <a:gridCol w="3714750"/>
              </a:tblGrid>
              <a:tr h="560000">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الحالة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الرقم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التفاصيل</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1600" u="none" cap="none" strike="noStrike">
                          <a:solidFill>
                            <a:srgbClr val="6150EA"/>
                          </a:solidFill>
                          <a:latin typeface="Readex Pro"/>
                          <a:ea typeface="Readex Pro"/>
                          <a:cs typeface="Readex Pro"/>
                          <a:sym typeface="Readex Pro"/>
                        </a:rPr>
                        <a:t>العنصر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المترجمون والمحررون والجهات، ثم القرّاء والمسلمون الجدد</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المستفيدون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قائم</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موقع مجاني، وواجهة برمجية للدمج في أدوات التحرير</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القنوات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مُقاس</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23–40 دولاراً</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النموذج اللغوي لكل 1000 جملة، من سجل الاستدعاءات الفعلي</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التكلفة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مقترح</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مجاني للأفراد، واسترداد التكلفة للجهات، ومنح ورعايات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الإيرادات</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560000">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محتملون</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جهات المصادر الرسمية، ودور الترجمة والجمعيات المتخصصة</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1600" u="none" cap="none" strike="noStrike">
                          <a:solidFill>
                            <a:srgbClr val="12183F"/>
                          </a:solidFill>
                          <a:latin typeface="Readex Pro"/>
                          <a:ea typeface="Readex Pro"/>
                          <a:cs typeface="Readex Pro"/>
                          <a:sym typeface="Readex Pro"/>
                        </a:rPr>
                        <a:t>الشركاء</a:t>
                      </a:r>
                      <a:endParaRPr/>
                    </a:p>
                  </a:txBody>
                  <a:tcPr marT="60000" marB="60000"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الاستدامة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نموذج التشغيل والاستمرار</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تكلفة مُقاسة، وواجهة برمجية للجهات، وشركاء محتملون</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عند تعطل المزوّد: التقارير السابقة من التخزين المؤقت، والميزان والقواعد تعمل بلا نموذج · لم يُتواصل مع الشركاء بعد</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منتج يعمل اليوم إلى أداة تعتمدها جهات الترجمة</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الإطلاق</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رابط حي، ومدونة رسمية، وتقييم الكود النهائي</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المستخدمون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نوفمبر 2026</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مع مترجمين: الوقت ودقة الكشف</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 الشرعية</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ديسمبر 2026</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المدونة والمسائل والمصطلحات</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توسيع المحتوى</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أقوال المذاهب من مصادرها، ولغات أخرى</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الشراكات</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2027</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دمج مِرآة في أدوات جهات الترجمة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مشاركة فردية · كُتب الكود بمساعدة Claude Code وCursor، والفكرة والقرار والمراجعة للمطوّرة</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692" name="Google Shape;692;p19" descr="favicon-180.png"/>
          <p:cNvPicPr>
            <a:picLocks noGrp="1" noChangeAspect="1"/>
          </p:cNvPicPr>
          <p:nvPr>
            <p:ph idx="3" type="pic"/>
          </p:nvPr>
        </p:nvPicPr>
        <p:blipFill>
          <a:blip r:embed="rId5"/>
          <a:srcRect/>
          <a:stretch>
            <a:fillRect/>
          </a:stretch>
        </p:blipFill>
        <p:spPr>
          <a:xfrm>
            <a:off x="7858125" y="3857625"/>
            <a:ext cx="2571750" cy="2571750"/>
          </a:xfrm>
        </p:spPr>
      </p:pic>
      <p:sp>
        <p:nvSpPr>
          <p:cNvPr id="693" name="Google Shape;693;p19"/>
          <p:cNvSpPr txBox="1"/>
          <p:nvPr>
            <p:ph idx="4" type="body"/>
          </p:nvPr>
        </p:nvSpPr>
        <p:spPr>
          <a:xfrm>
            <a:off x="7381875"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شوق سالم الخليفي</a:t>
            </a:r>
            <a:endParaRPr/>
          </a:p>
        </p:txBody>
      </p:sp>
      <p:sp>
        <p:nvSpPr>
          <p:cNvPr id="694" name="Google Shape;694;p19"/>
          <p:cNvSpPr txBox="1"/>
          <p:nvPr>
            <p:ph idx="5" type="body"/>
          </p:nvPr>
        </p:nvSpPr>
        <p:spPr>
          <a:xfrm>
            <a:off x="7381875"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الفكرة والمواصفات، والتطوير، والاختبار</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مِرآة MIRAAH · نحافظ على المعنى، لا على الكلمات فقط</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miraah.onrender.com  ·  github.com/Shouqalkhalifi/MIRAAH-</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