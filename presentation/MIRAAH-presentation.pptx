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1.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p:sldMasterIdLst>
    <p:sldMasterId id="2147483648" r:id="rId4"/>
  </p:sldMasterIdLst>
  <p:notesMasterIdLst>
    <p:notesMasterId r:id="rId5"/>
  </p:notesMasterIdLst>
  <p:sldIdLst>
    <p:sldId id="263" r:id="rId13"/>
    <p:sldId id="264" r:id="rId14"/>
    <p:sldId id="265" r:id="rId15"/>
    <p:sldId id="268" r:id="rId18"/>
    <p:sldId id="266" r:id="rId16"/>
    <p:sldId id="271" r:id="rId21"/>
    <p:sldId id="287" r:id="rId50"/>
    <p:sldId id="279" r:id="rId29"/>
    <p:sldId id="282" r:id="rId32"/>
    <p:sldId id="280" r:id="rId30"/>
    <p:sldId id="281" r:id="rId31"/>
    <p:sldId id="269" r:id="rId19"/>
    <p:sldId id="288" r:id="rId51"/>
    <p:sldId id="272" r:id="rId22"/>
    <p:sldId id="270" r:id="rId20"/>
    <p:sldId id="277" r:id="rId27"/>
    <p:sldId id="278" r:id="rId28"/>
    <p:sldId id="289" r:id="rId52"/>
    <p:sldId id="283" r:id="rId33"/>
    <p:sldId id="275" r:id="rId25"/>
    <p:sldId id="290" r:id="rId53"/>
    <p:sldId id="267" r:id="rId17"/>
    <p:sldId id="276" r:id="rId26"/>
    <p:sldId id="273" r:id="rId23"/>
    <p:sldId id="274" r:id="rId24"/>
    <p:sldId id="286" r:id="rId36"/>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9" roundtripDataSignature="AMtx7mh1GeQrG1kO//gaBT9ZQp796F1r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8ED9858-D163-4338-9E88-1F424354888F}">
  <a:tblStyle styleId="{B8ED9858-D163-4338-9E88-1F424354888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5.xml"/><Relationship Id="rId17" Type="http://schemas.openxmlformats.org/officeDocument/2006/relationships/slide" Target="slides/slide22.xml"/><Relationship Id="rId18" Type="http://schemas.openxmlformats.org/officeDocument/2006/relationships/slide" Target="slides/slide4.xml"/><Relationship Id="rId19" Type="http://schemas.openxmlformats.org/officeDocument/2006/relationships/slide" Target="slides/slide12.xml"/><Relationship Id="rId20" Type="http://schemas.openxmlformats.org/officeDocument/2006/relationships/slide" Target="slides/slide15.xml"/><Relationship Id="rId21" Type="http://schemas.openxmlformats.org/officeDocument/2006/relationships/slide" Target="slides/slide6.xml"/><Relationship Id="rId22" Type="http://schemas.openxmlformats.org/officeDocument/2006/relationships/slide" Target="slides/slide14.xml"/><Relationship Id="rId23" Type="http://schemas.openxmlformats.org/officeDocument/2006/relationships/slide" Target="slides/slide24.xml"/><Relationship Id="rId24" Type="http://schemas.openxmlformats.org/officeDocument/2006/relationships/slide" Target="slides/slide25.xml"/><Relationship Id="rId25" Type="http://schemas.openxmlformats.org/officeDocument/2006/relationships/slide" Target="slides/slide20.xml"/><Relationship Id="rId26" Type="http://schemas.openxmlformats.org/officeDocument/2006/relationships/slide" Target="slides/slide23.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8.xml"/><Relationship Id="rId30" Type="http://schemas.openxmlformats.org/officeDocument/2006/relationships/slide" Target="slides/slide10.xml"/><Relationship Id="rId31" Type="http://schemas.openxmlformats.org/officeDocument/2006/relationships/slide" Target="slides/slide11.xml"/><Relationship Id="rId32" Type="http://schemas.openxmlformats.org/officeDocument/2006/relationships/slide" Target="slides/slide9.xml"/><Relationship Id="rId33" Type="http://schemas.openxmlformats.org/officeDocument/2006/relationships/slide" Target="slides/slide19.xml"/><Relationship Id="rId36" Type="http://schemas.openxmlformats.org/officeDocument/2006/relationships/slide" Target="slides/slide26.xml"/><Relationship Id="rId49" Type="http://customschemas.google.com/relationships/presentationmetadata" Target="metadata"/><Relationship Id="rId50" Type="http://schemas.openxmlformats.org/officeDocument/2006/relationships/slide" Target="slides/slide7.xml"/><Relationship Id="rId51" Type="http://schemas.openxmlformats.org/officeDocument/2006/relationships/slide" Target="slides/slide13.xml"/><Relationship Id="rId52" Type="http://schemas.openxmlformats.org/officeDocument/2006/relationships/slide" Target="slides/slide18.xml"/><Relationship Id="rId53"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1" name="Google Shape;48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مِرآة: أداة تكشف أين تغيّر معنى المحتوى الإسلامي وهو ينتقل من الأصل العربي إلى الترجمة والملخص والمنشور، وفي أي حلقة دخل الخلل.</a:t>
            </a:r>
          </a:p>
        </p:txBody>
      </p:sp>
      <p:sp>
        <p:nvSpPr>
          <p:cNvPr id="482" name="Google Shape;48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5" name="Google Shape;49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عرّف بأقسام العرض في كلمات قليلة. عدّل العدد بحسب أقسامك، واحذف العناصر التي لا تحتاجها.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496" name="Google Shape;496;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استخدم هذه الشريحة بين الأقسام الرئيسة عند الحاجة. غيّر الرقم والعنوان والجملة التمهيدية.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24" name="Google Shape;524;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3" name="Google Shape;53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اكتب عنوانًا واضحًا لكل نقطة وشرحًا قصيرًا. يمكن استخدام هذا التخطيط لملخص المشكلة أو مميزات الحل. لا تضف نقاطًا لا تحتاجها لمجرد ملء المساحة.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34" name="Google Shape;53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3" name="Google Shape;55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استخدم فقرة واحدة قصيرة. اجعل السطر بطول مريح للقراءة. يمكن حذف العنوان الداعم والملاحظة عند عدم الحاجة.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54" name="Google Shape;554;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 name="Google Shape;56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مثال حقيقي الشكل: الترجمة سليمة، لكن المنشور المأخوذ عنها جعل الرخصة الخاصة بالمسافر حكماً عاماً، وأسقط وجوب القضاء. لم ينتبه أحد.</a:t>
            </a:r>
          </a:p>
        </p:txBody>
      </p:sp>
      <p:sp>
        <p:nvSpPr>
          <p:cNvPr id="568" name="Google Shape;568;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 name="Google Shape;58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هذا العنصر النائب مربع بنسبة 1:1. أضف الصورة ثم اضبط القص لتحافظ على الموضوع الأساسي داخل الإطار.</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84" name="Google Shape;584;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استبدل القيم ببيانات حقيقية واذكر الوحدة والفترة والمصدر. إذا كان الرقم مستهدفًا، اكتب «مستهدف» في وصف المؤشر. لا تعرض القيم المستهدفة على أنها نتائج محققة.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99" name="Google Shape;599;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3" name="Google Shape;623;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اكتب رسالة قصيرة ترتبط بمشروعك. إذا استخدمت اقتباسًا، انقله بدقة واذكر صاحبه والمصدر. احذف خانة المصدر إذا كانت الرسالة من صياغة الفريق.</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24" name="Google Shape;624;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4" name="Google Shape;634;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جدول أصلي قابل للتحرير. عدّل عناوين الأعمدة بحسب بياناتك، ثم أضف الصفوف أو احذفها من أدوات الجدول. ترتيب الأعمدة يبدأ من اليمين.</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35" name="Google Shape;635;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7" name="Google Shape;64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املأ المراحل من اليمين إلى اليسار. لكل مرحلة اسم وفترة ومخرج واضح. هذا نموذج لخطة مشروع الفريق، وليس جدولًا رسميًا لمواعيد التحدي.</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48" name="Google Shape;648;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3" name="Google Shape;683;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أضف صورة كل عضو واسمه ودوره الفعلي في المشروع. الصور اختيارية. احذف إطار الصورة إن لم تستخدمه، وعدّل عدد الأعضاء بحسب الفريق.</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84" name="Google Shape;684;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6" name="Google Shape;706;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بديل فاتح لعرض النقاط. استخدم النص الكحلي للتباين. يمكن استخدام البنفسجي للتأكيد.</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707" name="Google Shape;707;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5" name="Google Shape;725;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جدول أصلي قابل للتحرير. مناسب لخطة المهام أو المقارنة التفصيلية. استبدل بيانات الأعمدة والصفوف وأضف المصدر عند الحاجة.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726" name="Google Shape;726;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fa608e3085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8" name="Google Shape;738;g3fa608e3085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الرسم أصلي قابل للتحرير ومرتبط بجدول بيانات مضمن. اختر تحرير البيانات لاستبدال أسماء الفئات والقيم. القيم 20، 35، 50، 65 أمثلة توضيحية. حدّث عنوان الشريحة والوحدة والمصدر، واحذف عبارة البيانات التوضيحية بعد إدخال البيانات الحقيقية.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739" name="Google Shape;739;g3fa608e3085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9" name="Google Shape;789;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الرسم أصلي قابل للتحرير ومرتبط بجدول بيانات مضمن. القيم 40، 30، 20، 10 أمثلة فقط. استبدل الفئات وقيمها ببياناتك. تأكد أن الفئات أجزاء من إجمالي واحد. يعرض الرسم النسب من مجموع القيم المدخلة.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790" name="Google Shape;790;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4" name="Google Shape;814;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التسلسل من اليمين إلى اليسار: المدخلات، ثم المعالجة، ثم المخرجات، ثم الأثر على المستخدم. استبدل النصوص بين الأقواس بما يناسب مشروعك. كل مرحلة مربع نص واحد قابل للتحرير، ويمكن تكراره أو حذفه. حافظ على تساوي المسافات عند تعديل عدد المراحل.</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15" name="Google Shape;815;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9" name="Google Shape;829;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أضف صورة أو لقطة واجهة واضحة داخل المساحة المخصصة. الصورة تشغل معظم الشريحة مع مساحة مستقلة للنص لضمان القراءة.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30" name="Google Shape;830;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9" name="Google Shape;839;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اختر صورًا مترابطة، وأضف تعليقًا موجزًا تحت كل صورة. حافظ على أحجام الإطارات والمحاذاة.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40" name="Google Shape;840;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5" name="Google Shape;85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الأيقونات الأربع صور أصلية من القالب المرفق، ويمكن تحريكها وتغيير حجمها مع الحفاظ على النسب. كرّر الأيقونة التي تحتاجها. هذه الصفحة لا تدّعي توافر مكتبة أيقونات إضافية غير مرفقة.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56" name="Google Shape;856;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8" name="Google Shape;878;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قارن الخيارين باستخدام الأبعاد نفسها، مع وصف منصف لكل خيار. يمكن استخدام هذا النموذج لمقارنة الوضع الحالي والحل المقترح.</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79" name="Google Shape;879;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1" name="Google Shape;911;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احتفظ بشعاري التحول التقني وسدايا باللون الأبيض على الخلفية الداكنة. شعار سدايا أصلي مقتطع بإطار الصورة من مجموعة الشعارات داخل القالب المرفق. استبدل اسم المشروع والرابط، أو احذف سطر الرابط إذا لم تستخدمه.</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912" name="Google Shape;912;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غلاف المشروع">
  <p:cSld name="غلاف المشروع">
    <p:bg>
      <p:bgPr>
        <a:solidFill>
          <a:srgbClr val="12183F"/>
        </a:solidFill>
      </p:bgPr>
    </p:bg>
    <p:spTree>
      <p:nvGrpSpPr>
        <p:cNvPr id="11" name="Shape 11"/>
        <p:cNvGrpSpPr/>
        <p:nvPr/>
      </p:nvGrpSpPr>
      <p:grpSpPr>
        <a:xfrm>
          <a:off x="0" y="0"/>
          <a:ext cx="0" cy="0"/>
          <a:chOff x="0" y="0"/>
          <a:chExt cx="0" cy="0"/>
        </a:xfrm>
      </p:grpSpPr>
      <p:pic>
        <p:nvPicPr>
          <p:cNvPr id="12" name="Google Shape;12;p3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 name="Google Shape;13;p34"/>
          <p:cNvPicPr preferRelativeResize="0"/>
          <p:nvPr/>
        </p:nvPicPr>
        <p:blipFill rotWithShape="1">
          <a:blip r:embed="rId3">
            <a:alphaModFix/>
          </a:blip>
          <a:srcRect b="0" l="0" r="0" t="0"/>
          <a:stretch/>
        </p:blipFill>
        <p:spPr>
          <a:xfrm>
            <a:off x="1066800" y="876872"/>
            <a:ext cx="6572250" cy="1684781"/>
          </a:xfrm>
          <a:prstGeom prst="rect">
            <a:avLst/>
          </a:prstGeom>
          <a:noFill/>
          <a:ln>
            <a:noFill/>
          </a:ln>
        </p:spPr>
      </p:pic>
      <p:pic>
        <p:nvPicPr>
          <p:cNvPr id="14" name="Google Shape;14;p34"/>
          <p:cNvPicPr preferRelativeResize="0"/>
          <p:nvPr/>
        </p:nvPicPr>
        <p:blipFill rotWithShape="1">
          <a:blip r:embed="rId4">
            <a:alphaModFix/>
          </a:blip>
          <a:srcRect b="0" l="0" r="0" t="0"/>
          <a:stretch/>
        </p:blipFill>
        <p:spPr>
          <a:xfrm>
            <a:off x="14954250" y="840995"/>
            <a:ext cx="2190750" cy="1385061"/>
          </a:xfrm>
          <a:prstGeom prst="rect">
            <a:avLst/>
          </a:prstGeom>
          <a:noFill/>
          <a:ln>
            <a:noFill/>
          </a:ln>
        </p:spPr>
      </p:pic>
      <p:pic>
        <p:nvPicPr>
          <p:cNvPr id="15" name="Google Shape;15;p34"/>
          <p:cNvPicPr preferRelativeResize="0"/>
          <p:nvPr/>
        </p:nvPicPr>
        <p:blipFill rotWithShape="1">
          <a:blip r:embed="rId5">
            <a:alphaModFix/>
          </a:blip>
          <a:srcRect b="0" l="0" r="0" t="0"/>
          <a:stretch/>
        </p:blipFill>
        <p:spPr>
          <a:xfrm>
            <a:off x="1078258" y="3190875"/>
            <a:ext cx="6701734" cy="6191250"/>
          </a:xfrm>
          <a:prstGeom prst="rect">
            <a:avLst/>
          </a:prstGeom>
          <a:noFill/>
          <a:ln>
            <a:noFill/>
          </a:ln>
        </p:spPr>
      </p:pic>
      <p:sp>
        <p:nvSpPr>
          <p:cNvPr id="16" name="Google Shape;16;p34"/>
          <p:cNvSpPr txBox="1"/>
          <p:nvPr>
            <p:ph type="title"/>
          </p:nvPr>
        </p:nvSpPr>
        <p:spPr>
          <a:xfrm>
            <a:off x="8096250" y="3524250"/>
            <a:ext cx="9048750" cy="1333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 name="Google Shape;17;p34"/>
          <p:cNvSpPr txBox="1"/>
          <p:nvPr>
            <p:ph idx="1" type="body"/>
          </p:nvPr>
        </p:nvSpPr>
        <p:spPr>
          <a:xfrm>
            <a:off x="8096250" y="5334000"/>
            <a:ext cx="9048750" cy="1619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 name="Google Shape;18;p34"/>
          <p:cNvSpPr txBox="1"/>
          <p:nvPr>
            <p:ph idx="2" type="body"/>
          </p:nvPr>
        </p:nvSpPr>
        <p:spPr>
          <a:xfrm>
            <a:off x="8953500" y="7762875"/>
            <a:ext cx="81915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 name="Google Shape;19;p34"/>
          <p:cNvSpPr txBox="1"/>
          <p:nvPr>
            <p:ph idx="3" type="body"/>
          </p:nvPr>
        </p:nvSpPr>
        <p:spPr>
          <a:xfrm>
            <a:off x="1066800" y="9391650"/>
            <a:ext cx="5429250" cy="4953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حتويات العرض">
  <p:cSld name="محتويات العرض">
    <p:bg>
      <p:bgPr>
        <a:solidFill>
          <a:srgbClr val="12183F"/>
        </a:solidFill>
      </p:bgPr>
    </p:bg>
    <p:spTree>
      <p:nvGrpSpPr>
        <p:cNvPr id="20" name="Shape 20"/>
        <p:cNvGrpSpPr/>
        <p:nvPr/>
      </p:nvGrpSpPr>
      <p:grpSpPr>
        <a:xfrm>
          <a:off x="0" y="0"/>
          <a:ext cx="0" cy="0"/>
          <a:chOff x="0" y="0"/>
          <a:chExt cx="0" cy="0"/>
        </a:xfrm>
      </p:grpSpPr>
      <p:pic>
        <p:nvPicPr>
          <p:cNvPr id="21" name="Google Shape;21;p3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 name="Google Shape;22;p3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 name="Google Shape;23;p3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 name="Google Shape;24;p3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 name="Google Shape;25;p3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 name="Google Shape;26;p3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 name="Google Shape;27;p35"/>
          <p:cNvSpPr txBox="1"/>
          <p:nvPr>
            <p:ph idx="2" type="body"/>
          </p:nvPr>
        </p:nvSpPr>
        <p:spPr>
          <a:xfrm>
            <a:off x="12382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 name="Google Shape;28;p35"/>
          <p:cNvSpPr txBox="1"/>
          <p:nvPr>
            <p:ph idx="3" type="body"/>
          </p:nvPr>
        </p:nvSpPr>
        <p:spPr>
          <a:xfrm>
            <a:off x="12382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 name="Google Shape;29;p35"/>
          <p:cNvSpPr txBox="1"/>
          <p:nvPr>
            <p:ph idx="4" type="body"/>
          </p:nvPr>
        </p:nvSpPr>
        <p:spPr>
          <a:xfrm>
            <a:off x="12382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0" name="Google Shape;30;p35"/>
          <p:cNvSpPr txBox="1"/>
          <p:nvPr>
            <p:ph idx="5" type="body"/>
          </p:nvPr>
        </p:nvSpPr>
        <p:spPr>
          <a:xfrm>
            <a:off x="7048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 name="Google Shape;31;p35"/>
          <p:cNvSpPr txBox="1"/>
          <p:nvPr>
            <p:ph idx="6" type="body"/>
          </p:nvPr>
        </p:nvSpPr>
        <p:spPr>
          <a:xfrm>
            <a:off x="7048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2" name="Google Shape;32;p35"/>
          <p:cNvSpPr txBox="1"/>
          <p:nvPr>
            <p:ph idx="7" type="body"/>
          </p:nvPr>
        </p:nvSpPr>
        <p:spPr>
          <a:xfrm>
            <a:off x="7048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3" name="Google Shape;33;p35"/>
          <p:cNvSpPr txBox="1"/>
          <p:nvPr>
            <p:ph idx="8" type="body"/>
          </p:nvPr>
        </p:nvSpPr>
        <p:spPr>
          <a:xfrm>
            <a:off x="1714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4" name="Google Shape;34;p35"/>
          <p:cNvSpPr txBox="1"/>
          <p:nvPr>
            <p:ph idx="9" type="body"/>
          </p:nvPr>
        </p:nvSpPr>
        <p:spPr>
          <a:xfrm>
            <a:off x="1714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5" name="Google Shape;35;p35"/>
          <p:cNvSpPr txBox="1"/>
          <p:nvPr>
            <p:ph idx="13" type="body"/>
          </p:nvPr>
        </p:nvSpPr>
        <p:spPr>
          <a:xfrm>
            <a:off x="1714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6" name="Google Shape;36;p35"/>
          <p:cNvSpPr txBox="1"/>
          <p:nvPr>
            <p:ph idx="14" type="body"/>
          </p:nvPr>
        </p:nvSpPr>
        <p:spPr>
          <a:xfrm>
            <a:off x="12382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7" name="Google Shape;37;p35"/>
          <p:cNvSpPr txBox="1"/>
          <p:nvPr>
            <p:ph idx="15" type="body"/>
          </p:nvPr>
        </p:nvSpPr>
        <p:spPr>
          <a:xfrm>
            <a:off x="12382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8" name="Google Shape;38;p35"/>
          <p:cNvSpPr txBox="1"/>
          <p:nvPr>
            <p:ph idx="16" type="body"/>
          </p:nvPr>
        </p:nvSpPr>
        <p:spPr>
          <a:xfrm>
            <a:off x="12382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9" name="Google Shape;39;p35"/>
          <p:cNvSpPr txBox="1"/>
          <p:nvPr>
            <p:ph idx="17" type="body"/>
          </p:nvPr>
        </p:nvSpPr>
        <p:spPr>
          <a:xfrm>
            <a:off x="7048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0" name="Google Shape;40;p35"/>
          <p:cNvSpPr txBox="1"/>
          <p:nvPr>
            <p:ph idx="18" type="body"/>
          </p:nvPr>
        </p:nvSpPr>
        <p:spPr>
          <a:xfrm>
            <a:off x="7048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1" name="Google Shape;41;p35"/>
          <p:cNvSpPr txBox="1"/>
          <p:nvPr>
            <p:ph idx="19" type="body"/>
          </p:nvPr>
        </p:nvSpPr>
        <p:spPr>
          <a:xfrm>
            <a:off x="7048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2" name="Google Shape;42;p35"/>
          <p:cNvSpPr txBox="1"/>
          <p:nvPr>
            <p:ph idx="20" type="body"/>
          </p:nvPr>
        </p:nvSpPr>
        <p:spPr>
          <a:xfrm>
            <a:off x="1714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3" name="Google Shape;43;p35"/>
          <p:cNvSpPr txBox="1"/>
          <p:nvPr>
            <p:ph idx="21" type="body"/>
          </p:nvPr>
        </p:nvSpPr>
        <p:spPr>
          <a:xfrm>
            <a:off x="1714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4" name="Google Shape;44;p35"/>
          <p:cNvSpPr txBox="1"/>
          <p:nvPr>
            <p:ph idx="22" type="body"/>
          </p:nvPr>
        </p:nvSpPr>
        <p:spPr>
          <a:xfrm>
            <a:off x="1714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صل قسم">
  <p:cSld name="فاصل قسم">
    <p:bg>
      <p:bgPr>
        <a:solidFill>
          <a:srgbClr val="12183F"/>
        </a:solidFill>
      </p:bgPr>
    </p:bg>
    <p:spTree>
      <p:nvGrpSpPr>
        <p:cNvPr id="45" name="Shape 45"/>
        <p:cNvGrpSpPr/>
        <p:nvPr/>
      </p:nvGrpSpPr>
      <p:grpSpPr>
        <a:xfrm>
          <a:off x="0" y="0"/>
          <a:ext cx="0" cy="0"/>
          <a:chOff x="0" y="0"/>
          <a:chExt cx="0" cy="0"/>
        </a:xfrm>
      </p:grpSpPr>
      <p:pic>
        <p:nvPicPr>
          <p:cNvPr id="46" name="Google Shape;46;p3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47" name="Google Shape;47;p36"/>
          <p:cNvPicPr preferRelativeResize="0"/>
          <p:nvPr/>
        </p:nvPicPr>
        <p:blipFill rotWithShape="1">
          <a:blip r:embed="rId3">
            <a:alphaModFix/>
          </a:blip>
          <a:srcRect b="0" l="0" r="0" t="0"/>
          <a:stretch/>
        </p:blipFill>
        <p:spPr>
          <a:xfrm>
            <a:off x="1066800" y="687391"/>
            <a:ext cx="4000500" cy="1025519"/>
          </a:xfrm>
          <a:prstGeom prst="rect">
            <a:avLst/>
          </a:prstGeom>
          <a:noFill/>
          <a:ln>
            <a:noFill/>
          </a:ln>
        </p:spPr>
      </p:pic>
      <p:sp>
        <p:nvSpPr>
          <p:cNvPr id="48" name="Google Shape;48;p36"/>
          <p:cNvSpPr txBox="1"/>
          <p:nvPr>
            <p:ph idx="1" type="body"/>
          </p:nvPr>
        </p:nvSpPr>
        <p:spPr>
          <a:xfrm>
            <a:off x="13430250" y="3143250"/>
            <a:ext cx="3619500" cy="1238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9" name="Google Shape;49;p36"/>
          <p:cNvSpPr txBox="1"/>
          <p:nvPr>
            <p:ph type="title"/>
          </p:nvPr>
        </p:nvSpPr>
        <p:spPr>
          <a:xfrm>
            <a:off x="4953000" y="4810125"/>
            <a:ext cx="12096750" cy="12382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0" name="Google Shape;50;p36"/>
          <p:cNvSpPr txBox="1"/>
          <p:nvPr>
            <p:ph idx="2" type="body"/>
          </p:nvPr>
        </p:nvSpPr>
        <p:spPr>
          <a:xfrm>
            <a:off x="6667500" y="6572250"/>
            <a:ext cx="10382250" cy="1047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p:cSld name="أربع نقاط">
    <p:bg>
      <p:bgPr>
        <a:solidFill>
          <a:srgbClr val="12183F"/>
        </a:solidFill>
      </p:bgPr>
    </p:bg>
    <p:spTree>
      <p:nvGrpSpPr>
        <p:cNvPr id="51" name="Shape 51"/>
        <p:cNvGrpSpPr/>
        <p:nvPr/>
      </p:nvGrpSpPr>
      <p:grpSpPr>
        <a:xfrm>
          <a:off x="0" y="0"/>
          <a:ext cx="0" cy="0"/>
          <a:chOff x="0" y="0"/>
          <a:chExt cx="0" cy="0"/>
        </a:xfrm>
      </p:grpSpPr>
      <p:pic>
        <p:nvPicPr>
          <p:cNvPr id="52" name="Google Shape;52;p3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53" name="Google Shape;53;p37"/>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54" name="Google Shape;54;p3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5" name="Google Shape;55;p3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6" name="Google Shape;56;p3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7" name="Google Shape;57;p3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58" name="Google Shape;58;p3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59" name="Google Shape;59;p37"/>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0" name="Google Shape;60;p37"/>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1" name="Google Shape;61;p37"/>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2" name="Google Shape;62;p37"/>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3" name="Google Shape;63;p37"/>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4" name="Google Shape;64;p37"/>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5" name="Google Shape;65;p37"/>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6" name="Google Shape;66;p37"/>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رئيسي">
  <p:cSld name="نص رئيسي">
    <p:bg>
      <p:bgPr>
        <a:solidFill>
          <a:srgbClr val="12183F"/>
        </a:solidFill>
      </p:bgPr>
    </p:bg>
    <p:spTree>
      <p:nvGrpSpPr>
        <p:cNvPr id="67" name="Shape 67"/>
        <p:cNvGrpSpPr/>
        <p:nvPr/>
      </p:nvGrpSpPr>
      <p:grpSpPr>
        <a:xfrm>
          <a:off x="0" y="0"/>
          <a:ext cx="0" cy="0"/>
          <a:chOff x="0" y="0"/>
          <a:chExt cx="0" cy="0"/>
        </a:xfrm>
      </p:grpSpPr>
      <p:pic>
        <p:nvPicPr>
          <p:cNvPr id="68" name="Google Shape;68;p3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69" name="Google Shape;69;p3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70" name="Google Shape;70;p3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1" name="Google Shape;71;p3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2" name="Google Shape;72;p3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73" name="Google Shape;73;p3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74" name="Google Shape;74;p38"/>
          <p:cNvSpPr txBox="1"/>
          <p:nvPr>
            <p:ph idx="2" type="body"/>
          </p:nvPr>
        </p:nvSpPr>
        <p:spPr>
          <a:xfrm>
            <a:off x="6191250" y="4000500"/>
            <a:ext cx="10953750" cy="2667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5" name="Google Shape;75;p38"/>
          <p:cNvSpPr txBox="1"/>
          <p:nvPr>
            <p:ph idx="3" type="body"/>
          </p:nvPr>
        </p:nvSpPr>
        <p:spPr>
          <a:xfrm>
            <a:off x="6191250" y="7239000"/>
            <a:ext cx="1095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6" name="Google Shape;76;p38"/>
          <p:cNvSpPr txBox="1"/>
          <p:nvPr>
            <p:ph idx="4" type="body"/>
          </p:nvPr>
        </p:nvSpPr>
        <p:spPr>
          <a:xfrm>
            <a:off x="6191250" y="8001000"/>
            <a:ext cx="1095375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عريضة">
  <p:cSld name="نص وصورة عريضة">
    <p:bg>
      <p:bgPr>
        <a:solidFill>
          <a:srgbClr val="12183F"/>
        </a:solidFill>
      </p:bgPr>
    </p:bg>
    <p:spTree>
      <p:nvGrpSpPr>
        <p:cNvPr id="77" name="Shape 77"/>
        <p:cNvGrpSpPr/>
        <p:nvPr/>
      </p:nvGrpSpPr>
      <p:grpSpPr>
        <a:xfrm>
          <a:off x="0" y="0"/>
          <a:ext cx="0" cy="0"/>
          <a:chOff x="0" y="0"/>
          <a:chExt cx="0" cy="0"/>
        </a:xfrm>
      </p:grpSpPr>
      <p:pic>
        <p:nvPicPr>
          <p:cNvPr id="78" name="Google Shape;78;p3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79" name="Google Shape;79;p3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80" name="Google Shape;80;p3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1" name="Google Shape;81;p3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2" name="Google Shape;82;p3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83" name="Google Shape;83;p3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84" name="Google Shape;84;p39"/>
          <p:cNvSpPr/>
          <p:nvPr>
            <p:ph idx="2" type="pic"/>
          </p:nvPr>
        </p:nvSpPr>
        <p:spPr>
          <a:xfrm>
            <a:off x="1428750" y="4048125"/>
            <a:ext cx="8382000" cy="4714875"/>
          </a:xfrm>
          <a:prstGeom prst="rect">
            <a:avLst/>
          </a:prstGeom>
          <a:solidFill>
            <a:srgbClr val="161D48"/>
          </a:solidFill>
          <a:ln cap="flat" cmpd="sng" w="11425">
            <a:solidFill>
              <a:srgbClr val="4A5590"/>
            </a:solidFill>
            <a:prstDash val="solid"/>
            <a:round/>
            <a:headEnd len="sm" w="sm" type="none"/>
            <a:tailEnd len="sm" w="sm" type="none"/>
          </a:ln>
        </p:spPr>
      </p:sp>
      <p:sp>
        <p:nvSpPr>
          <p:cNvPr id="85" name="Google Shape;85;p39"/>
          <p:cNvSpPr txBox="1"/>
          <p:nvPr>
            <p:ph idx="3" type="body"/>
          </p:nvPr>
        </p:nvSpPr>
        <p:spPr>
          <a:xfrm>
            <a:off x="10763250" y="409575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6" name="Google Shape;86;p39"/>
          <p:cNvSpPr txBox="1"/>
          <p:nvPr>
            <p:ph idx="4" type="body"/>
          </p:nvPr>
        </p:nvSpPr>
        <p:spPr>
          <a:xfrm>
            <a:off x="10763250" y="480060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7" name="Google Shape;87;p39"/>
          <p:cNvSpPr txBox="1"/>
          <p:nvPr>
            <p:ph idx="5" type="body"/>
          </p:nvPr>
        </p:nvSpPr>
        <p:spPr>
          <a:xfrm>
            <a:off x="10763250" y="666750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8" name="Google Shape;88;p39"/>
          <p:cNvSpPr txBox="1"/>
          <p:nvPr>
            <p:ph idx="6" type="body"/>
          </p:nvPr>
        </p:nvSpPr>
        <p:spPr>
          <a:xfrm>
            <a:off x="10763250" y="737235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مربعة">
  <p:cSld name="نص وصورة مربعة">
    <p:bg>
      <p:bgPr>
        <a:solidFill>
          <a:srgbClr val="12183F"/>
        </a:solidFill>
      </p:bgPr>
    </p:bg>
    <p:spTree>
      <p:nvGrpSpPr>
        <p:cNvPr id="89" name="Shape 89"/>
        <p:cNvGrpSpPr/>
        <p:nvPr/>
      </p:nvGrpSpPr>
      <p:grpSpPr>
        <a:xfrm>
          <a:off x="0" y="0"/>
          <a:ext cx="0" cy="0"/>
          <a:chOff x="0" y="0"/>
          <a:chExt cx="0" cy="0"/>
        </a:xfrm>
      </p:grpSpPr>
      <p:pic>
        <p:nvPicPr>
          <p:cNvPr id="90" name="Google Shape;90;p4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91" name="Google Shape;91;p4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92" name="Google Shape;92;p4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3" name="Google Shape;93;p4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4" name="Google Shape;94;p4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95" name="Google Shape;95;p4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96" name="Google Shape;96;p40"/>
          <p:cNvSpPr/>
          <p:nvPr>
            <p:ph idx="2" type="pic"/>
          </p:nvPr>
        </p:nvSpPr>
        <p:spPr>
          <a:xfrm>
            <a:off x="2190750" y="3476625"/>
            <a:ext cx="5715000" cy="5715000"/>
          </a:xfrm>
          <a:prstGeom prst="rect">
            <a:avLst/>
          </a:prstGeom>
          <a:solidFill>
            <a:srgbClr val="161D48"/>
          </a:solidFill>
          <a:ln cap="flat" cmpd="sng" w="11425">
            <a:solidFill>
              <a:srgbClr val="4A5590"/>
            </a:solidFill>
            <a:prstDash val="solid"/>
            <a:round/>
            <a:headEnd len="sm" w="sm" type="none"/>
            <a:tailEnd len="sm" w="sm" type="none"/>
          </a:ln>
        </p:spPr>
      </p:sp>
      <p:sp>
        <p:nvSpPr>
          <p:cNvPr id="97" name="Google Shape;97;p40"/>
          <p:cNvSpPr txBox="1"/>
          <p:nvPr>
            <p:ph idx="3" type="body"/>
          </p:nvPr>
        </p:nvSpPr>
        <p:spPr>
          <a:xfrm>
            <a:off x="10001250" y="3905250"/>
            <a:ext cx="7143750" cy="800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8" name="Google Shape;98;p40"/>
          <p:cNvSpPr txBox="1"/>
          <p:nvPr>
            <p:ph idx="4" type="body"/>
          </p:nvPr>
        </p:nvSpPr>
        <p:spPr>
          <a:xfrm>
            <a:off x="10001250" y="5191125"/>
            <a:ext cx="7143750" cy="2428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9" name="Google Shape;99;p40"/>
          <p:cNvSpPr txBox="1"/>
          <p:nvPr>
            <p:ph idx="5" type="body"/>
          </p:nvPr>
        </p:nvSpPr>
        <p:spPr>
          <a:xfrm>
            <a:off x="10001250" y="8048625"/>
            <a:ext cx="71437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ؤشرات">
  <p:cSld name="مؤشرات">
    <p:bg>
      <p:bgPr>
        <a:solidFill>
          <a:srgbClr val="12183F"/>
        </a:solidFill>
      </p:bgPr>
    </p:bg>
    <p:spTree>
      <p:nvGrpSpPr>
        <p:cNvPr id="100" name="Shape 100"/>
        <p:cNvGrpSpPr/>
        <p:nvPr/>
      </p:nvGrpSpPr>
      <p:grpSpPr>
        <a:xfrm>
          <a:off x="0" y="0"/>
          <a:ext cx="0" cy="0"/>
          <a:chOff x="0" y="0"/>
          <a:chExt cx="0" cy="0"/>
        </a:xfrm>
      </p:grpSpPr>
      <p:pic>
        <p:nvPicPr>
          <p:cNvPr id="101" name="Google Shape;101;p41"/>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02" name="Google Shape;102;p41"/>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03" name="Google Shape;103;p41"/>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4" name="Google Shape;104;p41"/>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5" name="Google Shape;105;p41"/>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6" name="Google Shape;106;p4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07" name="Google Shape;107;p4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08" name="Google Shape;108;p41"/>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9" name="Google Shape;109;p41"/>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0" name="Google Shape;110;p41"/>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1" name="Google Shape;111;p41"/>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2" name="Google Shape;112;p41"/>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3" name="Google Shape;113;p41"/>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4" name="Google Shape;114;p41"/>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5" name="Google Shape;115;p41"/>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6" name="Google Shape;116;p41"/>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7" name="Google Shape;117;p41"/>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8" name="Google Shape;118;p41"/>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9" name="Google Shape;119;p41"/>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0" name="Google Shape;120;p41"/>
          <p:cNvSpPr txBox="1"/>
          <p:nvPr>
            <p:ph idx="18" type="body"/>
          </p:nvPr>
        </p:nvSpPr>
        <p:spPr>
          <a:xfrm>
            <a:off x="1714500" y="8763000"/>
            <a:ext cx="15430500" cy="476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رسالة رئيسية">
  <p:cSld name="رسالة رئيسية">
    <p:bg>
      <p:bgPr>
        <a:solidFill>
          <a:srgbClr val="F2F4FF"/>
        </a:solidFill>
      </p:bgPr>
    </p:bg>
    <p:spTree>
      <p:nvGrpSpPr>
        <p:cNvPr id="121" name="Shape 121"/>
        <p:cNvGrpSpPr/>
        <p:nvPr/>
      </p:nvGrpSpPr>
      <p:grpSpPr>
        <a:xfrm>
          <a:off x="0" y="0"/>
          <a:ext cx="0" cy="0"/>
          <a:chOff x="0" y="0"/>
          <a:chExt cx="0" cy="0"/>
        </a:xfrm>
      </p:grpSpPr>
      <p:pic>
        <p:nvPicPr>
          <p:cNvPr id="122" name="Google Shape;122;p4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23" name="Google Shape;123;p42"/>
          <p:cNvPicPr preferRelativeResize="0"/>
          <p:nvPr/>
        </p:nvPicPr>
        <p:blipFill rotWithShape="1">
          <a:blip r:embed="rId3">
            <a:alphaModFix/>
          </a:blip>
          <a:srcRect b="0" l="0" r="0" t="0"/>
          <a:stretch/>
        </p:blipFill>
        <p:spPr>
          <a:xfrm>
            <a:off x="1069873" y="685800"/>
            <a:ext cx="3994355" cy="1238250"/>
          </a:xfrm>
          <a:prstGeom prst="rect">
            <a:avLst/>
          </a:prstGeom>
          <a:noFill/>
          <a:ln>
            <a:noFill/>
          </a:ln>
        </p:spPr>
      </p:pic>
      <p:sp>
        <p:nvSpPr>
          <p:cNvPr id="124" name="Google Shape;124;p4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25" name="Google Shape;125;p4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26" name="Google Shape;126;p42"/>
          <p:cNvSpPr txBox="1"/>
          <p:nvPr>
            <p:ph type="title"/>
          </p:nvPr>
        </p:nvSpPr>
        <p:spPr>
          <a:xfrm>
            <a:off x="2476500" y="3143250"/>
            <a:ext cx="13335000" cy="2952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7" name="Google Shape;127;p42"/>
          <p:cNvSpPr txBox="1"/>
          <p:nvPr>
            <p:ph idx="1" type="body"/>
          </p:nvPr>
        </p:nvSpPr>
        <p:spPr>
          <a:xfrm>
            <a:off x="3333750" y="6905625"/>
            <a:ext cx="1162050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8" name="Google Shape;128;p42"/>
          <p:cNvSpPr txBox="1"/>
          <p:nvPr>
            <p:ph idx="2" type="body"/>
          </p:nvPr>
        </p:nvSpPr>
        <p:spPr>
          <a:xfrm>
            <a:off x="3333750" y="8239125"/>
            <a:ext cx="11620500" cy="523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داكن">
  <p:cSld name="جدول داكن">
    <p:bg>
      <p:bgPr>
        <a:solidFill>
          <a:srgbClr val="12183F"/>
        </a:solidFill>
      </p:bgPr>
    </p:bg>
    <p:spTree>
      <p:nvGrpSpPr>
        <p:cNvPr id="129" name="Shape 129"/>
        <p:cNvGrpSpPr/>
        <p:nvPr/>
      </p:nvGrpSpPr>
      <p:grpSpPr>
        <a:xfrm>
          <a:off x="0" y="0"/>
          <a:ext cx="0" cy="0"/>
          <a:chOff x="0" y="0"/>
          <a:chExt cx="0" cy="0"/>
        </a:xfrm>
      </p:grpSpPr>
      <p:pic>
        <p:nvPicPr>
          <p:cNvPr id="130" name="Google Shape;130;p4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1" name="Google Shape;131;p4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32" name="Google Shape;132;p4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3" name="Google Shape;133;p4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4" name="Google Shape;134;p4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5" name="Google Shape;135;p4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36" name="Google Shape;136;p4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37" name="Google Shape;137;p43"/>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8" name="Google Shape;138;p43"/>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ط زمني">
  <p:cSld name="خط زمني">
    <p:bg>
      <p:bgPr>
        <a:solidFill>
          <a:srgbClr val="12183F"/>
        </a:solidFill>
      </p:bgPr>
    </p:bg>
    <p:spTree>
      <p:nvGrpSpPr>
        <p:cNvPr id="139" name="Shape 139"/>
        <p:cNvGrpSpPr/>
        <p:nvPr/>
      </p:nvGrpSpPr>
      <p:grpSpPr>
        <a:xfrm>
          <a:off x="0" y="0"/>
          <a:ext cx="0" cy="0"/>
          <a:chOff x="0" y="0"/>
          <a:chExt cx="0" cy="0"/>
        </a:xfrm>
      </p:grpSpPr>
      <p:pic>
        <p:nvPicPr>
          <p:cNvPr id="140" name="Google Shape;140;p4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41" name="Google Shape;141;p4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42" name="Google Shape;142;p44"/>
          <p:cNvSpPr/>
          <p:nvPr/>
        </p:nvSpPr>
        <p:spPr>
          <a:xfrm>
            <a:off x="14287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4"/>
          <p:cNvSpPr/>
          <p:nvPr/>
        </p:nvSpPr>
        <p:spPr>
          <a:xfrm>
            <a:off x="111442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4"/>
          <p:cNvSpPr/>
          <p:nvPr/>
        </p:nvSpPr>
        <p:spPr>
          <a:xfrm>
            <a:off x="80010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4"/>
          <p:cNvSpPr/>
          <p:nvPr/>
        </p:nvSpPr>
        <p:spPr>
          <a:xfrm>
            <a:off x="48577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4"/>
          <p:cNvSpPr/>
          <p:nvPr/>
        </p:nvSpPr>
        <p:spPr>
          <a:xfrm>
            <a:off x="1714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8" name="Google Shape;148;p4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9" name="Google Shape;149;p4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0" name="Google Shape;150;p4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51" name="Google Shape;151;p4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52" name="Google Shape;152;p44"/>
          <p:cNvSpPr txBox="1"/>
          <p:nvPr>
            <p:ph idx="3" type="body"/>
          </p:nvPr>
        </p:nvSpPr>
        <p:spPr>
          <a:xfrm>
            <a:off x="14287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3" name="Google Shape;153;p44"/>
          <p:cNvSpPr txBox="1"/>
          <p:nvPr>
            <p:ph idx="4" type="body"/>
          </p:nvPr>
        </p:nvSpPr>
        <p:spPr>
          <a:xfrm>
            <a:off x="14287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4" name="Google Shape;154;p44"/>
          <p:cNvSpPr txBox="1"/>
          <p:nvPr>
            <p:ph idx="5" type="body"/>
          </p:nvPr>
        </p:nvSpPr>
        <p:spPr>
          <a:xfrm>
            <a:off x="14287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5" name="Google Shape;155;p44"/>
          <p:cNvSpPr txBox="1"/>
          <p:nvPr>
            <p:ph idx="6" type="body"/>
          </p:nvPr>
        </p:nvSpPr>
        <p:spPr>
          <a:xfrm>
            <a:off x="14287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6" name="Google Shape;156;p44"/>
          <p:cNvSpPr txBox="1"/>
          <p:nvPr>
            <p:ph idx="7" type="body"/>
          </p:nvPr>
        </p:nvSpPr>
        <p:spPr>
          <a:xfrm>
            <a:off x="111442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7" name="Google Shape;157;p44"/>
          <p:cNvSpPr txBox="1"/>
          <p:nvPr>
            <p:ph idx="8" type="body"/>
          </p:nvPr>
        </p:nvSpPr>
        <p:spPr>
          <a:xfrm>
            <a:off x="111442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8" name="Google Shape;158;p44"/>
          <p:cNvSpPr txBox="1"/>
          <p:nvPr>
            <p:ph idx="9" type="body"/>
          </p:nvPr>
        </p:nvSpPr>
        <p:spPr>
          <a:xfrm>
            <a:off x="111442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9" name="Google Shape;159;p44"/>
          <p:cNvSpPr txBox="1"/>
          <p:nvPr>
            <p:ph idx="13" type="body"/>
          </p:nvPr>
        </p:nvSpPr>
        <p:spPr>
          <a:xfrm>
            <a:off x="111442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0" name="Google Shape;160;p44"/>
          <p:cNvSpPr txBox="1"/>
          <p:nvPr>
            <p:ph idx="14" type="body"/>
          </p:nvPr>
        </p:nvSpPr>
        <p:spPr>
          <a:xfrm>
            <a:off x="80010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1" name="Google Shape;161;p44"/>
          <p:cNvSpPr txBox="1"/>
          <p:nvPr>
            <p:ph idx="15" type="body"/>
          </p:nvPr>
        </p:nvSpPr>
        <p:spPr>
          <a:xfrm>
            <a:off x="80010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2" name="Google Shape;162;p44"/>
          <p:cNvSpPr txBox="1"/>
          <p:nvPr>
            <p:ph idx="16" type="body"/>
          </p:nvPr>
        </p:nvSpPr>
        <p:spPr>
          <a:xfrm>
            <a:off x="80010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3" name="Google Shape;163;p44"/>
          <p:cNvSpPr txBox="1"/>
          <p:nvPr>
            <p:ph idx="17" type="body"/>
          </p:nvPr>
        </p:nvSpPr>
        <p:spPr>
          <a:xfrm>
            <a:off x="80010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4" name="Google Shape;164;p44"/>
          <p:cNvSpPr txBox="1"/>
          <p:nvPr>
            <p:ph idx="18" type="body"/>
          </p:nvPr>
        </p:nvSpPr>
        <p:spPr>
          <a:xfrm>
            <a:off x="48577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5" name="Google Shape;165;p44"/>
          <p:cNvSpPr txBox="1"/>
          <p:nvPr>
            <p:ph idx="19" type="body"/>
          </p:nvPr>
        </p:nvSpPr>
        <p:spPr>
          <a:xfrm>
            <a:off x="48577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6" name="Google Shape;166;p44"/>
          <p:cNvSpPr txBox="1"/>
          <p:nvPr>
            <p:ph idx="20" type="body"/>
          </p:nvPr>
        </p:nvSpPr>
        <p:spPr>
          <a:xfrm>
            <a:off x="48577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7" name="Google Shape;167;p44"/>
          <p:cNvSpPr txBox="1"/>
          <p:nvPr>
            <p:ph idx="21" type="body"/>
          </p:nvPr>
        </p:nvSpPr>
        <p:spPr>
          <a:xfrm>
            <a:off x="48577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8" name="Google Shape;168;p44"/>
          <p:cNvSpPr txBox="1"/>
          <p:nvPr>
            <p:ph idx="22" type="body"/>
          </p:nvPr>
        </p:nvSpPr>
        <p:spPr>
          <a:xfrm>
            <a:off x="1714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9" name="Google Shape;169;p44"/>
          <p:cNvSpPr txBox="1"/>
          <p:nvPr>
            <p:ph idx="23" type="body"/>
          </p:nvPr>
        </p:nvSpPr>
        <p:spPr>
          <a:xfrm>
            <a:off x="1714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0" name="Google Shape;170;p44"/>
          <p:cNvSpPr txBox="1"/>
          <p:nvPr>
            <p:ph idx="24" type="body"/>
          </p:nvPr>
        </p:nvSpPr>
        <p:spPr>
          <a:xfrm>
            <a:off x="1714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1" name="Google Shape;171;p44"/>
          <p:cNvSpPr txBox="1"/>
          <p:nvPr>
            <p:ph idx="25" type="body"/>
          </p:nvPr>
        </p:nvSpPr>
        <p:spPr>
          <a:xfrm>
            <a:off x="1714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ريق العمل">
  <p:cSld name="فريق العمل">
    <p:bg>
      <p:bgPr>
        <a:solidFill>
          <a:srgbClr val="12183F"/>
        </a:solidFill>
      </p:bgPr>
    </p:bg>
    <p:spTree>
      <p:nvGrpSpPr>
        <p:cNvPr id="172" name="Shape 172"/>
        <p:cNvGrpSpPr/>
        <p:nvPr/>
      </p:nvGrpSpPr>
      <p:grpSpPr>
        <a:xfrm>
          <a:off x="0" y="0"/>
          <a:ext cx="0" cy="0"/>
          <a:chOff x="0" y="0"/>
          <a:chExt cx="0" cy="0"/>
        </a:xfrm>
      </p:grpSpPr>
      <p:pic>
        <p:nvPicPr>
          <p:cNvPr id="173" name="Google Shape;173;p4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74" name="Google Shape;174;p4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75" name="Google Shape;175;p4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6" name="Google Shape;176;p4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7" name="Google Shape;177;p45"/>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8" name="Google Shape;178;p4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79" name="Google Shape;179;p4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80" name="Google Shape;180;p45"/>
          <p:cNvSpPr/>
          <p:nvPr>
            <p:ph idx="3" type="pic"/>
          </p:nvPr>
        </p:nvSpPr>
        <p:spPr>
          <a:xfrm>
            <a:off x="14192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1" name="Google Shape;181;p45"/>
          <p:cNvSpPr txBox="1"/>
          <p:nvPr>
            <p:ph idx="4" type="body"/>
          </p:nvPr>
        </p:nvSpPr>
        <p:spPr>
          <a:xfrm>
            <a:off x="13716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2" name="Google Shape;182;p45"/>
          <p:cNvSpPr txBox="1"/>
          <p:nvPr>
            <p:ph idx="5" type="body"/>
          </p:nvPr>
        </p:nvSpPr>
        <p:spPr>
          <a:xfrm>
            <a:off x="13716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3" name="Google Shape;183;p45"/>
          <p:cNvSpPr/>
          <p:nvPr>
            <p:ph idx="6" type="pic"/>
          </p:nvPr>
        </p:nvSpPr>
        <p:spPr>
          <a:xfrm>
            <a:off x="10191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4" name="Google Shape;184;p45"/>
          <p:cNvSpPr txBox="1"/>
          <p:nvPr>
            <p:ph idx="7" type="body"/>
          </p:nvPr>
        </p:nvSpPr>
        <p:spPr>
          <a:xfrm>
            <a:off x="9715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5" name="Google Shape;185;p45"/>
          <p:cNvSpPr txBox="1"/>
          <p:nvPr>
            <p:ph idx="8" type="body"/>
          </p:nvPr>
        </p:nvSpPr>
        <p:spPr>
          <a:xfrm>
            <a:off x="9715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6" name="Google Shape;186;p45"/>
          <p:cNvSpPr/>
          <p:nvPr>
            <p:ph idx="9" type="pic"/>
          </p:nvPr>
        </p:nvSpPr>
        <p:spPr>
          <a:xfrm>
            <a:off x="6191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7" name="Google Shape;187;p45"/>
          <p:cNvSpPr txBox="1"/>
          <p:nvPr>
            <p:ph idx="13" type="body"/>
          </p:nvPr>
        </p:nvSpPr>
        <p:spPr>
          <a:xfrm>
            <a:off x="5715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8" name="Google Shape;188;p45"/>
          <p:cNvSpPr txBox="1"/>
          <p:nvPr>
            <p:ph idx="14" type="body"/>
          </p:nvPr>
        </p:nvSpPr>
        <p:spPr>
          <a:xfrm>
            <a:off x="5715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9" name="Google Shape;189;p45"/>
          <p:cNvSpPr/>
          <p:nvPr>
            <p:ph idx="15" type="pic"/>
          </p:nvPr>
        </p:nvSpPr>
        <p:spPr>
          <a:xfrm>
            <a:off x="2190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90" name="Google Shape;190;p45"/>
          <p:cNvSpPr txBox="1"/>
          <p:nvPr>
            <p:ph idx="16" type="body"/>
          </p:nvPr>
        </p:nvSpPr>
        <p:spPr>
          <a:xfrm>
            <a:off x="1714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1" name="Google Shape;191;p45"/>
          <p:cNvSpPr txBox="1"/>
          <p:nvPr>
            <p:ph idx="17" type="body"/>
          </p:nvPr>
        </p:nvSpPr>
        <p:spPr>
          <a:xfrm>
            <a:off x="1714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فاتحة">
  <p:cSld name="أربع نقاط فاتحة">
    <p:bg>
      <p:bgPr>
        <a:solidFill>
          <a:srgbClr val="F2F4FF"/>
        </a:solidFill>
      </p:bgPr>
    </p:bg>
    <p:spTree>
      <p:nvGrpSpPr>
        <p:cNvPr id="192" name="Shape 192"/>
        <p:cNvGrpSpPr/>
        <p:nvPr/>
      </p:nvGrpSpPr>
      <p:grpSpPr>
        <a:xfrm>
          <a:off x="0" y="0"/>
          <a:ext cx="0" cy="0"/>
          <a:chOff x="0" y="0"/>
          <a:chExt cx="0" cy="0"/>
        </a:xfrm>
      </p:grpSpPr>
      <p:pic>
        <p:nvPicPr>
          <p:cNvPr id="193" name="Google Shape;193;p4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94" name="Google Shape;194;p46"/>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195" name="Google Shape;195;p46"/>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6" name="Google Shape;196;p46"/>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7" name="Google Shape;197;p46"/>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8" name="Google Shape;198;p4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99" name="Google Shape;199;p4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00" name="Google Shape;200;p46"/>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1" name="Google Shape;201;p46"/>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2" name="Google Shape;202;p46"/>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3" name="Google Shape;203;p46"/>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4" name="Google Shape;204;p46"/>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5" name="Google Shape;205;p46"/>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6" name="Google Shape;206;p46"/>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7" name="Google Shape;207;p46"/>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فاتح">
  <p:cSld name="جدول فاتح">
    <p:bg>
      <p:bgPr>
        <a:solidFill>
          <a:srgbClr val="F2F4FF"/>
        </a:solidFill>
      </p:bgPr>
    </p:bg>
    <p:spTree>
      <p:nvGrpSpPr>
        <p:cNvPr id="208" name="Shape 208"/>
        <p:cNvGrpSpPr/>
        <p:nvPr/>
      </p:nvGrpSpPr>
      <p:grpSpPr>
        <a:xfrm>
          <a:off x="0" y="0"/>
          <a:ext cx="0" cy="0"/>
          <a:chOff x="0" y="0"/>
          <a:chExt cx="0" cy="0"/>
        </a:xfrm>
      </p:grpSpPr>
      <p:pic>
        <p:nvPicPr>
          <p:cNvPr id="209" name="Google Shape;209;p4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10" name="Google Shape;210;p47"/>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211" name="Google Shape;211;p4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2" name="Google Shape;212;p4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3" name="Google Shape;213;p4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4" name="Google Shape;214;p4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215" name="Google Shape;215;p4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16" name="Google Shape;216;p47"/>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7" name="Google Shape;217;p47"/>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بالأعمدة">
  <p:cSld name="مقارنة بالأعمدة">
    <p:bg>
      <p:bgPr>
        <a:solidFill>
          <a:srgbClr val="12183F"/>
        </a:solidFill>
      </p:bgPr>
    </p:bg>
    <p:spTree>
      <p:nvGrpSpPr>
        <p:cNvPr id="218" name="Shape 218"/>
        <p:cNvGrpSpPr/>
        <p:nvPr/>
      </p:nvGrpSpPr>
      <p:grpSpPr>
        <a:xfrm>
          <a:off x="0" y="0"/>
          <a:ext cx="0" cy="0"/>
          <a:chOff x="0" y="0"/>
          <a:chExt cx="0" cy="0"/>
        </a:xfrm>
      </p:grpSpPr>
      <p:pic>
        <p:nvPicPr>
          <p:cNvPr id="219" name="Google Shape;219;p4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0" name="Google Shape;220;p4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21" name="Google Shape;221;p4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2" name="Google Shape;222;p4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3" name="Google Shape;223;p48"/>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4" name="Google Shape;224;p4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25" name="Google Shape;225;p4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26" name="Google Shape;226;p48"/>
          <p:cNvSpPr txBox="1"/>
          <p:nvPr>
            <p:ph idx="3" type="body"/>
          </p:nvPr>
        </p:nvSpPr>
        <p:spPr>
          <a:xfrm>
            <a:off x="2095500" y="8905875"/>
            <a:ext cx="1419225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7" name="Google Shape;227;p48"/>
          <p:cNvSpPr/>
          <p:nvPr>
            <p:ph idx="4" type="chart"/>
          </p:nvPr>
        </p:nvSpPr>
        <p:spPr>
          <a:xfrm>
            <a:off x="2095500" y="3905250"/>
            <a:ext cx="14192250" cy="4857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توزيع نسبي">
  <p:cSld name="توزيع نسبي">
    <p:bg>
      <p:bgPr>
        <a:solidFill>
          <a:srgbClr val="12183F"/>
        </a:solidFill>
      </p:bgPr>
    </p:bg>
    <p:spTree>
      <p:nvGrpSpPr>
        <p:cNvPr id="228" name="Shape 228"/>
        <p:cNvGrpSpPr/>
        <p:nvPr/>
      </p:nvGrpSpPr>
      <p:grpSpPr>
        <a:xfrm>
          <a:off x="0" y="0"/>
          <a:ext cx="0" cy="0"/>
          <a:chOff x="0" y="0"/>
          <a:chExt cx="0" cy="0"/>
        </a:xfrm>
      </p:grpSpPr>
      <p:pic>
        <p:nvPicPr>
          <p:cNvPr id="229" name="Google Shape;229;p4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30" name="Google Shape;230;p4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1" name="Google Shape;231;p4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2" name="Google Shape;232;p4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3" name="Google Shape;233;p49"/>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4" name="Google Shape;234;p4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35" name="Google Shape;235;p4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36" name="Google Shape;236;p49"/>
          <p:cNvSpPr txBox="1"/>
          <p:nvPr>
            <p:ph idx="3" type="body"/>
          </p:nvPr>
        </p:nvSpPr>
        <p:spPr>
          <a:xfrm>
            <a:off x="1714500" y="890587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7" name="Google Shape;237;p49"/>
          <p:cNvSpPr/>
          <p:nvPr>
            <p:ph idx="4" type="chart"/>
          </p:nvPr>
        </p:nvSpPr>
        <p:spPr>
          <a:xfrm>
            <a:off x="2095500" y="3619500"/>
            <a:ext cx="14097000" cy="5381625"/>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آلية العمل">
  <p:cSld name="آلية العمل">
    <p:bg>
      <p:bgPr>
        <a:solidFill>
          <a:srgbClr val="12183F"/>
        </a:solidFill>
      </p:bgPr>
    </p:bg>
    <p:spTree>
      <p:nvGrpSpPr>
        <p:cNvPr id="238" name="Shape 238"/>
        <p:cNvGrpSpPr/>
        <p:nvPr/>
      </p:nvGrpSpPr>
      <p:grpSpPr>
        <a:xfrm>
          <a:off x="0" y="0"/>
          <a:ext cx="0" cy="0"/>
          <a:chOff x="0" y="0"/>
          <a:chExt cx="0" cy="0"/>
        </a:xfrm>
      </p:grpSpPr>
      <p:pic>
        <p:nvPicPr>
          <p:cNvPr id="239" name="Google Shape;239;p5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40" name="Google Shape;240;p5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41" name="Google Shape;241;p5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2" name="Google Shape;242;p5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3" name="Google Shape;243;p50"/>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4" name="Google Shape;244;p5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45" name="Google Shape;245;p5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46" name="Google Shape;246;p50"/>
          <p:cNvSpPr txBox="1"/>
          <p:nvPr>
            <p:ph idx="3" type="body"/>
          </p:nvPr>
        </p:nvSpPr>
        <p:spPr>
          <a:xfrm>
            <a:off x="13716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7" name="Google Shape;247;p50"/>
          <p:cNvSpPr txBox="1"/>
          <p:nvPr>
            <p:ph idx="4" type="body"/>
          </p:nvPr>
        </p:nvSpPr>
        <p:spPr>
          <a:xfrm>
            <a:off x="9715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8" name="Google Shape;248;p50"/>
          <p:cNvSpPr txBox="1"/>
          <p:nvPr>
            <p:ph idx="5" type="body"/>
          </p:nvPr>
        </p:nvSpPr>
        <p:spPr>
          <a:xfrm>
            <a:off x="5715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9" name="Google Shape;249;p50"/>
          <p:cNvSpPr txBox="1"/>
          <p:nvPr>
            <p:ph idx="6" type="body"/>
          </p:nvPr>
        </p:nvSpPr>
        <p:spPr>
          <a:xfrm>
            <a:off x="1714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صورة كبيرة">
  <p:cSld name="صورة كبيرة">
    <p:bg>
      <p:bgPr>
        <a:solidFill>
          <a:srgbClr val="12183F"/>
        </a:solidFill>
      </p:bgPr>
    </p:bg>
    <p:spTree>
      <p:nvGrpSpPr>
        <p:cNvPr id="250" name="Shape 250"/>
        <p:cNvGrpSpPr/>
        <p:nvPr/>
      </p:nvGrpSpPr>
      <p:grpSpPr>
        <a:xfrm>
          <a:off x="0" y="0"/>
          <a:ext cx="0" cy="0"/>
          <a:chOff x="0" y="0"/>
          <a:chExt cx="0" cy="0"/>
        </a:xfrm>
      </p:grpSpPr>
      <p:pic>
        <p:nvPicPr>
          <p:cNvPr id="251" name="Google Shape;251;p51"/>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252" name="Google Shape;252;p5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53" name="Google Shape;253;p5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54" name="Google Shape;254;p51"/>
          <p:cNvSpPr/>
          <p:nvPr>
            <p:ph idx="2" type="pic"/>
          </p:nvPr>
        </p:nvSpPr>
        <p:spPr>
          <a:xfrm>
            <a:off x="1047750" y="666750"/>
            <a:ext cx="16192500" cy="6953250"/>
          </a:xfrm>
          <a:prstGeom prst="rect">
            <a:avLst/>
          </a:prstGeom>
          <a:solidFill>
            <a:srgbClr val="161D48"/>
          </a:solidFill>
          <a:ln cap="flat" cmpd="sng" w="11425">
            <a:solidFill>
              <a:srgbClr val="4A5590"/>
            </a:solidFill>
            <a:prstDash val="solid"/>
            <a:round/>
            <a:headEnd len="sm" w="sm" type="none"/>
            <a:tailEnd len="sm" w="sm" type="none"/>
          </a:ln>
        </p:spPr>
      </p:sp>
      <p:sp>
        <p:nvSpPr>
          <p:cNvPr id="255" name="Google Shape;255;p51"/>
          <p:cNvSpPr txBox="1"/>
          <p:nvPr>
            <p:ph type="title"/>
          </p:nvPr>
        </p:nvSpPr>
        <p:spPr>
          <a:xfrm>
            <a:off x="2190750" y="7962900"/>
            <a:ext cx="14763750" cy="8382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6" name="Google Shape;256;p51"/>
          <p:cNvSpPr txBox="1"/>
          <p:nvPr>
            <p:ph idx="1" type="body"/>
          </p:nvPr>
        </p:nvSpPr>
        <p:spPr>
          <a:xfrm>
            <a:off x="2190750" y="8896350"/>
            <a:ext cx="14763750" cy="4286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عرض الصور">
  <p:cSld name="معرض الصور">
    <p:bg>
      <p:bgPr>
        <a:solidFill>
          <a:srgbClr val="12183F"/>
        </a:solidFill>
      </p:bgPr>
    </p:bg>
    <p:spTree>
      <p:nvGrpSpPr>
        <p:cNvPr id="257" name="Shape 257"/>
        <p:cNvGrpSpPr/>
        <p:nvPr/>
      </p:nvGrpSpPr>
      <p:grpSpPr>
        <a:xfrm>
          <a:off x="0" y="0"/>
          <a:ext cx="0" cy="0"/>
          <a:chOff x="0" y="0"/>
          <a:chExt cx="0" cy="0"/>
        </a:xfrm>
      </p:grpSpPr>
      <p:pic>
        <p:nvPicPr>
          <p:cNvPr id="258" name="Google Shape;258;p5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59" name="Google Shape;259;p52"/>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60" name="Google Shape;260;p52"/>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1" name="Google Shape;261;p52"/>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2" name="Google Shape;262;p5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3" name="Google Shape;263;p5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64" name="Google Shape;264;p52"/>
          <p:cNvSpPr/>
          <p:nvPr>
            <p:ph idx="2" type="pic"/>
          </p:nvPr>
        </p:nvSpPr>
        <p:spPr>
          <a:xfrm>
            <a:off x="12382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5" name="Google Shape;265;p52"/>
          <p:cNvSpPr txBox="1"/>
          <p:nvPr>
            <p:ph idx="3" type="body"/>
          </p:nvPr>
        </p:nvSpPr>
        <p:spPr>
          <a:xfrm>
            <a:off x="12382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6" name="Google Shape;266;p52"/>
          <p:cNvSpPr/>
          <p:nvPr>
            <p:ph idx="4" type="pic"/>
          </p:nvPr>
        </p:nvSpPr>
        <p:spPr>
          <a:xfrm>
            <a:off x="7048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7" name="Google Shape;267;p52"/>
          <p:cNvSpPr txBox="1"/>
          <p:nvPr>
            <p:ph idx="5" type="body"/>
          </p:nvPr>
        </p:nvSpPr>
        <p:spPr>
          <a:xfrm>
            <a:off x="7048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8" name="Google Shape;268;p52"/>
          <p:cNvSpPr/>
          <p:nvPr>
            <p:ph idx="6" type="pic"/>
          </p:nvPr>
        </p:nvSpPr>
        <p:spPr>
          <a:xfrm>
            <a:off x="1714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9" name="Google Shape;269;p52"/>
          <p:cNvSpPr txBox="1"/>
          <p:nvPr>
            <p:ph idx="7" type="body"/>
          </p:nvPr>
        </p:nvSpPr>
        <p:spPr>
          <a:xfrm>
            <a:off x="1714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يقونات الهوية">
  <p:cSld name="أيقونات الهوية">
    <p:bg>
      <p:bgPr>
        <a:solidFill>
          <a:srgbClr val="12183F"/>
        </a:solidFill>
      </p:bgPr>
    </p:bg>
    <p:spTree>
      <p:nvGrpSpPr>
        <p:cNvPr id="270" name="Shape 270"/>
        <p:cNvGrpSpPr/>
        <p:nvPr/>
      </p:nvGrpSpPr>
      <p:grpSpPr>
        <a:xfrm>
          <a:off x="0" y="0"/>
          <a:ext cx="0" cy="0"/>
          <a:chOff x="0" y="0"/>
          <a:chExt cx="0" cy="0"/>
        </a:xfrm>
      </p:grpSpPr>
      <p:pic>
        <p:nvPicPr>
          <p:cNvPr id="271" name="Google Shape;271;p5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72" name="Google Shape;272;p5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73" name="Google Shape;273;p5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4" name="Google Shape;274;p5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5" name="Google Shape;275;p5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6" name="Google Shape;276;p5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77" name="Google Shape;277;p5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8" name="Google Shape;278;p53"/>
          <p:cNvSpPr txBox="1"/>
          <p:nvPr>
            <p:ph idx="3" type="body"/>
          </p:nvPr>
        </p:nvSpPr>
        <p:spPr>
          <a:xfrm>
            <a:off x="13716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9" name="Google Shape;279;p53"/>
          <p:cNvSpPr txBox="1"/>
          <p:nvPr>
            <p:ph idx="4" type="body"/>
          </p:nvPr>
        </p:nvSpPr>
        <p:spPr>
          <a:xfrm>
            <a:off x="13716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0" name="Google Shape;280;p53"/>
          <p:cNvSpPr txBox="1"/>
          <p:nvPr>
            <p:ph idx="5" type="body"/>
          </p:nvPr>
        </p:nvSpPr>
        <p:spPr>
          <a:xfrm>
            <a:off x="9715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1" name="Google Shape;281;p53"/>
          <p:cNvSpPr txBox="1"/>
          <p:nvPr>
            <p:ph idx="6" type="body"/>
          </p:nvPr>
        </p:nvSpPr>
        <p:spPr>
          <a:xfrm>
            <a:off x="9715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2" name="Google Shape;282;p53"/>
          <p:cNvSpPr txBox="1"/>
          <p:nvPr>
            <p:ph idx="7" type="body"/>
          </p:nvPr>
        </p:nvSpPr>
        <p:spPr>
          <a:xfrm>
            <a:off x="5715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3" name="Google Shape;283;p53"/>
          <p:cNvSpPr txBox="1"/>
          <p:nvPr>
            <p:ph idx="8" type="body"/>
          </p:nvPr>
        </p:nvSpPr>
        <p:spPr>
          <a:xfrm>
            <a:off x="5715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4" name="Google Shape;284;p53"/>
          <p:cNvSpPr txBox="1"/>
          <p:nvPr>
            <p:ph idx="9" type="body"/>
          </p:nvPr>
        </p:nvSpPr>
        <p:spPr>
          <a:xfrm>
            <a:off x="1714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5" name="Google Shape;285;p53"/>
          <p:cNvSpPr txBox="1"/>
          <p:nvPr>
            <p:ph idx="13" type="body"/>
          </p:nvPr>
        </p:nvSpPr>
        <p:spPr>
          <a:xfrm>
            <a:off x="1714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خيارين">
  <p:cSld name="مقارنة خيارين">
    <p:bg>
      <p:bgPr>
        <a:solidFill>
          <a:srgbClr val="12183F"/>
        </a:solidFill>
      </p:bgPr>
    </p:bg>
    <p:spTree>
      <p:nvGrpSpPr>
        <p:cNvPr id="286" name="Shape 286"/>
        <p:cNvGrpSpPr/>
        <p:nvPr/>
      </p:nvGrpSpPr>
      <p:grpSpPr>
        <a:xfrm>
          <a:off x="0" y="0"/>
          <a:ext cx="0" cy="0"/>
          <a:chOff x="0" y="0"/>
          <a:chExt cx="0" cy="0"/>
        </a:xfrm>
      </p:grpSpPr>
      <p:pic>
        <p:nvPicPr>
          <p:cNvPr id="287" name="Google Shape;287;p5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88" name="Google Shape;288;p5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89" name="Google Shape;289;p5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0" name="Google Shape;290;p5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1" name="Google Shape;291;p5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2" name="Google Shape;292;p5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93" name="Google Shape;293;p5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94" name="Google Shape;294;p54"/>
          <p:cNvSpPr txBox="1"/>
          <p:nvPr>
            <p:ph idx="3" type="body"/>
          </p:nvPr>
        </p:nvSpPr>
        <p:spPr>
          <a:xfrm>
            <a:off x="1000125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5" name="Google Shape;295;p54"/>
          <p:cNvSpPr txBox="1"/>
          <p:nvPr>
            <p:ph idx="4" type="body"/>
          </p:nvPr>
        </p:nvSpPr>
        <p:spPr>
          <a:xfrm>
            <a:off x="1000125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6" name="Google Shape;296;p54"/>
          <p:cNvSpPr txBox="1"/>
          <p:nvPr>
            <p:ph idx="5" type="body"/>
          </p:nvPr>
        </p:nvSpPr>
        <p:spPr>
          <a:xfrm>
            <a:off x="171450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7" name="Google Shape;297;p54"/>
          <p:cNvSpPr txBox="1"/>
          <p:nvPr>
            <p:ph idx="6" type="body"/>
          </p:nvPr>
        </p:nvSpPr>
        <p:spPr>
          <a:xfrm>
            <a:off x="171450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8" name="Google Shape;298;p54"/>
          <p:cNvSpPr txBox="1"/>
          <p:nvPr>
            <p:ph idx="7" type="body"/>
          </p:nvPr>
        </p:nvSpPr>
        <p:spPr>
          <a:xfrm>
            <a:off x="1000125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9" name="Google Shape;299;p54"/>
          <p:cNvSpPr txBox="1"/>
          <p:nvPr>
            <p:ph idx="8" type="body"/>
          </p:nvPr>
        </p:nvSpPr>
        <p:spPr>
          <a:xfrm>
            <a:off x="171450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داكنة">
  <p:cSld name="فارغة داكنة">
    <p:bg>
      <p:bgPr>
        <a:solidFill>
          <a:srgbClr val="12183F"/>
        </a:solidFill>
      </p:bgPr>
    </p:bg>
    <p:spTree>
      <p:nvGrpSpPr>
        <p:cNvPr id="300" name="Shape 300"/>
        <p:cNvGrpSpPr/>
        <p:nvPr/>
      </p:nvGrpSpPr>
      <p:grpSpPr>
        <a:xfrm>
          <a:off x="0" y="0"/>
          <a:ext cx="0" cy="0"/>
          <a:chOff x="0" y="0"/>
          <a:chExt cx="0" cy="0"/>
        </a:xfrm>
      </p:grpSpPr>
      <p:pic>
        <p:nvPicPr>
          <p:cNvPr id="301" name="Google Shape;301;p5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2" name="Google Shape;302;p55"/>
          <p:cNvPicPr preferRelativeResize="0"/>
          <p:nvPr/>
        </p:nvPicPr>
        <p:blipFill rotWithShape="1">
          <a:blip r:embed="rId3">
            <a:alphaModFix/>
          </a:blip>
          <a:srcRect b="0" l="0" r="0" t="0"/>
          <a:stretch/>
        </p:blipFill>
        <p:spPr>
          <a:xfrm>
            <a:off x="1066800" y="722542"/>
            <a:ext cx="3429000" cy="879016"/>
          </a:xfrm>
          <a:prstGeom prst="rect">
            <a:avLst/>
          </a:prstGeom>
          <a:noFill/>
          <a:ln>
            <a:noFill/>
          </a:ln>
        </p:spPr>
      </p:pic>
      <p:sp>
        <p:nvSpPr>
          <p:cNvPr id="303" name="Google Shape;303;p5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304" name="Google Shape;304;p5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فاتحة">
  <p:cSld name="فارغة فاتحة">
    <p:bg>
      <p:bgPr>
        <a:solidFill>
          <a:srgbClr val="F2F4FF"/>
        </a:solidFill>
      </p:bgPr>
    </p:bg>
    <p:spTree>
      <p:nvGrpSpPr>
        <p:cNvPr id="305" name="Shape 305"/>
        <p:cNvGrpSpPr/>
        <p:nvPr/>
      </p:nvGrpSpPr>
      <p:grpSpPr>
        <a:xfrm>
          <a:off x="0" y="0"/>
          <a:ext cx="0" cy="0"/>
          <a:chOff x="0" y="0"/>
          <a:chExt cx="0" cy="0"/>
        </a:xfrm>
      </p:grpSpPr>
      <p:pic>
        <p:nvPicPr>
          <p:cNvPr id="306" name="Google Shape;306;p5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7" name="Google Shape;307;p56"/>
          <p:cNvPicPr preferRelativeResize="0"/>
          <p:nvPr/>
        </p:nvPicPr>
        <p:blipFill rotWithShape="1">
          <a:blip r:embed="rId3">
            <a:alphaModFix/>
          </a:blip>
          <a:srcRect b="0" l="0" r="0" t="0"/>
          <a:stretch/>
        </p:blipFill>
        <p:spPr>
          <a:xfrm>
            <a:off x="1245010" y="685800"/>
            <a:ext cx="3072581" cy="952500"/>
          </a:xfrm>
          <a:prstGeom prst="rect">
            <a:avLst/>
          </a:prstGeom>
          <a:noFill/>
          <a:ln>
            <a:noFill/>
          </a:ln>
        </p:spPr>
      </p:pic>
      <p:sp>
        <p:nvSpPr>
          <p:cNvPr id="308" name="Google Shape;308;p5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309" name="Google Shape;309;p5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تام العرض">
  <p:cSld name="ختام العرض">
    <p:bg>
      <p:bgPr>
        <a:solidFill>
          <a:srgbClr val="12183F"/>
        </a:solidFill>
      </p:bgPr>
    </p:bg>
    <p:spTree>
      <p:nvGrpSpPr>
        <p:cNvPr id="310" name="Shape 310"/>
        <p:cNvGrpSpPr/>
        <p:nvPr/>
      </p:nvGrpSpPr>
      <p:grpSpPr>
        <a:xfrm>
          <a:off x="0" y="0"/>
          <a:ext cx="0" cy="0"/>
          <a:chOff x="0" y="0"/>
          <a:chExt cx="0" cy="0"/>
        </a:xfrm>
      </p:grpSpPr>
      <p:pic>
        <p:nvPicPr>
          <p:cNvPr id="311" name="Google Shape;311;p5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12" name="Google Shape;312;p57"/>
          <p:cNvPicPr preferRelativeResize="0"/>
          <p:nvPr/>
        </p:nvPicPr>
        <p:blipFill rotWithShape="1">
          <a:blip r:embed="rId3">
            <a:alphaModFix/>
          </a:blip>
          <a:srcRect b="0" l="0" r="0" t="0"/>
          <a:stretch/>
        </p:blipFill>
        <p:spPr>
          <a:xfrm>
            <a:off x="5810250" y="1336151"/>
            <a:ext cx="6667500" cy="1709198"/>
          </a:xfrm>
          <a:prstGeom prst="rect">
            <a:avLst/>
          </a:prstGeom>
          <a:noFill/>
          <a:ln>
            <a:noFill/>
          </a:ln>
        </p:spPr>
      </p:pic>
      <p:pic>
        <p:nvPicPr>
          <p:cNvPr id="313" name="Google Shape;313;p57"/>
          <p:cNvPicPr preferRelativeResize="0"/>
          <p:nvPr/>
        </p:nvPicPr>
        <p:blipFill rotWithShape="1">
          <a:blip r:embed="rId4">
            <a:alphaModFix/>
          </a:blip>
          <a:srcRect b="0" l="0" r="0" t="0"/>
          <a:stretch/>
        </p:blipFill>
        <p:spPr>
          <a:xfrm>
            <a:off x="10669485" y="8524875"/>
            <a:ext cx="3045029" cy="1562100"/>
          </a:xfrm>
          <a:prstGeom prst="rect">
            <a:avLst/>
          </a:prstGeom>
          <a:noFill/>
          <a:ln>
            <a:noFill/>
          </a:ln>
        </p:spPr>
      </p:pic>
      <p:pic>
        <p:nvPicPr>
          <p:cNvPr id="314" name="Google Shape;314;p57"/>
          <p:cNvPicPr preferRelativeResize="0"/>
          <p:nvPr/>
        </p:nvPicPr>
        <p:blipFill rotWithShape="1">
          <a:blip r:embed="rId5">
            <a:alphaModFix/>
          </a:blip>
          <a:srcRect b="16000" l="4300" r="69700" t="16000"/>
          <a:stretch/>
        </p:blipFill>
        <p:spPr>
          <a:xfrm>
            <a:off x="4857750" y="8629650"/>
            <a:ext cx="3810000" cy="1476375"/>
          </a:xfrm>
          <a:prstGeom prst="rect">
            <a:avLst/>
          </a:prstGeom>
          <a:noFill/>
          <a:ln>
            <a:noFill/>
          </a:ln>
        </p:spPr>
      </p:pic>
      <p:sp>
        <p:nvSpPr>
          <p:cNvPr id="315" name="Google Shape;315;p57"/>
          <p:cNvSpPr txBox="1"/>
          <p:nvPr>
            <p:ph type="title"/>
          </p:nvPr>
        </p:nvSpPr>
        <p:spPr>
          <a:xfrm>
            <a:off x="3810000" y="4048125"/>
            <a:ext cx="10668000" cy="1428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6" name="Google Shape;316;p57"/>
          <p:cNvSpPr txBox="1"/>
          <p:nvPr>
            <p:ph idx="1" type="body"/>
          </p:nvPr>
        </p:nvSpPr>
        <p:spPr>
          <a:xfrm>
            <a:off x="3810000" y="5905500"/>
            <a:ext cx="1066800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7" name="Google Shape;317;p57"/>
          <p:cNvSpPr txBox="1"/>
          <p:nvPr>
            <p:ph idx="2" type="body"/>
          </p:nvPr>
        </p:nvSpPr>
        <p:spPr>
          <a:xfrm>
            <a:off x="3810000" y="7000875"/>
            <a:ext cx="10668000" cy="666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image" Target="../media/image4.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image" Target="../media/image4.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image" Target="../media/image4.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5.png"/><Relationship Id="rId8" Type="http://schemas.openxmlformats.org/officeDocument/2006/relationships/image" Target="../media/image22.png"/><Relationship Id="rId9" Type="http://schemas.openxmlformats.org/officeDocument/2006/relationships/image" Target="../media/image19.png"/><Relationship Id="rId10"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483" name="Shape 483"/>
        <p:cNvGrpSpPr/>
        <p:nvPr/>
      </p:nvGrpSpPr>
      <p:grpSpPr>
        <a:xfrm>
          <a:off x="0" y="0"/>
          <a:ext cx="0" cy="0"/>
          <a:chOff x="0" y="0"/>
          <a:chExt cx="0" cy="0"/>
        </a:xfrm>
      </p:grpSpPr>
      <p:pic>
        <p:nvPicPr>
          <p:cNvPr id="484" name="Google Shape;484;p8"/>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85" name="Google Shape;485;p8" title="الصورة الرئيسية.png"/>
          <p:cNvPicPr preferRelativeResize="0"/>
          <p:nvPr/>
        </p:nvPicPr>
        <p:blipFill>
          <a:blip r:embed="rId4">
            <a:alphaModFix/>
          </a:blip>
          <a:stretch>
            <a:fillRect/>
          </a:stretch>
        </p:blipFill>
        <p:spPr>
          <a:xfrm>
            <a:off x="195975" y="1103475"/>
            <a:ext cx="9312476" cy="8603123"/>
          </a:xfrm>
          <a:prstGeom prst="rect">
            <a:avLst/>
          </a:prstGeom>
          <a:noFill/>
          <a:ln>
            <a:noFill/>
          </a:ln>
        </p:spPr>
      </p:pic>
      <p:sp>
        <p:nvSpPr>
          <p:cNvPr id="486" name="Google Shape;486;p8"/>
          <p:cNvSpPr txBox="1"/>
          <p:nvPr>
            <p:ph type="title"/>
          </p:nvPr>
        </p:nvSpPr>
        <p:spPr>
          <a:xfrm>
            <a:off x="7791450" y="3524250"/>
            <a:ext cx="9048900" cy="1333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6450"/>
              <a:buNone/>
            </a:pPr>
            <a:r>
              <a:rPr b="1" lang="ar-SA" sz="6450">
                <a:solidFill>
                  <a:srgbClr val="F2F4FF"/>
                </a:solidFill>
                <a:latin typeface="Readex Pro"/>
                <a:ea typeface="Readex Pro"/>
                <a:cs typeface="Readex Pro"/>
                <a:sym typeface="Readex Pro"/>
              </a:rPr>
              <a:t>مِرآة MIRAAH</a:t>
            </a:r>
            <a:endParaRPr/>
          </a:p>
        </p:txBody>
      </p:sp>
      <p:sp>
        <p:nvSpPr>
          <p:cNvPr id="487" name="Google Shape;487;p8"/>
          <p:cNvSpPr txBox="1"/>
          <p:nvPr>
            <p:ph idx="1" type="body"/>
          </p:nvPr>
        </p:nvSpPr>
        <p:spPr>
          <a:xfrm>
            <a:off x="7791450" y="5334000"/>
            <a:ext cx="9048900" cy="16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300"/>
              <a:buNone/>
            </a:pPr>
            <a:r>
              <a:rPr b="0" lang="ar-SA" sz="3300">
                <a:solidFill>
                  <a:srgbClr val="2EF2C2"/>
                </a:solidFill>
                <a:latin typeface="Readex Pro"/>
                <a:ea typeface="Readex Pro"/>
                <a:cs typeface="Readex Pro"/>
                <a:sym typeface="Readex Pro"/>
              </a:rPr>
              <a:t>نحافظ على المعنى، لا على الكلمات فقط: منظومة ذكاء اصطناعي تتتبّع المعنى الإسلامي من الأصل العربي إلى كل ترجمة ونسخة، قبل النشر</a:t>
            </a:r>
            <a:endParaRPr/>
          </a:p>
        </p:txBody>
      </p:sp>
      <p:sp>
        <p:nvSpPr>
          <p:cNvPr id="488" name="Google Shape;488;p8"/>
          <p:cNvSpPr/>
          <p:nvPr/>
        </p:nvSpPr>
        <p:spPr>
          <a:xfrm>
            <a:off x="1143000" y="8843963"/>
            <a:ext cx="16002000" cy="9600"/>
          </a:xfrm>
          <a:prstGeom prst="rect">
            <a:avLst/>
          </a:prstGeom>
          <a:solidFill>
            <a:srgbClr val="FFFFFF">
              <a:alpha val="12160"/>
            </a:srgbClr>
          </a:solidFill>
          <a:ln>
            <a:noFill/>
          </a:ln>
        </p:spPr>
        <p:txBody>
          <a:bodyPr anchorCtr="0" anchor="ctr" bIns="91425" lIns="91425" spcFirstLastPara="1" rIns="91425" wrap="square" tIns="91425">
            <a:noAutofit/>
          </a:bodyPr>
          <a:lstStyle/>
          <a:p>
            <a:pPr indent="0" lvl="0" marL="0" rtl="1" algn="r">
              <a:lnSpc>
                <a:spcPct val="115000"/>
              </a:lnSpc>
              <a:spcBef>
                <a:spcPts val="0"/>
              </a:spcBef>
              <a:spcAft>
                <a:spcPts val="0"/>
              </a:spcAft>
              <a:buNone/>
            </a:pPr>
            <a:r>
              <a:t/>
            </a:r>
            <a:endParaRPr/>
          </a:p>
        </p:txBody>
      </p:sp>
      <p:sp>
        <p:nvSpPr>
          <p:cNvPr id="489" name="Google Shape;489;p8"/>
          <p:cNvSpPr/>
          <p:nvPr/>
        </p:nvSpPr>
        <p:spPr>
          <a:xfrm>
            <a:off x="14472130" y="9120188"/>
            <a:ext cx="2358000" cy="347700"/>
          </a:xfrm>
          <a:prstGeom prst="rect">
            <a:avLst/>
          </a:prstGeom>
          <a:noFill/>
          <a:ln>
            <a:noFill/>
          </a:ln>
        </p:spPr>
        <p:txBody>
          <a:bodyPr anchorCtr="0" anchor="ctr" bIns="25400" lIns="25400" spcFirstLastPara="1" rIns="25400" wrap="square" tIns="25400">
            <a:noAutofit/>
          </a:bodyPr>
          <a:lstStyle/>
          <a:p>
            <a:pPr indent="0" lvl="0" marL="0" marR="0" rtl="1" algn="r">
              <a:lnSpc>
                <a:spcPct val="115000"/>
              </a:lnSpc>
              <a:spcBef>
                <a:spcPts val="0"/>
              </a:spcBef>
              <a:spcAft>
                <a:spcPts val="0"/>
              </a:spcAft>
              <a:buClr>
                <a:srgbClr val="8E99CC"/>
              </a:buClr>
              <a:buSzPts val="1950"/>
              <a:buFont typeface="Readex Pro"/>
              <a:buNone/>
            </a:pPr>
            <a:r>
              <a:rPr lang="ar-SA" sz="1950">
                <a:solidFill>
                  <a:srgbClr val="8E99CC"/>
                </a:solidFill>
                <a:latin typeface="Readex Pro Light"/>
                <a:ea typeface="Readex Pro Light"/>
                <a:cs typeface="Readex Pro Light"/>
                <a:sym typeface="Readex Pro Light"/>
              </a:rPr>
              <a:t>شوق سالم الخليفي</a:t>
            </a:r>
            <a:endParaRPr i="0" sz="1950" u="none" cap="none" strike="noStrike">
              <a:solidFill>
                <a:srgbClr val="000000"/>
              </a:solidFill>
              <a:latin typeface="Readex Pro Light"/>
              <a:ea typeface="Readex Pro Light"/>
              <a:cs typeface="Readex Pro Light"/>
              <a:sym typeface="Readex Pro Light"/>
            </a:endParaRPr>
          </a:p>
        </p:txBody>
      </p:sp>
      <p:sp>
        <p:nvSpPr>
          <p:cNvPr id="490" name="Google Shape;490;p8"/>
          <p:cNvSpPr/>
          <p:nvPr/>
        </p:nvSpPr>
        <p:spPr>
          <a:xfrm>
            <a:off x="1397000" y="9120188"/>
            <a:ext cx="5600000" cy="347700"/>
          </a:xfrm>
          <a:prstGeom prst="rect">
            <a:avLst/>
          </a:prstGeom>
          <a:noFill/>
          <a:ln>
            <a:noFill/>
          </a:ln>
        </p:spPr>
        <p:txBody>
          <a:bodyPr anchorCtr="0" anchor="ctr" bIns="25400" lIns="25400" spcFirstLastPara="1" rIns="25400" wrap="square" tIns="25400">
            <a:noAutofit/>
          </a:bodyPr>
          <a:lstStyle/>
          <a:p>
            <a:pPr indent="0" lvl="0" marL="0" marR="0" rtl="1" algn="l">
              <a:lnSpc>
                <a:spcPct val="115000"/>
              </a:lnSpc>
              <a:spcBef>
                <a:spcPts val="0"/>
              </a:spcBef>
              <a:spcAft>
                <a:spcPts val="0"/>
              </a:spcAft>
              <a:buClr>
                <a:srgbClr val="8E99CC"/>
              </a:buClr>
              <a:buSzPts val="1950"/>
              <a:buFont typeface="Readex Pro"/>
              <a:buNone/>
            </a:pPr>
            <a:r>
              <a:rPr lang="ar-SA" sz="1950">
                <a:solidFill>
                  <a:srgbClr val="8E99CC"/>
                </a:solidFill>
                <a:latin typeface="Readex Pro Light"/>
                <a:ea typeface="Readex Pro Light"/>
                <a:cs typeface="Readex Pro Light"/>
                <a:sym typeface="Readex Pro Light"/>
              </a:rPr>
              <a:t>miraah.onrender.com  ·  أكتوبر 2026</a:t>
            </a:r>
            <a:endParaRPr i="0" sz="1950" u="none" cap="none" strike="noStrike">
              <a:solidFill>
                <a:srgbClr val="000000"/>
              </a:solidFill>
              <a:latin typeface="Readex Pro Light"/>
              <a:ea typeface="Readex Pro Light"/>
              <a:cs typeface="Readex Pro Light"/>
              <a:sym typeface="Readex Pro Light"/>
            </a:endParaRPr>
          </a:p>
        </p:txBody>
      </p:sp>
      <p:pic>
        <p:nvPicPr>
          <p:cNvPr id="491" name="Google Shape;491;p8"/>
          <p:cNvPicPr preferRelativeResize="0"/>
          <p:nvPr/>
        </p:nvPicPr>
        <p:blipFill rotWithShape="1">
          <a:blip r:embed="rId5">
            <a:alphaModFix/>
          </a:blip>
          <a:srcRect b="0" l="0" r="0" t="0"/>
          <a:stretch/>
        </p:blipFill>
        <p:spPr>
          <a:xfrm>
            <a:off x="1078250" y="691134"/>
            <a:ext cx="6572252" cy="1684781"/>
          </a:xfrm>
          <a:prstGeom prst="rect">
            <a:avLst/>
          </a:prstGeom>
          <a:noFill/>
          <a:ln>
            <a:noFill/>
          </a:ln>
        </p:spPr>
      </p:pic>
      <p:pic>
        <p:nvPicPr>
          <p:cNvPr id="492" name="Google Shape;492;p8"/>
          <p:cNvPicPr preferRelativeResize="0"/>
          <p:nvPr/>
        </p:nvPicPr>
        <p:blipFill rotWithShape="1">
          <a:blip r:embed="rId6">
            <a:alphaModFix/>
          </a:blip>
          <a:srcRect b="0" l="0" r="0" t="0"/>
          <a:stretch/>
        </p:blipFill>
        <p:spPr>
          <a:xfrm>
            <a:off x="14954250" y="840995"/>
            <a:ext cx="2190750" cy="138506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497" name="Shape 497"/>
        <p:cNvGrpSpPr/>
        <p:nvPr/>
      </p:nvGrpSpPr>
      <p:grpSpPr>
        <a:xfrm>
          <a:off x="0" y="0"/>
          <a:ext cx="0" cy="0"/>
          <a:chOff x="0" y="0"/>
          <a:chExt cx="0" cy="0"/>
        </a:xfrm>
      </p:grpSpPr>
      <p:pic>
        <p:nvPicPr>
          <p:cNvPr id="498" name="Google Shape;498;p9"/>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99" name="Google Shape;499;p9"/>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00" name="Google Shape;500;p9"/>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المحتويات</a:t>
            </a:r>
            <a:endParaRPr/>
          </a:p>
        </p:txBody>
      </p:sp>
      <p:sp>
        <p:nvSpPr>
          <p:cNvPr id="501" name="Google Shape;501;p9"/>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محتويات العرض</a:t>
            </a:r>
            <a:endParaRPr/>
          </a:p>
        </p:txBody>
      </p:sp>
      <p:sp>
        <p:nvSpPr>
          <p:cNvPr id="502" name="Google Shape;502;p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03" name="Google Shape;503;p9"/>
          <p:cNvSpPr txBox="1"/>
          <p:nvPr>
            <p:ph idx="2" type="body"/>
          </p:nvPr>
        </p:nvSpPr>
        <p:spPr>
          <a:xfrm>
            <a:off x="12077700" y="3857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01</a:t>
            </a:r>
            <a:endParaRPr/>
          </a:p>
        </p:txBody>
      </p:sp>
      <p:sp>
        <p:nvSpPr>
          <p:cNvPr id="504" name="Google Shape;504;p9"/>
          <p:cNvSpPr txBox="1"/>
          <p:nvPr>
            <p:ph idx="3" type="body"/>
          </p:nvPr>
        </p:nvSpPr>
        <p:spPr>
          <a:xfrm>
            <a:off x="12077700" y="4724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F2F4FF"/>
                </a:solidFill>
                <a:latin typeface="Readex Pro"/>
                <a:ea typeface="Readex Pro"/>
                <a:cs typeface="Readex Pro"/>
                <a:sym typeface="Readex Pro"/>
              </a:rPr>
              <a:t>المشكلة</a:t>
            </a:r>
            <a:endParaRPr/>
          </a:p>
        </p:txBody>
      </p:sp>
      <p:sp>
        <p:nvSpPr>
          <p:cNvPr id="505" name="Google Shape;505;p9"/>
          <p:cNvSpPr txBox="1"/>
          <p:nvPr>
            <p:ph idx="4" type="body"/>
          </p:nvPr>
        </p:nvSpPr>
        <p:spPr>
          <a:xfrm>
            <a:off x="12077700" y="5419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معنى يتغيّر في الطريق ولا ينتبه أحد</a:t>
            </a:r>
            <a:endParaRPr/>
          </a:p>
        </p:txBody>
      </p:sp>
      <p:sp>
        <p:nvSpPr>
          <p:cNvPr id="506" name="Google Shape;506;p9"/>
          <p:cNvSpPr txBox="1"/>
          <p:nvPr>
            <p:ph idx="5" type="body"/>
          </p:nvPr>
        </p:nvSpPr>
        <p:spPr>
          <a:xfrm>
            <a:off x="6743700" y="3857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02</a:t>
            </a:r>
            <a:endParaRPr/>
          </a:p>
        </p:txBody>
      </p:sp>
      <p:sp>
        <p:nvSpPr>
          <p:cNvPr id="507" name="Google Shape;507;p9"/>
          <p:cNvSpPr txBox="1"/>
          <p:nvPr>
            <p:ph idx="6" type="body"/>
          </p:nvPr>
        </p:nvSpPr>
        <p:spPr>
          <a:xfrm>
            <a:off x="6743700" y="4724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F2F4FF"/>
                </a:solidFill>
                <a:latin typeface="Readex Pro"/>
                <a:ea typeface="Readex Pro"/>
                <a:cs typeface="Readex Pro"/>
                <a:sym typeface="Readex Pro"/>
              </a:rPr>
              <a:t>الحل</a:t>
            </a:r>
            <a:endParaRPr/>
          </a:p>
        </p:txBody>
      </p:sp>
      <p:sp>
        <p:nvSpPr>
          <p:cNvPr id="508" name="Google Shape;508;p9"/>
          <p:cNvSpPr txBox="1"/>
          <p:nvPr>
            <p:ph idx="7" type="body"/>
          </p:nvPr>
        </p:nvSpPr>
        <p:spPr>
          <a:xfrm>
            <a:off x="6743700" y="5419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lang="ar-SA" sz="2250">
                <a:solidFill>
                  <a:srgbClr val="CBCFE6"/>
                </a:solidFill>
                <a:latin typeface="Readex Pro Light"/>
                <a:ea typeface="Readex Pro Light"/>
                <a:cs typeface="Readex Pro Light"/>
                <a:sym typeface="Readex Pro Light"/>
              </a:rPr>
              <a:t>محرك واحد يقابل كل نسخة بأصلها</a:t>
            </a:r>
            <a:endParaRPr>
              <a:latin typeface="Readex Pro Light"/>
              <a:ea typeface="Readex Pro Light"/>
              <a:cs typeface="Readex Pro Light"/>
              <a:sym typeface="Readex Pro Light"/>
            </a:endParaRPr>
          </a:p>
        </p:txBody>
      </p:sp>
      <p:sp>
        <p:nvSpPr>
          <p:cNvPr id="509" name="Google Shape;509;p9"/>
          <p:cNvSpPr txBox="1"/>
          <p:nvPr>
            <p:ph idx="8" type="body"/>
          </p:nvPr>
        </p:nvSpPr>
        <p:spPr>
          <a:xfrm>
            <a:off x="1409700" y="3857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03</a:t>
            </a:r>
            <a:endParaRPr/>
          </a:p>
        </p:txBody>
      </p:sp>
      <p:sp>
        <p:nvSpPr>
          <p:cNvPr id="510" name="Google Shape;510;p9"/>
          <p:cNvSpPr txBox="1"/>
          <p:nvPr>
            <p:ph idx="9" type="body"/>
          </p:nvPr>
        </p:nvSpPr>
        <p:spPr>
          <a:xfrm>
            <a:off x="1409700" y="4724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F2F4FF"/>
                </a:solidFill>
                <a:latin typeface="Readex Pro"/>
                <a:ea typeface="Readex Pro"/>
                <a:cs typeface="Readex Pro"/>
                <a:sym typeface="Readex Pro"/>
              </a:rPr>
              <a:t>التقنية والنتائج</a:t>
            </a:r>
            <a:endParaRPr/>
          </a:p>
        </p:txBody>
      </p:sp>
      <p:sp>
        <p:nvSpPr>
          <p:cNvPr id="511" name="Google Shape;511;p9"/>
          <p:cNvSpPr txBox="1"/>
          <p:nvPr>
            <p:ph idx="13" type="body"/>
          </p:nvPr>
        </p:nvSpPr>
        <p:spPr>
          <a:xfrm>
            <a:off x="1409700" y="5419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lang="ar-SA" sz="2250">
                <a:solidFill>
                  <a:srgbClr val="CBCFE6"/>
                </a:solidFill>
                <a:latin typeface="Readex Pro Light"/>
                <a:ea typeface="Readex Pro Light"/>
                <a:cs typeface="Readex Pro Light"/>
                <a:sym typeface="Readex Pro Light"/>
              </a:rPr>
              <a:t>96٪ كشف مقابل 14٪ للمقياس التقليدي</a:t>
            </a:r>
            <a:endParaRPr>
              <a:latin typeface="Readex Pro Light"/>
              <a:ea typeface="Readex Pro Light"/>
              <a:cs typeface="Readex Pro Light"/>
              <a:sym typeface="Readex Pro Light"/>
            </a:endParaRPr>
          </a:p>
        </p:txBody>
      </p:sp>
      <p:sp>
        <p:nvSpPr>
          <p:cNvPr id="512" name="Google Shape;512;p9"/>
          <p:cNvSpPr txBox="1"/>
          <p:nvPr>
            <p:ph idx="14" type="body"/>
          </p:nvPr>
        </p:nvSpPr>
        <p:spPr>
          <a:xfrm>
            <a:off x="12077700" y="6524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04</a:t>
            </a:r>
            <a:endParaRPr/>
          </a:p>
        </p:txBody>
      </p:sp>
      <p:sp>
        <p:nvSpPr>
          <p:cNvPr id="513" name="Google Shape;513;p9"/>
          <p:cNvSpPr txBox="1"/>
          <p:nvPr>
            <p:ph idx="15" type="body"/>
          </p:nvPr>
        </p:nvSpPr>
        <p:spPr>
          <a:xfrm>
            <a:off x="12077700" y="7391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F2F4FF"/>
                </a:solidFill>
                <a:latin typeface="Readex Pro"/>
                <a:ea typeface="Readex Pro"/>
                <a:cs typeface="Readex Pro"/>
                <a:sym typeface="Readex Pro"/>
              </a:rPr>
              <a:t>القيمة والموثوقية</a:t>
            </a:r>
            <a:endParaRPr/>
          </a:p>
        </p:txBody>
      </p:sp>
      <p:sp>
        <p:nvSpPr>
          <p:cNvPr id="514" name="Google Shape;514;p9"/>
          <p:cNvSpPr txBox="1"/>
          <p:nvPr>
            <p:ph idx="16" type="body"/>
          </p:nvPr>
        </p:nvSpPr>
        <p:spPr>
          <a:xfrm>
            <a:off x="12077700" y="8086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lang="ar-SA" sz="2250">
                <a:solidFill>
                  <a:srgbClr val="CBCFE6"/>
                </a:solidFill>
                <a:latin typeface="Readex Pro Light"/>
                <a:ea typeface="Readex Pro Light"/>
                <a:cs typeface="Readex Pro Light"/>
                <a:sym typeface="Readex Pro Light"/>
              </a:rPr>
              <a:t>ضوابط ثابتة ومصادر رسمية</a:t>
            </a:r>
            <a:endParaRPr>
              <a:latin typeface="Readex Pro Light"/>
              <a:ea typeface="Readex Pro Light"/>
              <a:cs typeface="Readex Pro Light"/>
              <a:sym typeface="Readex Pro Light"/>
            </a:endParaRPr>
          </a:p>
        </p:txBody>
      </p:sp>
      <p:sp>
        <p:nvSpPr>
          <p:cNvPr id="515" name="Google Shape;515;p9"/>
          <p:cNvSpPr txBox="1"/>
          <p:nvPr>
            <p:ph idx="17" type="body"/>
          </p:nvPr>
        </p:nvSpPr>
        <p:spPr>
          <a:xfrm>
            <a:off x="6743700" y="6524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05</a:t>
            </a:r>
            <a:endParaRPr/>
          </a:p>
        </p:txBody>
      </p:sp>
      <p:sp>
        <p:nvSpPr>
          <p:cNvPr id="516" name="Google Shape;516;p9"/>
          <p:cNvSpPr txBox="1"/>
          <p:nvPr>
            <p:ph idx="18" type="body"/>
          </p:nvPr>
        </p:nvSpPr>
        <p:spPr>
          <a:xfrm>
            <a:off x="6743700" y="7391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F2F4FF"/>
                </a:solidFill>
                <a:latin typeface="Readex Pro"/>
                <a:ea typeface="Readex Pro"/>
                <a:cs typeface="Readex Pro"/>
                <a:sym typeface="Readex Pro"/>
              </a:rPr>
              <a:t>الاستمرار والفريق</a:t>
            </a:r>
            <a:endParaRPr/>
          </a:p>
        </p:txBody>
      </p:sp>
      <p:sp>
        <p:nvSpPr>
          <p:cNvPr id="517" name="Google Shape;517;p9"/>
          <p:cNvSpPr txBox="1"/>
          <p:nvPr>
            <p:ph idx="19" type="body"/>
          </p:nvPr>
        </p:nvSpPr>
        <p:spPr>
          <a:xfrm>
            <a:off x="6743700" y="8086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lang="ar-SA" sz="2250">
                <a:solidFill>
                  <a:srgbClr val="CBCFE6"/>
                </a:solidFill>
                <a:latin typeface="Readex Pro Light"/>
                <a:ea typeface="Readex Pro Light"/>
                <a:cs typeface="Readex Pro Light"/>
                <a:sym typeface="Readex Pro Light"/>
              </a:rPr>
              <a:t>ما أُنجز في التحدي وما يليه</a:t>
            </a:r>
            <a:endParaRPr>
              <a:latin typeface="Readex Pro Light"/>
              <a:ea typeface="Readex Pro Light"/>
              <a:cs typeface="Readex Pro Light"/>
              <a:sym typeface="Readex Pro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25" name="Shape 525"/>
        <p:cNvGrpSpPr/>
        <p:nvPr/>
      </p:nvGrpSpPr>
      <p:grpSpPr>
        <a:xfrm>
          <a:off x="0" y="0"/>
          <a:ext cx="0" cy="0"/>
          <a:chOff x="0" y="0"/>
          <a:chExt cx="0" cy="0"/>
        </a:xfrm>
      </p:grpSpPr>
      <p:pic>
        <p:nvPicPr>
          <p:cNvPr id="526" name="Google Shape;526;p10"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527" name="Google Shape;527;p10"/>
          <p:cNvSpPr txBox="1"/>
          <p:nvPr>
            <p:ph idx="1" type="body"/>
          </p:nvPr>
        </p:nvSpPr>
        <p:spPr>
          <a:xfrm>
            <a:off x="13125450" y="3143250"/>
            <a:ext cx="3619500" cy="12384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8400"/>
              <a:buNone/>
            </a:pPr>
            <a:r>
              <a:rPr b="1" lang="ar-SA" sz="8400">
                <a:solidFill>
                  <a:srgbClr val="2EF2C2"/>
                </a:solidFill>
                <a:latin typeface="Readex Pro"/>
                <a:ea typeface="Readex Pro"/>
                <a:cs typeface="Readex Pro"/>
                <a:sym typeface="Readex Pro"/>
              </a:rPr>
              <a:t>01</a:t>
            </a:r>
            <a:endParaRPr/>
          </a:p>
        </p:txBody>
      </p:sp>
      <p:sp>
        <p:nvSpPr>
          <p:cNvPr id="528" name="Google Shape;528;p10"/>
          <p:cNvSpPr txBox="1"/>
          <p:nvPr>
            <p:ph type="title"/>
          </p:nvPr>
        </p:nvSpPr>
        <p:spPr>
          <a:xfrm>
            <a:off x="9179000" y="4810125"/>
            <a:ext cx="7566000" cy="1238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6000"/>
              <a:buNone/>
            </a:pPr>
            <a:r>
              <a:rPr b="1" lang="ar-SA" sz="6000">
                <a:solidFill>
                  <a:srgbClr val="F2F4FF"/>
                </a:solidFill>
                <a:latin typeface="Readex Pro"/>
                <a:ea typeface="Readex Pro"/>
                <a:cs typeface="Readex Pro"/>
                <a:sym typeface="Readex Pro"/>
              </a:rPr>
              <a:t>المشكلة</a:t>
            </a:r>
            <a:endParaRPr/>
          </a:p>
        </p:txBody>
      </p:sp>
      <p:sp>
        <p:nvSpPr>
          <p:cNvPr id="529" name="Google Shape;529;p10"/>
          <p:cNvSpPr txBox="1"/>
          <p:nvPr>
            <p:ph idx="2" type="body"/>
          </p:nvPr>
        </p:nvSpPr>
        <p:spPr>
          <a:xfrm>
            <a:off x="9729275" y="6572250"/>
            <a:ext cx="7015500" cy="675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0" lang="ar-SA" sz="2850">
                <a:solidFill>
                  <a:srgbClr val="CBCFE6"/>
                </a:solidFill>
                <a:latin typeface="Readex Pro"/>
                <a:ea typeface="Readex Pro"/>
                <a:cs typeface="Readex Pro"/>
                <a:sym typeface="Readex Pro"/>
              </a:rPr>
              <a:t>المعنى الإسلامي قد يتغيّر في الترجمة والتلخيص دون أن يلاحظ أحد</a:t>
            </a:r>
            <a:endParaRPr/>
          </a:p>
        </p:txBody>
      </p:sp>
      <p:pic>
        <p:nvPicPr>
          <p:cNvPr id="530" name="Google Shape;530;p10"/>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69" name="Shape 569"/>
        <p:cNvGrpSpPr/>
        <p:nvPr/>
      </p:nvGrpSpPr>
      <p:grpSpPr>
        <a:xfrm>
          <a:off x="0" y="0"/>
          <a:ext cx="0" cy="0"/>
          <a:chOff x="0" y="0"/>
          <a:chExt cx="0" cy="0"/>
        </a:xfrm>
      </p:grpSpPr>
      <p:pic>
        <p:nvPicPr>
          <p:cNvPr id="570" name="Google Shape;570;p13"/>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71" name="Google Shape;571;p13"/>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72" name="Google Shape;572;p13"/>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73" name="Google Shape;573;p13"/>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المشكلة</a:t>
            </a:r>
            <a:endParaRPr/>
          </a:p>
        </p:txBody>
      </p:sp>
      <p:sp>
        <p:nvSpPr>
          <p:cNvPr id="574" name="Google Shape;574;p13"/>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مصدر موثوق وترجمة سليمة… ثم سقط الشرط</a:t>
            </a:r>
            <a:endParaRPr/>
          </a:p>
        </p:txBody>
      </p:sp>
      <p:sp>
        <p:nvSpPr>
          <p:cNvPr id="575" name="Google Shape;575;p1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576" name="Google Shape;576;p13" descr="home-demo.png"/>
          <p:cNvPicPr>
            <a:picLocks noGrp="1" noChangeAspect="1"/>
          </p:cNvPicPr>
          <p:nvPr>
            <p:ph idx="2" type="pic"/>
          </p:nvPr>
        </p:nvPicPr>
        <p:blipFill>
          <a:blip r:embed="rId5"/>
          <a:srcRect t="12" b="12"/>
          <a:stretch>
            <a:fillRect/>
          </a:stretch>
        </p:blipFill>
        <p:spPr>
          <a:xfrm>
            <a:off x="1428750" y="4048125"/>
            <a:ext cx="8382000" cy="4714800"/>
          </a:xfrm>
        </p:spPr>
      </p:pic>
      <p:sp>
        <p:nvSpPr>
          <p:cNvPr id="577" name="Google Shape;577;p13"/>
          <p:cNvSpPr txBox="1"/>
          <p:nvPr>
            <p:ph idx="3" type="body"/>
          </p:nvPr>
        </p:nvSpPr>
        <p:spPr>
          <a:xfrm>
            <a:off x="10458450" y="409575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ما الذي نراه؟</a:t>
            </a:r>
            <a:endParaRPr/>
          </a:p>
        </p:txBody>
      </p:sp>
      <p:sp>
        <p:nvSpPr>
          <p:cNvPr id="578" name="Google Shape;578;p13"/>
          <p:cNvSpPr txBox="1"/>
          <p:nvPr>
            <p:ph idx="4" type="body"/>
          </p:nvPr>
        </p:nvSpPr>
        <p:spPr>
          <a:xfrm>
            <a:off x="10458450" y="480060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منشور مأخوذ عن ترجمة أمينة: «يجوز للمسافر أن يفطر» صارت «Muslims may break the fast»، واختفت جملة القضاء.</a:t>
            </a:r>
            <a:endParaRPr/>
          </a:p>
        </p:txBody>
      </p:sp>
      <p:sp>
        <p:nvSpPr>
          <p:cNvPr id="579" name="Google Shape;579;p13"/>
          <p:cNvSpPr txBox="1"/>
          <p:nvPr>
            <p:ph idx="5" type="body"/>
          </p:nvPr>
        </p:nvSpPr>
        <p:spPr>
          <a:xfrm>
            <a:off x="10458450" y="666750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لماذا يهم؟</a:t>
            </a:r>
            <a:endParaRPr/>
          </a:p>
        </p:txBody>
      </p:sp>
      <p:sp>
        <p:nvSpPr>
          <p:cNvPr id="580" name="Google Shape;580;p13"/>
          <p:cNvSpPr txBox="1"/>
          <p:nvPr>
            <p:ph idx="6" type="body"/>
          </p:nvPr>
        </p:nvSpPr>
        <p:spPr>
          <a:xfrm>
            <a:off x="10458450" y="737235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من يتعرّف على الإسلام بلغة أخرى لا يقرأ الأصل بل النسخة. والمراجع يرى الترجمة الأخيرة وحدها، ولا يعرف أين تغيّر المعنى.</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35" name="Shape 535"/>
        <p:cNvGrpSpPr/>
        <p:nvPr/>
      </p:nvGrpSpPr>
      <p:grpSpPr>
        <a:xfrm>
          <a:off x="0" y="0"/>
          <a:ext cx="0" cy="0"/>
          <a:chOff x="0" y="0"/>
          <a:chExt cx="0" cy="0"/>
        </a:xfrm>
      </p:grpSpPr>
      <p:pic>
        <p:nvPicPr>
          <p:cNvPr id="536" name="Google Shape;536;p11"/>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37" name="Google Shape;537;p11"/>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المشكلة</a:t>
            </a:r>
            <a:endParaRPr/>
          </a:p>
        </p:txBody>
      </p:sp>
      <p:sp>
        <p:nvSpPr>
          <p:cNvPr id="538" name="Google Shape;538;p11"/>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أربعة أعطال لا تكشفها مقاييس الترجمة</a:t>
            </a:r>
            <a:endParaRPr/>
          </a:p>
        </p:txBody>
      </p:sp>
      <p:sp>
        <p:nvSpPr>
          <p:cNvPr id="539" name="Google Shape;539;p11"/>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قد تكون الترجمة سليمة لغوياً، ويتغيّر مع ذلك ما يفهمه القارئ</a:t>
            </a:r>
            <a:endParaRPr/>
          </a:p>
        </p:txBody>
      </p:sp>
      <p:sp>
        <p:nvSpPr>
          <p:cNvPr id="540" name="Google Shape;540;p1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41" name="Google Shape;541;p11"/>
          <p:cNvSpPr txBox="1"/>
          <p:nvPr>
            <p:ph idx="3" type="body"/>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سقوط القيود</a:t>
            </a:r>
            <a:endParaRPr/>
          </a:p>
        </p:txBody>
      </p:sp>
      <p:sp>
        <p:nvSpPr>
          <p:cNvPr id="542" name="Google Shape;542;p11"/>
          <p:cNvSpPr txBox="1"/>
          <p:nvPr>
            <p:ph idx="4" type="body"/>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يُحذف شرط أو استثناء أو درجة يقين، فيصير الحكم أعمّ وأقطع من الأصل.</a:t>
            </a:r>
            <a:endParaRPr/>
          </a:p>
        </p:txBody>
      </p:sp>
      <p:sp>
        <p:nvSpPr>
          <p:cNvPr id="543" name="Google Shape;543;p11"/>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نسبة بلا مصدر</a:t>
            </a:r>
            <a:endParaRPr/>
          </a:p>
        </p:txBody>
      </p:sp>
      <p:sp>
        <p:nvSpPr>
          <p:cNvPr id="544" name="Google Shape;544;p11"/>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قول مأثور يصير «قال رسول الله ﷺ»، ورأي عالم يصير «الإسلام يوجب».</a:t>
            </a:r>
            <a:endParaRPr/>
          </a:p>
        </p:txBody>
      </p:sp>
      <p:sp>
        <p:nvSpPr>
          <p:cNvPr id="545" name="Google Shape;545;p11"/>
          <p:cNvSpPr txBox="1"/>
          <p:nvPr>
            <p:ph idx="7" type="body"/>
          </p:nvPr>
        </p:nvSpPr>
        <p:spPr>
          <a:xfrm>
            <a:off x="9505950" y="6619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الخلافي يصير قطعياً</a:t>
            </a:r>
            <a:endParaRPr/>
          </a:p>
        </p:txBody>
      </p:sp>
      <p:sp>
        <p:nvSpPr>
          <p:cNvPr id="546" name="Google Shape;546;p11"/>
          <p:cNvSpPr txBox="1"/>
          <p:nvPr>
            <p:ph idx="8" type="body"/>
          </p:nvPr>
        </p:nvSpPr>
        <p:spPr>
          <a:xfrm>
            <a:off x="9505950" y="7324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مسألة فيها أقوال للعلماء تُعرض قولاً واحداً، فيُظن أنها إجماع.</a:t>
            </a:r>
            <a:endParaRPr/>
          </a:p>
        </p:txBody>
      </p:sp>
      <p:sp>
        <p:nvSpPr>
          <p:cNvPr id="547" name="Google Shape;547;p11"/>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ضياع الأثر</a:t>
            </a:r>
            <a:endParaRPr/>
          </a:p>
        </p:txBody>
      </p:sp>
      <p:sp>
        <p:nvSpPr>
          <p:cNvPr id="548" name="Google Shape;548;p11"/>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بعد الترجمة والتلخيص وإعادة النشر لا يُعرف في أي حلقة بدأ التغيّر.</a:t>
            </a:r>
            <a:endParaRPr/>
          </a:p>
        </p:txBody>
      </p:sp>
      <p:sp>
        <p:nvSpPr>
          <p:cNvPr id="549" name="Google Shape;549;p11"/>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F"/>
        </a:solidFill>
      </p:bgPr>
    </p:bg>
    <p:spTree>
      <p:nvGrpSpPr>
        <p:cNvPr id="625" name="Shape 625"/>
        <p:cNvGrpSpPr/>
        <p:nvPr/>
      </p:nvGrpSpPr>
      <p:grpSpPr>
        <a:xfrm>
          <a:off x="0" y="0"/>
          <a:ext cx="0" cy="0"/>
          <a:chOff x="0" y="0"/>
          <a:chExt cx="0" cy="0"/>
        </a:xfrm>
      </p:grpSpPr>
      <p:pic>
        <p:nvPicPr>
          <p:cNvPr id="626" name="Google Shape;626;p16"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627" name="Google Shape;627;p1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sp>
        <p:nvSpPr>
          <p:cNvPr id="628" name="Google Shape;628;p16"/>
          <p:cNvSpPr txBox="1"/>
          <p:nvPr>
            <p:ph type="title"/>
          </p:nvPr>
        </p:nvSpPr>
        <p:spPr>
          <a:xfrm>
            <a:off x="2476500" y="3143250"/>
            <a:ext cx="13335000" cy="295275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5550"/>
              <a:buNone/>
            </a:pPr>
            <a:r>
              <a:rPr b="1" lang="ar-SA" sz="5550">
                <a:solidFill>
                  <a:srgbClr val="12183F"/>
                </a:solidFill>
                <a:latin typeface="Readex Pro"/>
                <a:ea typeface="Readex Pro"/>
                <a:cs typeface="Readex Pro"/>
                <a:sym typeface="Readex Pro"/>
              </a:rPr>
              <a:t>يعالج مشروعنا تغيّر المعنى الشرعي</a:t>
            </a:r>
            <a:endParaRPr/>
          </a:p>
          <a:p>
            <a:pPr indent="0" lvl="0" marL="0" rtl="1" algn="ctr">
              <a:lnSpc>
                <a:spcPct val="100000"/>
              </a:lnSpc>
              <a:spcBef>
                <a:spcPts val="0"/>
              </a:spcBef>
              <a:spcAft>
                <a:spcPts val="0"/>
              </a:spcAft>
              <a:buSzPts val="5550"/>
              <a:buNone/>
            </a:pPr>
            <a:r>
              <a:rPr b="1" lang="ar-SA" sz="5550">
                <a:solidFill>
                  <a:srgbClr val="12183F"/>
                </a:solidFill>
                <a:latin typeface="Readex Pro"/>
                <a:ea typeface="Readex Pro"/>
                <a:cs typeface="Readex Pro"/>
                <a:sym typeface="Readex Pro"/>
              </a:rPr>
              <a:t>في رحلة المحتوى من الأصل إلى كل نسخة</a:t>
            </a:r>
            <a:endParaRPr/>
          </a:p>
        </p:txBody>
      </p:sp>
      <p:sp>
        <p:nvSpPr>
          <p:cNvPr id="629" name="Google Shape;629;p16"/>
          <p:cNvSpPr txBox="1"/>
          <p:nvPr>
            <p:ph idx="1" type="body"/>
          </p:nvPr>
        </p:nvSpPr>
        <p:spPr>
          <a:xfrm>
            <a:off x="4202375" y="6905625"/>
            <a:ext cx="10752000" cy="5667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0" lang="ar-SA" sz="2700">
                <a:solidFill>
                  <a:srgbClr val="6150EA"/>
                </a:solidFill>
                <a:latin typeface="Readex Pro"/>
                <a:ea typeface="Readex Pro"/>
                <a:cs typeface="Readex Pro"/>
                <a:sym typeface="Readex Pro"/>
              </a:rPr>
              <a:t>ويُقاس نجاحه بدقة كشف التغيّر، وصحة الامتناع عند غياب المرجع، ووقت المراجعة</a:t>
            </a:r>
            <a:endParaRPr/>
          </a:p>
        </p:txBody>
      </p:sp>
      <p:pic>
        <p:nvPicPr>
          <p:cNvPr id="631" name="Google Shape;631;p16"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25" name="Shape 525"/>
        <p:cNvGrpSpPr/>
        <p:nvPr/>
      </p:nvGrpSpPr>
      <p:grpSpPr>
        <a:xfrm>
          <a:off x="0" y="0"/>
          <a:ext cx="0" cy="0"/>
          <a:chOff x="0" y="0"/>
          <a:chExt cx="0" cy="0"/>
        </a:xfrm>
      </p:grpSpPr>
      <p:pic>
        <p:nvPicPr>
          <p:cNvPr id="526" name="Google Shape;526;p10"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527" name="Google Shape;527;p10"/>
          <p:cNvSpPr txBox="1"/>
          <p:nvPr>
            <p:ph idx="1" type="body"/>
          </p:nvPr>
        </p:nvSpPr>
        <p:spPr>
          <a:xfrm>
            <a:off x="13125450" y="3143250"/>
            <a:ext cx="3619500" cy="12384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8400"/>
              <a:buNone/>
            </a:pPr>
            <a:r>
              <a:rPr b="1" lang="ar-SA" sz="8400">
                <a:solidFill>
                  <a:srgbClr val="2EF2C2"/>
                </a:solidFill>
                <a:latin typeface="Readex Pro"/>
                <a:ea typeface="Readex Pro"/>
                <a:cs typeface="Readex Pro"/>
                <a:sym typeface="Readex Pro"/>
              </a:rPr>
              <a:t>02</a:t>
            </a:r>
            <a:endParaRPr/>
          </a:p>
        </p:txBody>
      </p:sp>
      <p:sp>
        <p:nvSpPr>
          <p:cNvPr id="528" name="Google Shape;528;p10"/>
          <p:cNvSpPr txBox="1"/>
          <p:nvPr>
            <p:ph type="title"/>
          </p:nvPr>
        </p:nvSpPr>
        <p:spPr>
          <a:xfrm>
            <a:off x="9179000" y="4810125"/>
            <a:ext cx="7566000" cy="1238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6000"/>
              <a:buNone/>
            </a:pPr>
            <a:r>
              <a:rPr b="1" lang="ar-SA" sz="6000">
                <a:solidFill>
                  <a:srgbClr val="F2F4FF"/>
                </a:solidFill>
                <a:latin typeface="Readex Pro"/>
                <a:ea typeface="Readex Pro"/>
                <a:cs typeface="Readex Pro"/>
                <a:sym typeface="Readex Pro"/>
              </a:rPr>
              <a:t>الحل</a:t>
            </a:r>
            <a:endParaRPr/>
          </a:p>
        </p:txBody>
      </p:sp>
      <p:sp>
        <p:nvSpPr>
          <p:cNvPr id="529" name="Google Shape;529;p10"/>
          <p:cNvSpPr txBox="1"/>
          <p:nvPr>
            <p:ph idx="2" type="body"/>
          </p:nvPr>
        </p:nvSpPr>
        <p:spPr>
          <a:xfrm>
            <a:off x="9729275" y="6572250"/>
            <a:ext cx="7015500" cy="675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0" lang="ar-SA" sz="2850">
                <a:solidFill>
                  <a:srgbClr val="CBCFE6"/>
                </a:solidFill>
                <a:latin typeface="Readex Pro"/>
                <a:ea typeface="Readex Pro"/>
                <a:cs typeface="Readex Pro"/>
                <a:sym typeface="Readex Pro"/>
              </a:rPr>
              <a:t>مِرآة تقابل كل نسخة بأصلها، وتكشف ما تغيّر وفي أي حلقة</a:t>
            </a:r>
            <a:endParaRPr/>
          </a:p>
        </p:txBody>
      </p:sp>
      <p:pic>
        <p:nvPicPr>
          <p:cNvPr id="530" name="Google Shape;530;p10"/>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pic>
        <p:nvPicPr>
          <p:cNvPr id="817" name="Google Shape;817;p24"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18" name="Google Shape;818;p24"/>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الحل</a:t>
            </a:r>
            <a:endParaRPr/>
          </a:p>
        </p:txBody>
      </p:sp>
      <p:sp>
        <p:nvSpPr>
          <p:cNvPr id="819" name="Google Shape;819;p24"/>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كيف تعمل مِرآة</a:t>
            </a:r>
            <a:endParaRPr/>
          </a:p>
        </p:txBody>
      </p:sp>
      <p:sp>
        <p:nvSpPr>
          <p:cNvPr id="820" name="Google Shape;820;p24"/>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من الأصل ونسخه إلى تقرير مراجعة قبل النشر</a:t>
            </a:r>
            <a:endParaRPr/>
          </a:p>
        </p:txBody>
      </p:sp>
      <p:sp>
        <p:nvSpPr>
          <p:cNvPr id="821" name="Google Shape;821;p2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822" name="Google Shape;822;p24"/>
          <p:cNvSpPr/>
          <p:nvPr/>
        </p:nvSpPr>
        <p:spPr>
          <a:xfrm>
            <a:off x="13716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38670" rtl="0" algn="r">
              <a:spcBef>
                <a:spcPts val="0"/>
              </a:spcBef>
              <a:spcAft>
                <a:spcPts val="0"/>
              </a:spcAft>
              <a:buNone/>
            </a:pPr>
            <a:r>
              <a:rPr b="1" lang="ar-SA" sz="3600">
                <a:solidFill>
                  <a:srgbClr val="2EF2C2"/>
                </a:solidFill>
                <a:latin typeface="Readex Pro"/>
                <a:ea typeface="Readex Pro"/>
                <a:cs typeface="Readex Pro"/>
                <a:sym typeface="Readex Pro"/>
              </a:rPr>
              <a:t>01</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المدخلات</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الأصل العربي ومرجعه، وحتى 6 نسخ</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ترجمة، ملخص، منشور، إجابة ذكاء اصطناعي</a:t>
            </a:r>
            <a:endParaRPr>
              <a:solidFill>
                <a:schemeClr val="dk1"/>
              </a:solidFill>
              <a:latin typeface="Readex Pro"/>
              <a:ea typeface="Readex Pro"/>
              <a:cs typeface="Readex Pro"/>
              <a:sym typeface="Readex Pro"/>
            </a:endParaRPr>
          </a:p>
        </p:txBody>
      </p:sp>
      <p:sp>
        <p:nvSpPr>
          <p:cNvPr id="823" name="Google Shape;823;p24"/>
          <p:cNvSpPr/>
          <p:nvPr/>
        </p:nvSpPr>
        <p:spPr>
          <a:xfrm>
            <a:off x="9715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23307" rtl="0" algn="r">
              <a:spcBef>
                <a:spcPts val="0"/>
              </a:spcBef>
              <a:spcAft>
                <a:spcPts val="0"/>
              </a:spcAft>
              <a:buNone/>
            </a:pPr>
            <a:r>
              <a:rPr b="1" lang="ar-SA" sz="3600">
                <a:solidFill>
                  <a:srgbClr val="2EF2C2"/>
                </a:solidFill>
                <a:latin typeface="Readex Pro"/>
                <a:ea typeface="Readex Pro"/>
                <a:cs typeface="Readex Pro"/>
                <a:sym typeface="Readex Pro"/>
              </a:rPr>
              <a:t>02</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المعالجة</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محاذاة الجمل وبصمة المعنى</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قواعد ثابتة، وميزان من مصادر رسمية</a:t>
            </a:r>
            <a:endParaRPr b="1" sz="3600">
              <a:solidFill>
                <a:srgbClr val="2EF2C2"/>
              </a:solidFill>
              <a:latin typeface="Readex Pro"/>
              <a:ea typeface="Readex Pro"/>
              <a:cs typeface="Readex Pro"/>
              <a:sym typeface="Readex Pro"/>
            </a:endParaRPr>
          </a:p>
        </p:txBody>
      </p:sp>
      <p:sp>
        <p:nvSpPr>
          <p:cNvPr id="824" name="Google Shape;824;p24"/>
          <p:cNvSpPr/>
          <p:nvPr/>
        </p:nvSpPr>
        <p:spPr>
          <a:xfrm>
            <a:off x="5715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38125" rtl="0" algn="r">
              <a:spcBef>
                <a:spcPts val="0"/>
              </a:spcBef>
              <a:spcAft>
                <a:spcPts val="0"/>
              </a:spcAft>
              <a:buNone/>
            </a:pPr>
            <a:r>
              <a:rPr b="1" lang="ar-SA" sz="3600">
                <a:solidFill>
                  <a:srgbClr val="2EF2C2"/>
                </a:solidFill>
                <a:latin typeface="Readex Pro"/>
                <a:ea typeface="Readex Pro"/>
                <a:cs typeface="Readex Pro"/>
                <a:sym typeface="Readex Pro"/>
              </a:rPr>
              <a:t>03</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المخرجات</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تنبيهات في موضعها وبدليلها</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الحلقة التي دخل فيها الخلل، وصياغة مقترحة، وPDF</a:t>
            </a:r>
            <a:endParaRPr b="1" sz="3600">
              <a:solidFill>
                <a:srgbClr val="2EF2C2"/>
              </a:solidFill>
              <a:latin typeface="Readex Pro"/>
              <a:ea typeface="Readex Pro"/>
              <a:cs typeface="Readex Pro"/>
              <a:sym typeface="Readex Pro"/>
            </a:endParaRPr>
          </a:p>
        </p:txBody>
      </p:sp>
      <p:sp>
        <p:nvSpPr>
          <p:cNvPr id="825" name="Google Shape;825;p24"/>
          <p:cNvSpPr/>
          <p:nvPr/>
        </p:nvSpPr>
        <p:spPr>
          <a:xfrm>
            <a:off x="1714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23307" rtl="0" algn="r">
              <a:spcBef>
                <a:spcPts val="0"/>
              </a:spcBef>
              <a:spcAft>
                <a:spcPts val="0"/>
              </a:spcAft>
              <a:buNone/>
            </a:pPr>
            <a:r>
              <a:rPr b="1" lang="ar-SA" sz="3600">
                <a:solidFill>
                  <a:srgbClr val="2EF2C2"/>
                </a:solidFill>
                <a:latin typeface="Readex Pro"/>
                <a:ea typeface="Readex Pro"/>
                <a:cs typeface="Readex Pro"/>
                <a:sym typeface="Readex Pro"/>
              </a:rPr>
              <a:t>04</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الأثر</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«لا تنشر» قبل أن يصل الخطأ</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يُقاس بدقة الكشف ووقت المراجعة</a:t>
            </a:r>
            <a:endParaRPr b="1" sz="3600">
              <a:solidFill>
                <a:srgbClr val="2EF2C2"/>
              </a:solidFill>
              <a:latin typeface="Readex Pro"/>
              <a:ea typeface="Readex Pro"/>
              <a:cs typeface="Readex Pro"/>
              <a:sym typeface="Readex Pro"/>
            </a:endParaRPr>
          </a:p>
        </p:txBody>
      </p:sp>
      <p:pic>
        <p:nvPicPr>
          <p:cNvPr id="826" name="Google Shape;826;p24"/>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pic>
        <p:nvPicPr>
          <p:cNvPr id="858" name="Google Shape;858;p27"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59" name="Google Shape;859;p2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60" name="Google Shape;860;p2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الحل</a:t>
            </a:r>
            <a:endParaRPr/>
          </a:p>
        </p:txBody>
      </p:sp>
      <p:sp>
        <p:nvSpPr>
          <p:cNvPr id="861" name="Google Shape;861;p2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أربعة محركات في مراجعة واحدة</a:t>
            </a:r>
            <a:endParaRPr/>
          </a:p>
        </p:txBody>
      </p:sp>
      <p:sp>
        <p:nvSpPr>
          <p:cNvPr id="862" name="Google Shape;862;p2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الذكاء الاصطناعي حيث يلزم، والقواعد الثابتة حيث تكفي</a:t>
            </a:r>
            <a:endParaRPr/>
          </a:p>
        </p:txBody>
      </p:sp>
      <p:sp>
        <p:nvSpPr>
          <p:cNvPr id="863" name="Google Shape;863;p2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864" name="Google Shape;864;p27"/>
          <p:cNvPicPr preferRelativeResize="0"/>
          <p:nvPr/>
        </p:nvPicPr>
        <p:blipFill rotWithShape="1">
          <a:blip r:embed="rId5">
            <a:alphaModFix/>
          </a:blip>
          <a:srcRect b="0" l="0" r="0" t="0"/>
          <a:stretch/>
        </p:blipFill>
        <p:spPr>
          <a:xfrm>
            <a:off x="14458950" y="4000500"/>
            <a:ext cx="1428750" cy="1428750"/>
          </a:xfrm>
          <a:prstGeom prst="rect">
            <a:avLst/>
          </a:prstGeom>
          <a:noFill/>
          <a:ln>
            <a:noFill/>
          </a:ln>
        </p:spPr>
      </p:pic>
      <p:sp>
        <p:nvSpPr>
          <p:cNvPr id="865" name="Google Shape;865;p27"/>
          <p:cNvSpPr txBox="1"/>
          <p:nvPr>
            <p:ph idx="3" type="body"/>
          </p:nvPr>
        </p:nvSpPr>
        <p:spPr>
          <a:xfrm>
            <a:off x="134112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أثر</a:t>
            </a:r>
            <a:endParaRPr/>
          </a:p>
        </p:txBody>
      </p:sp>
      <p:sp>
        <p:nvSpPr>
          <p:cNvPr id="866" name="Google Shape;866;p27"/>
          <p:cNvSpPr txBox="1"/>
          <p:nvPr>
            <p:ph idx="4" type="body"/>
          </p:nvPr>
        </p:nvSpPr>
        <p:spPr>
          <a:xfrm>
            <a:off x="134112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يقارن بصمة المعنى بين كل حلقة وأمها، ويحدد أول حلقة انكسر فيها المعنى</a:t>
            </a:r>
            <a:endParaRPr/>
          </a:p>
        </p:txBody>
      </p:sp>
      <p:pic>
        <p:nvPicPr>
          <p:cNvPr id="867" name="Google Shape;867;p27"/>
          <p:cNvPicPr preferRelativeResize="0"/>
          <p:nvPr/>
        </p:nvPicPr>
        <p:blipFill rotWithShape="1">
          <a:blip r:embed="rId6">
            <a:alphaModFix/>
          </a:blip>
          <a:srcRect b="0" l="0" r="0" t="0"/>
          <a:stretch/>
        </p:blipFill>
        <p:spPr>
          <a:xfrm>
            <a:off x="2457450" y="4000500"/>
            <a:ext cx="1428750" cy="1428750"/>
          </a:xfrm>
          <a:prstGeom prst="rect">
            <a:avLst/>
          </a:prstGeom>
          <a:noFill/>
          <a:ln>
            <a:noFill/>
          </a:ln>
        </p:spPr>
      </p:pic>
      <p:sp>
        <p:nvSpPr>
          <p:cNvPr id="868" name="Google Shape;868;p27"/>
          <p:cNvSpPr txBox="1"/>
          <p:nvPr>
            <p:ph idx="5" type="body"/>
          </p:nvPr>
        </p:nvSpPr>
        <p:spPr>
          <a:xfrm>
            <a:off x="94107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ميزان</a:t>
            </a:r>
            <a:endParaRPr/>
          </a:p>
        </p:txBody>
      </p:sp>
      <p:sp>
        <p:nvSpPr>
          <p:cNvPr id="869" name="Google Shape;869;p27"/>
          <p:cNvSpPr txBox="1"/>
          <p:nvPr>
            <p:ph idx="6" type="body"/>
          </p:nvPr>
        </p:nvSpPr>
        <p:spPr>
          <a:xfrm>
            <a:off x="94107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يبحث عن كل آية وحديث منسوب في المدونة، وما لا يجده «غير متحقق»</a:t>
            </a:r>
            <a:endParaRPr/>
          </a:p>
        </p:txBody>
      </p:sp>
      <p:pic>
        <p:nvPicPr>
          <p:cNvPr id="870" name="Google Shape;870;p27"/>
          <p:cNvPicPr preferRelativeResize="0"/>
          <p:nvPr/>
        </p:nvPicPr>
        <p:blipFill rotWithShape="1">
          <a:blip r:embed="rId7">
            <a:alphaModFix/>
          </a:blip>
          <a:srcRect b="0" l="0" r="0" t="0"/>
          <a:stretch/>
        </p:blipFill>
        <p:spPr>
          <a:xfrm>
            <a:off x="10458450" y="4000500"/>
            <a:ext cx="1428750" cy="1428750"/>
          </a:xfrm>
          <a:prstGeom prst="rect">
            <a:avLst/>
          </a:prstGeom>
          <a:noFill/>
          <a:ln>
            <a:noFill/>
          </a:ln>
        </p:spPr>
      </p:pic>
      <p:sp>
        <p:nvSpPr>
          <p:cNvPr id="871" name="Google Shape;871;p27"/>
          <p:cNvSpPr txBox="1"/>
          <p:nvPr>
            <p:ph idx="7" type="body"/>
          </p:nvPr>
        </p:nvSpPr>
        <p:spPr>
          <a:xfrm>
            <a:off x="54102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فهم</a:t>
            </a:r>
            <a:endParaRPr/>
          </a:p>
        </p:txBody>
      </p:sp>
      <p:sp>
        <p:nvSpPr>
          <p:cNvPr id="872" name="Google Shape;872;p27"/>
          <p:cNvSpPr txBox="1"/>
          <p:nvPr>
            <p:ph idx="8" type="body"/>
          </p:nvPr>
        </p:nvSpPr>
        <p:spPr>
          <a:xfrm>
            <a:off x="54102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يفحص المصطلحات بضوابط الحزمة العلمية، ويعرض مخاطر الفهم</a:t>
            </a:r>
            <a:endParaRPr/>
          </a:p>
        </p:txBody>
      </p:sp>
      <p:pic>
        <p:nvPicPr>
          <p:cNvPr id="873" name="Google Shape;873;p27"/>
          <p:cNvPicPr preferRelativeResize="0"/>
          <p:nvPr/>
        </p:nvPicPr>
        <p:blipFill rotWithShape="1">
          <a:blip r:embed="rId8">
            <a:alphaModFix/>
          </a:blip>
          <a:srcRect b="0" l="0" r="0" t="0"/>
          <a:stretch/>
        </p:blipFill>
        <p:spPr>
          <a:xfrm>
            <a:off x="6457950" y="4000500"/>
            <a:ext cx="1428750" cy="1428750"/>
          </a:xfrm>
          <a:prstGeom prst="rect">
            <a:avLst/>
          </a:prstGeom>
          <a:noFill/>
          <a:ln>
            <a:noFill/>
          </a:ln>
        </p:spPr>
      </p:pic>
      <p:sp>
        <p:nvSpPr>
          <p:cNvPr id="874" name="Google Shape;874;p27"/>
          <p:cNvSpPr txBox="1"/>
          <p:nvPr>
            <p:ph idx="9" type="body"/>
          </p:nvPr>
        </p:nvSpPr>
        <p:spPr>
          <a:xfrm>
            <a:off x="14097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امتحان القارئ</a:t>
            </a:r>
            <a:endParaRPr/>
          </a:p>
        </p:txBody>
      </p:sp>
      <p:sp>
        <p:nvSpPr>
          <p:cNvPr id="875" name="Google Shape;875;p27"/>
          <p:cNvSpPr txBox="1"/>
          <p:nvPr>
            <p:ph idx="13" type="body"/>
          </p:nvPr>
        </p:nvSpPr>
        <p:spPr>
          <a:xfrm>
            <a:off x="14097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قارئ يرى الأصل وآخر يرى النسخة، ثم تُقارن إجاباتهما</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pic>
        <p:nvPicPr>
          <p:cNvPr id="832" name="Google Shape;832;p25"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33" name="Google Shape;833;p2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834" name="Google Shape;834;p25" descr="report.png"/>
          <p:cNvPicPr>
            <a:picLocks noGrp="1" noChangeAspect="1"/>
          </p:cNvPicPr>
          <p:nvPr>
            <p:ph idx="2" type="pic"/>
          </p:nvPr>
        </p:nvPicPr>
        <p:blipFill>
          <a:blip r:embed="rId4"/>
          <a:srcRect t="15646" b="15646"/>
          <a:stretch>
            <a:fillRect/>
          </a:stretch>
        </p:blipFill>
        <p:spPr>
          <a:xfrm>
            <a:off x="1047750" y="666750"/>
            <a:ext cx="16192500" cy="6953400"/>
          </a:xfrm>
        </p:spPr>
      </p:pic>
      <p:sp>
        <p:nvSpPr>
          <p:cNvPr id="835" name="Google Shape;835;p25"/>
          <p:cNvSpPr txBox="1"/>
          <p:nvPr>
            <p:ph type="title"/>
          </p:nvPr>
        </p:nvSpPr>
        <p:spPr>
          <a:xfrm>
            <a:off x="2038350" y="7962900"/>
            <a:ext cx="14763900" cy="838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900"/>
              <a:buNone/>
            </a:pPr>
            <a:r>
              <a:rPr b="1" lang="ar-SA" sz="3900">
                <a:solidFill>
                  <a:srgbClr val="F2F4FF"/>
                </a:solidFill>
                <a:latin typeface="Readex Pro"/>
                <a:ea typeface="Readex Pro"/>
                <a:cs typeface="Readex Pro"/>
                <a:sym typeface="Readex Pro"/>
              </a:rPr>
              <a:t>التقرير: ماذا تغيّر، وأين، ولماذا يهم</a:t>
            </a:r>
            <a:endParaRPr/>
          </a:p>
        </p:txBody>
      </p:sp>
      <p:sp>
        <p:nvSpPr>
          <p:cNvPr id="836" name="Google Shape;836;p25"/>
          <p:cNvSpPr txBox="1"/>
          <p:nvPr>
            <p:ph idx="1" type="body"/>
          </p:nvPr>
        </p:nvSpPr>
        <p:spPr>
          <a:xfrm>
            <a:off x="1990725" y="8824913"/>
            <a:ext cx="14763900" cy="428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100"/>
              <a:buNone/>
            </a:pPr>
            <a:r>
              <a:rPr b="0" lang="ar-SA" sz="2100">
                <a:solidFill>
                  <a:srgbClr val="CBCFE6"/>
                </a:solidFill>
                <a:latin typeface="Readex Pro"/>
                <a:ea typeface="Readex Pro"/>
                <a:cs typeface="Readex Pro"/>
                <a:sym typeface="Readex Pro"/>
              </a:rPr>
              <a:t>مثال اصطناعي: مسألة خلافية في زكاة الحلي تصير قطعية في الملخص، ثم «الإسلام يوجب»، ثم قولاً منسوباً إلى النبي ﷺ</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pic>
        <p:nvPicPr>
          <p:cNvPr id="842" name="Google Shape;842;p26"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43" name="Google Shape;843;p26"/>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الحل</a:t>
            </a:r>
            <a:endParaRPr/>
          </a:p>
        </p:txBody>
      </p:sp>
      <p:sp>
        <p:nvSpPr>
          <p:cNvPr id="844" name="Google Shape;844;p26"/>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المحرك نفسه في ثلاثة مواضع</a:t>
            </a:r>
            <a:endParaRPr/>
          </a:p>
        </p:txBody>
      </p:sp>
      <p:sp>
        <p:nvSpPr>
          <p:cNvPr id="845" name="Google Shape;845;p2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846" name="Google Shape;846;p26" descr="reverse-result.png"/>
          <p:cNvPicPr>
            <a:picLocks noGrp="1" noChangeAspect="1"/>
          </p:cNvPicPr>
          <p:nvPr>
            <p:ph idx="2" type="pic"/>
          </p:nvPr>
        </p:nvPicPr>
        <p:blipFill>
          <a:blip r:embed="rId5"/>
          <a:srcRect l="11421" r="11421"/>
          <a:stretch>
            <a:fillRect/>
          </a:stretch>
        </p:blipFill>
        <p:spPr>
          <a:xfrm>
            <a:off x="12077700" y="3714750"/>
            <a:ext cx="4762500" cy="4286400"/>
          </a:xfrm>
        </p:spPr>
      </p:pic>
      <p:sp>
        <p:nvSpPr>
          <p:cNvPr id="847" name="Google Shape;847;p26"/>
          <p:cNvSpPr txBox="1"/>
          <p:nvPr>
            <p:ph idx="3" type="body"/>
          </p:nvPr>
        </p:nvSpPr>
        <p:spPr>
          <a:xfrm>
            <a:off x="12115800" y="8334375"/>
            <a:ext cx="4762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تحقّق مما قرأت: للقارئ، ولا يُحفظ نصه</a:t>
            </a:r>
            <a:endParaRPr/>
          </a:p>
        </p:txBody>
      </p:sp>
      <p:sp>
        <p:nvSpPr>
          <p:cNvPr id="848" name="Google Shape;848;p26"/>
          <p:cNvSpPr txBox="1"/>
          <p:nvPr>
            <p:ph idx="5" type="body"/>
          </p:nvPr>
        </p:nvSpPr>
        <p:spPr>
          <a:xfrm>
            <a:off x="6762750" y="8334375"/>
            <a:ext cx="4762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تقرير المراجعة: شاركه أو نزّله PDF</a:t>
            </a:r>
            <a:endParaRPr/>
          </a:p>
        </p:txBody>
      </p:sp>
      <p:sp>
        <p:nvSpPr>
          <p:cNvPr id="849" name="Google Shape;849;p26"/>
          <p:cNvSpPr txBox="1"/>
          <p:nvPr>
            <p:ph idx="7" type="body"/>
          </p:nvPr>
        </p:nvSpPr>
        <p:spPr>
          <a:xfrm>
            <a:off x="1409700" y="8334375"/>
            <a:ext cx="4762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مصادر مِرآة: المصحف كاملاً و3548 حديثاً</a:t>
            </a:r>
            <a:endParaRPr/>
          </a:p>
        </p:txBody>
      </p:sp>
      <p:pic>
        <p:nvPicPr>
          <p:cNvPr id="850" name="Google Shape;850;p26"/>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pic>
        <p:nvPicPr>
          <p:cNvPr id="851" name="Google Shape;851;p26" descr="report-trav.png"/>
          <p:cNvPicPr>
            <a:picLocks noGrp="1" noChangeAspect="1"/>
          </p:cNvPicPr>
          <p:nvPr>
            <p:ph idx="2" type="pic"/>
          </p:nvPr>
        </p:nvPicPr>
        <p:blipFill>
          <a:blip r:embed="rId6"/>
          <a:srcRect l="15279" r="15279"/>
          <a:stretch>
            <a:fillRect/>
          </a:stretch>
        </p:blipFill>
        <p:spPr>
          <a:xfrm>
            <a:off x="6743700" y="3714675"/>
            <a:ext cx="4762500" cy="4286400"/>
          </a:xfrm>
        </p:spPr>
      </p:pic>
      <p:pic>
        <p:nvPicPr>
          <p:cNvPr id="852" name="Google Shape;852;p26" descr="sources.png"/>
          <p:cNvPicPr>
            <a:picLocks noGrp="1" noChangeAspect="1"/>
          </p:cNvPicPr>
          <p:nvPr>
            <p:ph idx="2" type="pic"/>
          </p:nvPr>
        </p:nvPicPr>
        <p:blipFill>
          <a:blip r:embed="rId7"/>
          <a:srcRect l="15279" r="15279"/>
          <a:stretch>
            <a:fillRect/>
          </a:stretch>
        </p:blipFill>
        <p:spPr>
          <a:xfrm>
            <a:off x="1409700" y="3714750"/>
            <a:ext cx="4762500" cy="4286400"/>
          </a:xfr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85" name="Shape 585"/>
        <p:cNvGrpSpPr/>
        <p:nvPr/>
      </p:nvGrpSpPr>
      <p:grpSpPr>
        <a:xfrm>
          <a:off x="0" y="0"/>
          <a:ext cx="0" cy="0"/>
          <a:chOff x="0" y="0"/>
          <a:chExt cx="0" cy="0"/>
        </a:xfrm>
      </p:grpSpPr>
      <p:pic>
        <p:nvPicPr>
          <p:cNvPr id="586" name="Google Shape;586;p14"/>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87" name="Google Shape;587;p14"/>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88" name="Google Shape;588;p14"/>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89" name="Google Shape;589;p14"/>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الحل</a:t>
            </a:r>
            <a:endParaRPr/>
          </a:p>
        </p:txBody>
      </p:sp>
      <p:sp>
        <p:nvSpPr>
          <p:cNvPr id="590" name="Google Shape;590;p14"/>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قابِل ذكرك: المحرك نفسه يعلّم الصلاة</a:t>
            </a:r>
            <a:endParaRPr/>
          </a:p>
        </p:txBody>
      </p:sp>
      <p:sp>
        <p:nvSpPr>
          <p:cNvPr id="591" name="Google Shape;591;p1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592" name="Google Shape;592;p14" descr="salah-live.jpg"/>
          <p:cNvPicPr>
            <a:picLocks noGrp="1" noChangeAspect="1"/>
          </p:cNvPicPr>
          <p:nvPr>
            <p:ph idx="2" type="pic"/>
          </p:nvPr>
        </p:nvPicPr>
        <p:blipFill>
          <a:blip r:embed="rId5"/>
          <a:srcRect l="21875" r="21875"/>
          <a:stretch>
            <a:fillRect/>
          </a:stretch>
        </p:blipFill>
        <p:spPr>
          <a:xfrm>
            <a:off x="2190750" y="2999025"/>
            <a:ext cx="5715000" cy="5715000"/>
          </a:xfrm>
        </p:spPr>
      </p:pic>
      <p:sp>
        <p:nvSpPr>
          <p:cNvPr id="593" name="Google Shape;593;p14"/>
          <p:cNvSpPr txBox="1"/>
          <p:nvPr>
            <p:ph idx="3" type="body"/>
          </p:nvPr>
        </p:nvSpPr>
        <p:spPr>
          <a:xfrm>
            <a:off x="9696450" y="3905250"/>
            <a:ext cx="7143900" cy="800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450"/>
              <a:buNone/>
            </a:pPr>
            <a:r>
              <a:rPr b="1" lang="ar-SA" sz="3450">
                <a:solidFill>
                  <a:srgbClr val="2EF2C2"/>
                </a:solidFill>
                <a:latin typeface="Readex Pro"/>
                <a:ea typeface="Readex Pro"/>
                <a:cs typeface="Readex Pro"/>
                <a:sym typeface="Readex Pro"/>
              </a:rPr>
              <a:t>الأحمر ما سقط من الذكر</a:t>
            </a:r>
            <a:endParaRPr/>
          </a:p>
        </p:txBody>
      </p:sp>
      <p:sp>
        <p:nvSpPr>
          <p:cNvPr id="594" name="Google Shape;594;p14"/>
          <p:cNvSpPr txBox="1"/>
          <p:nvPr>
            <p:ph idx="4" type="body"/>
          </p:nvPr>
        </p:nvSpPr>
        <p:spPr>
          <a:xfrm>
            <a:off x="9696450" y="5191125"/>
            <a:ext cx="7143900" cy="2032500"/>
          </a:xfrm>
          <a:prstGeom prst="rect">
            <a:avLst/>
          </a:prstGeom>
          <a:noFill/>
          <a:ln>
            <a:noFill/>
          </a:ln>
        </p:spPr>
        <p:txBody>
          <a:bodyPr anchorCtr="0" anchor="t" bIns="0" lIns="0" spcFirstLastPara="1" rIns="0" wrap="square" tIns="0">
            <a:noAutofit/>
          </a:bodyPr>
          <a:lstStyle/>
          <a:p>
            <a:pPr indent="0" lvl="0" marL="0" rtl="1" algn="r">
              <a:lnSpc>
                <a:spcPct val="115000"/>
              </a:lnSpc>
              <a:spcBef>
                <a:spcPts val="0"/>
              </a:spcBef>
              <a:spcAft>
                <a:spcPts val="0"/>
              </a:spcAft>
              <a:buSzPts val="2850"/>
              <a:buNone/>
            </a:pPr>
            <a:r>
              <a:rPr lang="ar-SA" sz="2850">
                <a:solidFill>
                  <a:srgbClr val="F2F4FF"/>
                </a:solidFill>
                <a:latin typeface="Readex Pro Light"/>
                <a:ea typeface="Readex Pro Light"/>
                <a:cs typeface="Readex Pro Light"/>
                <a:sym typeface="Readex Pro Light"/>
              </a:rPr>
              <a:t>تقابل مِرآة ما ينطقه المتعلّم بنص الذكر في مصدره كلمةً كلمة، على صورة الكاميرا بخط يُقرأ من بُعد مترين. كل ذكر من مدونتها بمرجعه، والصورة تُحلَّل داخل المتصفح ولا تُرفع.</a:t>
            </a:r>
            <a:endParaRPr>
              <a:latin typeface="Readex Pro Light"/>
              <a:ea typeface="Readex Pro Light"/>
              <a:cs typeface="Readex Pro Light"/>
              <a:sym typeface="Readex Pro Light"/>
            </a:endParaRPr>
          </a:p>
        </p:txBody>
      </p:sp>
      <p:sp>
        <p:nvSpPr>
          <p:cNvPr id="595" name="Google Shape;595;p14"/>
          <p:cNvSpPr txBox="1"/>
          <p:nvPr>
            <p:ph idx="5" type="body"/>
          </p:nvPr>
        </p:nvSpPr>
        <p:spPr>
          <a:xfrm>
            <a:off x="9696450" y="8048625"/>
            <a:ext cx="7143900" cy="743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950"/>
              <a:buNone/>
            </a:pPr>
            <a:r>
              <a:rPr b="0" lang="ar-SA" sz="1950">
                <a:solidFill>
                  <a:srgbClr val="CBCFE6"/>
                </a:solidFill>
                <a:latin typeface="Readex Pro"/>
                <a:ea typeface="Readex Pro"/>
                <a:cs typeface="Readex Pro"/>
                <a:sym typeface="Readex Pro"/>
              </a:rPr>
              <a:t>تدريب على الألفاظ والحركات، لا حكم بصحة الصلاة</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25" name="Shape 525"/>
        <p:cNvGrpSpPr/>
        <p:nvPr/>
      </p:nvGrpSpPr>
      <p:grpSpPr>
        <a:xfrm>
          <a:off x="0" y="0"/>
          <a:ext cx="0" cy="0"/>
          <a:chOff x="0" y="0"/>
          <a:chExt cx="0" cy="0"/>
        </a:xfrm>
      </p:grpSpPr>
      <p:pic>
        <p:nvPicPr>
          <p:cNvPr id="526" name="Google Shape;526;p10"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527" name="Google Shape;527;p10"/>
          <p:cNvSpPr txBox="1"/>
          <p:nvPr>
            <p:ph idx="1" type="body"/>
          </p:nvPr>
        </p:nvSpPr>
        <p:spPr>
          <a:xfrm>
            <a:off x="13125450" y="3143250"/>
            <a:ext cx="3619500" cy="12384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8400"/>
              <a:buNone/>
            </a:pPr>
            <a:r>
              <a:rPr b="1" lang="ar-SA" sz="8400">
                <a:solidFill>
                  <a:srgbClr val="2EF2C2"/>
                </a:solidFill>
                <a:latin typeface="Readex Pro"/>
                <a:ea typeface="Readex Pro"/>
                <a:cs typeface="Readex Pro"/>
                <a:sym typeface="Readex Pro"/>
              </a:rPr>
              <a:t>03</a:t>
            </a:r>
            <a:endParaRPr/>
          </a:p>
        </p:txBody>
      </p:sp>
      <p:sp>
        <p:nvSpPr>
          <p:cNvPr id="528" name="Google Shape;528;p10"/>
          <p:cNvSpPr txBox="1"/>
          <p:nvPr>
            <p:ph type="title"/>
          </p:nvPr>
        </p:nvSpPr>
        <p:spPr>
          <a:xfrm>
            <a:off x="9179000" y="4810125"/>
            <a:ext cx="7566000" cy="1238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6000"/>
              <a:buNone/>
            </a:pPr>
            <a:r>
              <a:rPr b="1" lang="ar-SA" sz="6000">
                <a:solidFill>
                  <a:srgbClr val="F2F4FF"/>
                </a:solidFill>
                <a:latin typeface="Readex Pro"/>
                <a:ea typeface="Readex Pro"/>
                <a:cs typeface="Readex Pro"/>
                <a:sym typeface="Readex Pro"/>
              </a:rPr>
              <a:t>التقنية والنتائج</a:t>
            </a:r>
            <a:endParaRPr/>
          </a:p>
        </p:txBody>
      </p:sp>
      <p:sp>
        <p:nvSpPr>
          <p:cNvPr id="529" name="Google Shape;529;p10"/>
          <p:cNvSpPr txBox="1"/>
          <p:nvPr>
            <p:ph idx="2" type="body"/>
          </p:nvPr>
        </p:nvSpPr>
        <p:spPr>
          <a:xfrm>
            <a:off x="9729275" y="6572250"/>
            <a:ext cx="7015500" cy="675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0" lang="ar-SA" sz="2850">
                <a:solidFill>
                  <a:srgbClr val="CBCFE6"/>
                </a:solidFill>
                <a:latin typeface="Readex Pro"/>
                <a:ea typeface="Readex Pro"/>
                <a:cs typeface="Readex Pro"/>
                <a:sym typeface="Readex Pro"/>
              </a:rPr>
              <a:t>الذكاء الاصطناعي حيث يلزم، والقواعد حيث تكفي، والنتائج مقيسة</a:t>
            </a:r>
            <a:endParaRPr/>
          </a:p>
        </p:txBody>
      </p:sp>
      <p:pic>
        <p:nvPicPr>
          <p:cNvPr id="530" name="Google Shape;530;p10"/>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36" name="Shape 636"/>
        <p:cNvGrpSpPr/>
        <p:nvPr/>
      </p:nvGrpSpPr>
      <p:grpSpPr>
        <a:xfrm>
          <a:off x="0" y="0"/>
          <a:ext cx="0" cy="0"/>
          <a:chOff x="0" y="0"/>
          <a:chExt cx="0" cy="0"/>
        </a:xfrm>
      </p:grpSpPr>
      <p:pic>
        <p:nvPicPr>
          <p:cNvPr id="637" name="Google Shape;637;p1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638" name="Google Shape;638;p1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39" name="Google Shape;639;p1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التقنية</a:t>
            </a:r>
            <a:endParaRPr/>
          </a:p>
        </p:txBody>
      </p:sp>
      <p:sp>
        <p:nvSpPr>
          <p:cNvPr id="640" name="Google Shape;640;p1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التقنيات، ولماذا لا يكفي البديل الأبسط</a:t>
            </a:r>
            <a:endParaRPr/>
          </a:p>
        </p:txBody>
      </p:sp>
      <p:sp>
        <p:nvSpPr>
          <p:cNvPr id="641" name="Google Shape;641;p1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لكل تقنية وظيفة محددة، وما لا يحتاج نموذجاً لا يمر بنموذج</a:t>
            </a:r>
            <a:endParaRPr/>
          </a:p>
        </p:txBody>
      </p:sp>
      <p:sp>
        <p:nvSpPr>
          <p:cNvPr id="642" name="Google Shape;642;p1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graphicFrame>
        <p:nvGraphicFramePr>
          <p:cNvPr id="643" name="Google Shape;643;p17"/>
          <p:cNvGraphicFramePr/>
          <p:nvPr/>
        </p:nvGraphicFramePr>
        <p:xfrm>
          <a:off x="1314450" y="3905250"/>
          <a:ext cx="3000000" cy="3360000"/>
        </p:xfrm>
        <a:graphic>
          <a:graphicData uri="http://schemas.openxmlformats.org/drawingml/2006/table">
            <a:tbl>
              <a:tblPr>
                <a:noFill/>
                <a:tableStyleId>{B8ED9858-D163-4338-9E88-1F424354888F}</a:tableStyleId>
              </a:tblPr>
              <a:tblGrid>
                <a:gridCol w="2286000"/>
                <a:gridCol w="3238500"/>
                <a:gridCol w="6191250"/>
                <a:gridCol w="3714750"/>
              </a:tblGrid>
              <a:tr h="560000">
                <a:tc>
                  <a:txBody>
                    <a:bodyPr/>
                    <a:lstStyle/>
                    <a:p>
                      <a:pPr indent="0" lvl="0" marL="0" marR="0" rtl="1" algn="r">
                        <a:lnSpc>
                          <a:spcPct val="100000"/>
                        </a:lnSpc>
                        <a:spcBef>
                          <a:spcPts val="0"/>
                        </a:spcBef>
                        <a:spcAft>
                          <a:spcPts val="0"/>
                        </a:spcAft>
                        <a:buClr>
                          <a:srgbClr val="000000"/>
                        </a:buClr>
                        <a:buSzPts val="2250"/>
                        <a:buFont typeface="Arial"/>
                        <a:buNone/>
                      </a:pPr>
                      <a:r>
                        <a:rPr b="1" lang="ar-SA" sz="1600" u="none" cap="none" strike="noStrike">
                          <a:solidFill>
                            <a:srgbClr val="2EF2C2"/>
                          </a:solidFill>
                          <a:latin typeface="Readex Pro"/>
                          <a:ea typeface="Readex Pro"/>
                          <a:cs typeface="Readex Pro"/>
                          <a:sym typeface="Readex Pro"/>
                        </a:rPr>
                        <a:t>لماذا لا يكفي الأبسط</a:t>
                      </a:r>
                      <a:endParaRPr/>
                    </a:p>
                  </a:txBody>
                  <a:tcPr marT="60000" marB="60000"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1600" u="none" cap="none" strike="noStrike">
                          <a:solidFill>
                            <a:srgbClr val="2EF2C2"/>
                          </a:solidFill>
                          <a:latin typeface="Readex Pro"/>
                          <a:ea typeface="Readex Pro"/>
                          <a:cs typeface="Readex Pro"/>
                          <a:sym typeface="Readex Pro"/>
                        </a:rPr>
                        <a:t>المكوّن</a:t>
                      </a:r>
                      <a:endParaRPr/>
                    </a:p>
                  </a:txBody>
                  <a:tcPr marT="60000" marB="60000"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1600" u="none" cap="none" strike="noStrike">
                          <a:solidFill>
                            <a:srgbClr val="2EF2C2"/>
                          </a:solidFill>
                          <a:latin typeface="Readex Pro"/>
                          <a:ea typeface="Readex Pro"/>
                          <a:cs typeface="Readex Pro"/>
                          <a:sym typeface="Readex Pro"/>
                        </a:rPr>
                        <a:t>وظيفتها في مِرآة</a:t>
                      </a:r>
                      <a:endParaRPr/>
                    </a:p>
                  </a:txBody>
                  <a:tcPr marT="60000" marB="60000"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1600" u="none" cap="none" strike="noStrike">
                          <a:solidFill>
                            <a:srgbClr val="2EF2C2"/>
                          </a:solidFill>
                          <a:latin typeface="Readex Pro"/>
                          <a:ea typeface="Readex Pro"/>
                          <a:cs typeface="Readex Pro"/>
                          <a:sym typeface="Readex Pro"/>
                        </a:rPr>
                        <a:t>التقنية</a:t>
                      </a:r>
                      <a:endParaRPr/>
                    </a:p>
                  </a:txBody>
                  <a:tcPr marT="60000" marB="60000"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r>
              <a:tr h="560000">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F2F4FF"/>
                          </a:solidFill>
                          <a:latin typeface="Readex Pro"/>
                          <a:ea typeface="Readex Pro"/>
                          <a:cs typeface="Readex Pro"/>
                          <a:sym typeface="Readex Pro"/>
                        </a:rPr>
                        <a:t>التشابه النصي لا يرى سقوط شرط</a:t>
                      </a:r>
                      <a:endParaRPr/>
                    </a:p>
                  </a:txBody>
                  <a:tcPr marT="60000" marB="60000"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F2F4FF"/>
                          </a:solidFill>
                          <a:latin typeface="Readex Pro"/>
                          <a:ea typeface="Readex Pro"/>
                          <a:cs typeface="Readex Pro"/>
                          <a:sym typeface="Readex Pro"/>
                        </a:rPr>
                        <a:t>align · fingerprint</a:t>
                      </a:r>
                      <a:endParaRPr/>
                    </a:p>
                  </a:txBody>
                  <a:tcPr marT="60000" marB="60000"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F2F4FF"/>
                          </a:solidFill>
                          <a:latin typeface="Readex Pro"/>
                          <a:ea typeface="Readex Pro"/>
                          <a:cs typeface="Readex Pro"/>
                          <a:sym typeface="Readex Pro"/>
                        </a:rPr>
                        <a:t>محاذاة الجمل وبصمة المعنى وامتحان القارئ</a:t>
                      </a:r>
                      <a:endParaRPr/>
                    </a:p>
                  </a:txBody>
                  <a:tcPr marT="60000" marB="60000"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F2F4FF"/>
                          </a:solidFill>
                          <a:latin typeface="Readex Pro"/>
                          <a:ea typeface="Readex Pro"/>
                          <a:cs typeface="Readex Pro"/>
                          <a:sym typeface="Readex Pro"/>
                        </a:rPr>
                        <a:t>نموذج لغوي (Claude) بشاهدين</a:t>
                      </a:r>
                      <a:endParaRPr/>
                    </a:p>
                  </a:txBody>
                  <a:tcPr marT="60000" marB="60000"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560000">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F2F4FF"/>
                          </a:solidFill>
                          <a:latin typeface="Readex Pro"/>
                          <a:ea typeface="Readex Pro"/>
                          <a:cs typeface="Readex Pro"/>
                          <a:sym typeface="Readex Pro"/>
                        </a:rPr>
                        <a:t>نتائج ثابتة قابلة للتدقيق</a:t>
                      </a:r>
                      <a:endParaRPr/>
                    </a:p>
                  </a:txBody>
                  <a:tcPr marT="60000" marB="60000"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F2F4FF"/>
                          </a:solidFill>
                          <a:latin typeface="Readex Pro"/>
                          <a:ea typeface="Readex Pro"/>
                          <a:cs typeface="Readex Pro"/>
                          <a:sym typeface="Readex Pro"/>
                        </a:rPr>
                        <a:t>rules · chain</a:t>
                      </a:r>
                      <a:endParaRPr/>
                    </a:p>
                  </a:txBody>
                  <a:tcPr marT="60000" marB="60000"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F2F4FF"/>
                          </a:solidFill>
                          <a:latin typeface="Readex Pro"/>
                          <a:ea typeface="Readex Pro"/>
                          <a:cs typeface="Readex Pro"/>
                          <a:sym typeface="Readex Pro"/>
                        </a:rPr>
                        <a:t>الشروط والنفي والأرقام والنسبة والخلاف</a:t>
                      </a:r>
                      <a:endParaRPr/>
                    </a:p>
                  </a:txBody>
                  <a:tcPr marT="60000" marB="60000"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F2F4FF"/>
                          </a:solidFill>
                          <a:latin typeface="Readex Pro"/>
                          <a:ea typeface="Readex Pro"/>
                          <a:cs typeface="Readex Pro"/>
                          <a:sym typeface="Readex Pro"/>
                        </a:rPr>
                        <a:t>قواعد حتمية</a:t>
                      </a:r>
                      <a:endParaRPr/>
                    </a:p>
                  </a:txBody>
                  <a:tcPr marT="60000" marB="60000"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560000">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F2F4FF"/>
                          </a:solidFill>
                          <a:latin typeface="Readex Pro"/>
                          <a:ea typeface="Readex Pro"/>
                          <a:cs typeface="Readex Pro"/>
                          <a:sym typeface="Readex Pro"/>
                        </a:rPr>
                        <a:t>يمنع الاعتماد على ذاكرة النموذج</a:t>
                      </a:r>
                      <a:endParaRPr/>
                    </a:p>
                  </a:txBody>
                  <a:tcPr marT="60000" marB="60000"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F2F4FF"/>
                          </a:solidFill>
                          <a:latin typeface="Readex Pro"/>
                          <a:ea typeface="Readex Pro"/>
                          <a:cs typeface="Readex Pro"/>
                          <a:sym typeface="Readex Pro"/>
                        </a:rPr>
                        <a:t>mizan</a:t>
                      </a:r>
                      <a:endParaRPr/>
                    </a:p>
                  </a:txBody>
                  <a:tcPr marT="60000" marB="60000"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F2F4FF"/>
                          </a:solidFill>
                          <a:latin typeface="Readex Pro"/>
                          <a:ea typeface="Readex Pro"/>
                          <a:cs typeface="Readex Pro"/>
                          <a:sym typeface="Readex Pro"/>
                        </a:rPr>
                        <a:t>البحث في مدونة محلية من مصادر رسمية</a:t>
                      </a:r>
                      <a:endParaRPr/>
                    </a:p>
                  </a:txBody>
                  <a:tcPr marT="60000" marB="60000"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F2F4FF"/>
                          </a:solidFill>
                          <a:latin typeface="Readex Pro"/>
                          <a:ea typeface="Readex Pro"/>
                          <a:cs typeface="Readex Pro"/>
                          <a:sym typeface="Readex Pro"/>
                        </a:rPr>
                        <a:t>استرجاع </a:t>
                      </a:r>
                      <a:r>
                        <a:rPr b="0" lang="en-US" sz="1600" u="none" cap="none" strike="noStrike">
                          <a:solidFill>
                            <a:srgbClr val="F2F4FF"/>
                          </a:solidFill>
                          <a:latin typeface="Readex Pro"/>
                          <a:ea typeface="Readex Pro"/>
                          <a:cs typeface="Readex Pro"/>
                          <a:sym typeface="Readex Pro"/>
                        </a:rPr>
                        <a:t>BM25</a:t>
                      </a:r>
                      <a:r>
                        <a:rPr b="0" lang="ar-SA" sz="1600" u="none" cap="none" strike="noStrike">
                          <a:solidFill>
                            <a:srgbClr val="F2F4FF"/>
                          </a:solidFill>
                          <a:latin typeface="Readex Pro"/>
                          <a:ea typeface="Readex Pro"/>
                          <a:cs typeface="Readex Pro"/>
                          <a:sym typeface="Readex Pro"/>
                        </a:rPr>
                        <a:t> وتطبيع عربي</a:t>
                      </a:r>
                      <a:endParaRPr/>
                    </a:p>
                  </a:txBody>
                  <a:tcPr marT="60000" marB="60000"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560000">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F2F4FF"/>
                          </a:solidFill>
                          <a:latin typeface="Readex Pro"/>
                          <a:ea typeface="Readex Pro"/>
                          <a:cs typeface="Readex Pro"/>
                          <a:sym typeface="Readex Pro"/>
                        </a:rPr>
                        <a:t>الصورة لا تغادر المتصفح</a:t>
                      </a:r>
                      <a:endParaRPr/>
                    </a:p>
                  </a:txBody>
                  <a:tcPr marT="60000" marB="60000"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F2F4FF"/>
                          </a:solidFill>
                          <a:latin typeface="Readex Pro"/>
                          <a:ea typeface="Readex Pro"/>
                          <a:cs typeface="Readex Pro"/>
                          <a:sym typeface="Readex Pro"/>
                        </a:rPr>
                        <a:t>MediaPipe</a:t>
                      </a:r>
                      <a:endParaRPr/>
                    </a:p>
                  </a:txBody>
                  <a:tcPr marT="60000" marB="60000"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F2F4FF"/>
                          </a:solidFill>
                          <a:latin typeface="Readex Pro"/>
                          <a:ea typeface="Readex Pro"/>
                          <a:cs typeface="Readex Pro"/>
                          <a:sym typeface="Readex Pro"/>
                        </a:rPr>
                        <a:t>التعرّف على وضعيات الصلاة</a:t>
                      </a:r>
                      <a:endParaRPr/>
                    </a:p>
                  </a:txBody>
                  <a:tcPr marT="60000" marB="60000"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F2F4FF"/>
                          </a:solidFill>
                          <a:latin typeface="Readex Pro"/>
                          <a:ea typeface="Readex Pro"/>
                          <a:cs typeface="Readex Pro"/>
                          <a:sym typeface="Readex Pro"/>
                        </a:rPr>
                        <a:t>رؤية حاسوبية</a:t>
                      </a:r>
                      <a:endParaRPr/>
                    </a:p>
                  </a:txBody>
                  <a:tcPr marT="60000" marB="60000"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560000">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F2F4FF"/>
                          </a:solidFill>
                          <a:latin typeface="Readex Pro"/>
                          <a:ea typeface="Readex Pro"/>
                          <a:cs typeface="Readex Pro"/>
                          <a:sym typeface="Readex Pro"/>
                        </a:rPr>
                        <a:t>مقابلة الذكر بنصه كلمة كلمة</a:t>
                      </a:r>
                      <a:endParaRPr/>
                    </a:p>
                  </a:txBody>
                  <a:tcPr marT="60000" marB="60000"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F2F4FF"/>
                          </a:solidFill>
                          <a:latin typeface="Readex Pro"/>
                          <a:ea typeface="Readex Pro"/>
                          <a:cs typeface="Readex Pro"/>
                          <a:sym typeface="Readex Pro"/>
                        </a:rPr>
                        <a:t>Web Speech</a:t>
                      </a:r>
                      <a:endParaRPr/>
                    </a:p>
                  </a:txBody>
                  <a:tcPr marT="60000" marB="60000"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F2F4FF"/>
                          </a:solidFill>
                          <a:latin typeface="Readex Pro"/>
                          <a:ea typeface="Readex Pro"/>
                          <a:cs typeface="Readex Pro"/>
                          <a:sym typeface="Readex Pro"/>
                        </a:rPr>
                        <a:t>الاستماع إلى ما ينطقه المتعلّم</a:t>
                      </a:r>
                      <a:endParaRPr/>
                    </a:p>
                  </a:txBody>
                  <a:tcPr marT="60000" marB="60000"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F2F4FF"/>
                          </a:solidFill>
                          <a:latin typeface="Readex Pro"/>
                          <a:ea typeface="Readex Pro"/>
                          <a:cs typeface="Readex Pro"/>
                          <a:sym typeface="Readex Pro"/>
                        </a:rPr>
                        <a:t>تعرّف على الكلام</a:t>
                      </a:r>
                      <a:endParaRPr/>
                    </a:p>
                  </a:txBody>
                  <a:tcPr marT="60000" marB="60000"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bl>
          </a:graphicData>
        </a:graphic>
      </p:graphicFrame>
      <p:sp>
        <p:nvSpPr>
          <p:cNvPr id="644" name="Google Shape;644;p17"/>
          <p:cNvSpPr txBox="1"/>
          <p:nvPr>
            <p:ph idx="3" type="body"/>
          </p:nvPr>
        </p:nvSpPr>
        <p:spPr>
          <a:xfrm>
            <a:off x="1409700" y="881062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CBCFE6"/>
                </a:solidFill>
                <a:latin typeface="Readex Pro"/>
                <a:ea typeface="Readex Pro"/>
                <a:cs typeface="Readex Pro"/>
                <a:sym typeface="Readex Pro"/>
              </a:rPr>
              <a:t>FastAPI · SQLite · Docker · تخزين مؤقت للاستجابات وسجل tokens لتقدير التكلفة</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00" name="Shape 600"/>
        <p:cNvGrpSpPr/>
        <p:nvPr/>
      </p:nvGrpSpPr>
      <p:grpSpPr>
        <a:xfrm>
          <a:off x="0" y="0"/>
          <a:ext cx="0" cy="0"/>
          <a:chOff x="0" y="0"/>
          <a:chExt cx="0" cy="0"/>
        </a:xfrm>
      </p:grpSpPr>
      <p:pic>
        <p:nvPicPr>
          <p:cNvPr id="601" name="Google Shape;601;p15"/>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602" name="Google Shape;602;p15"/>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603" name="Google Shape;603;p15"/>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04" name="Google Shape;604;p15"/>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النتائج</a:t>
            </a:r>
            <a:endParaRPr/>
          </a:p>
        </p:txBody>
      </p:sp>
      <p:sp>
        <p:nvSpPr>
          <p:cNvPr id="605" name="Google Shape;605;p15"/>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مِرآة ترى ما لا تراه المقاييس التقليدية</a:t>
            </a:r>
            <a:endParaRPr/>
          </a:p>
        </p:txBody>
      </p:sp>
      <p:sp>
        <p:nvSpPr>
          <p:cNvPr id="606" name="Google Shape;606;p15"/>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47 حالة اصطناعية: 28 تغيّراً مزروعاً، و15 صياغة سليمة المعنى، و4 حالات امتناع</a:t>
            </a:r>
            <a:endParaRPr/>
          </a:p>
        </p:txBody>
      </p:sp>
      <p:sp>
        <p:nvSpPr>
          <p:cNvPr id="607" name="Google Shape;607;p1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608" name="Google Shape;608;p15"/>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96٪</a:t>
            </a:r>
            <a:endParaRPr/>
          </a:p>
        </p:txBody>
      </p:sp>
      <p:sp>
        <p:nvSpPr>
          <p:cNvPr id="609" name="Google Shape;609;p15"/>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كشف التغيّر المزروع</a:t>
            </a:r>
            <a:endParaRPr/>
          </a:p>
        </p:txBody>
      </p:sp>
      <p:sp>
        <p:nvSpPr>
          <p:cNvPr id="610" name="Google Shape;610;p15"/>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مِرآة</a:t>
            </a:r>
            <a:endParaRPr/>
          </a:p>
        </p:txBody>
      </p:sp>
      <p:sp>
        <p:nvSpPr>
          <p:cNvPr id="611" name="Google Shape;611;p15"/>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14٪</a:t>
            </a:r>
            <a:endParaRPr/>
          </a:p>
        </p:txBody>
      </p:sp>
      <p:sp>
        <p:nvSpPr>
          <p:cNvPr id="612" name="Google Shape;612;p15"/>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كشف المقياس التقليدي</a:t>
            </a:r>
            <a:endParaRPr/>
          </a:p>
        </p:txBody>
      </p:sp>
      <p:sp>
        <p:nvSpPr>
          <p:cNvPr id="613" name="Google Shape;613;p15"/>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chrF أو نسبة الطول</a:t>
            </a:r>
            <a:endParaRPr/>
          </a:p>
        </p:txBody>
      </p:sp>
      <p:sp>
        <p:nvSpPr>
          <p:cNvPr id="614" name="Google Shape;614;p15"/>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100٪</a:t>
            </a:r>
            <a:endParaRPr/>
          </a:p>
        </p:txBody>
      </p:sp>
      <p:sp>
        <p:nvSpPr>
          <p:cNvPr id="615" name="Google Shape;615;p15"/>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صحة الامتناع</a:t>
            </a:r>
            <a:endParaRPr/>
          </a:p>
        </p:txBody>
      </p:sp>
      <p:sp>
        <p:nvSpPr>
          <p:cNvPr id="616" name="Google Shape;616;p15"/>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«غير متحقق» بالعبارة الثابتة</a:t>
            </a:r>
            <a:endParaRPr/>
          </a:p>
        </p:txBody>
      </p:sp>
      <p:sp>
        <p:nvSpPr>
          <p:cNvPr id="617" name="Google Shape;617;p15"/>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20٪</a:t>
            </a:r>
            <a:endParaRPr/>
          </a:p>
        </p:txBody>
      </p:sp>
      <p:sp>
        <p:nvSpPr>
          <p:cNvPr id="618" name="Google Shape;618;p15"/>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إنذارات كاذبة</a:t>
            </a:r>
            <a:endParaRPr/>
          </a:p>
        </p:txBody>
      </p:sp>
      <p:sp>
        <p:nvSpPr>
          <p:cNvPr id="619" name="Google Shape;619;p15"/>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على الصياغات السليمة (كانت 44٪)</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pic>
        <p:nvPicPr>
          <p:cNvPr id="741" name="Google Shape;741;g3fa608e3085_0_0"/>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sp>
        <p:nvSpPr>
          <p:cNvPr id="742" name="Google Shape;742;g3fa608e3085_0_0"/>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النتائج</a:t>
            </a:r>
            <a:endParaRPr/>
          </a:p>
        </p:txBody>
      </p:sp>
      <p:sp>
        <p:nvSpPr>
          <p:cNvPr id="743" name="Google Shape;743;g3fa608e3085_0_0"/>
          <p:cNvSpPr txBox="1"/>
          <p:nvPr>
            <p:ph type="title"/>
          </p:nvPr>
        </p:nvSpPr>
        <p:spPr>
          <a:xfrm>
            <a:off x="1409700" y="15811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مِرآة مقابل المقياس التقليدي</a:t>
            </a:r>
            <a:endParaRPr/>
          </a:p>
        </p:txBody>
      </p:sp>
      <p:sp>
        <p:nvSpPr>
          <p:cNvPr id="744" name="Google Shape;744;g3fa608e3085_0_0"/>
          <p:cNvSpPr txBox="1"/>
          <p:nvPr>
            <p:ph idx="2" type="body"/>
          </p:nvPr>
        </p:nvSpPr>
        <p:spPr>
          <a:xfrm>
            <a:off x="1409700" y="2324100"/>
            <a:ext cx="15430500" cy="685800"/>
          </a:xfrm>
          <a:prstGeom prst="rect">
            <a:avLst/>
          </a:prstGeom>
          <a:noFill/>
          <a:ln>
            <a:noFill/>
          </a:ln>
        </p:spPr>
        <p:txBody>
          <a:bodyPr anchorCtr="0" anchor="ctr"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الأعلى أفضل في الكشف، والأقل أفضل في الإنذارات الكاذبة</a:t>
            </a:r>
            <a:endParaRPr/>
          </a:p>
        </p:txBody>
      </p:sp>
      <p:sp>
        <p:nvSpPr>
          <p:cNvPr id="745" name="Google Shape;745;g3fa608e3085_0_0"/>
          <p:cNvSpPr txBox="1"/>
          <p:nvPr>
            <p:ph idx="12" type="sldNum"/>
          </p:nvPr>
        </p:nvSpPr>
        <p:spPr>
          <a:xfrm>
            <a:off x="1066800" y="9467850"/>
            <a:ext cx="952500" cy="4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746" name="Google Shape;746;g3fa608e3085_0_0"/>
          <p:cNvSpPr txBox="1"/>
          <p:nvPr>
            <p:ph idx="3" type="body"/>
          </p:nvPr>
        </p:nvSpPr>
        <p:spPr>
          <a:xfrm>
            <a:off x="2095500" y="8905875"/>
            <a:ext cx="141921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CBCFE6"/>
                </a:solidFill>
                <a:latin typeface="Readex Pro"/>
                <a:ea typeface="Readex Pro"/>
                <a:cs typeface="Readex Pro"/>
                <a:sym typeface="Readex Pro"/>
              </a:rPr>
              <a:t>النسبة المئوية · eval/results.md، الكود النهائي 5 أكتوبر 2026، 47 حالة اصطناعية</a:t>
            </a:r>
            <a:endParaRPr/>
          </a:p>
        </p:txBody>
      </p:sp>
      <p:sp>
        <p:nvSpPr>
          <p:cNvPr id="747" name="Google Shape;747;g3fa608e3085_0_0"/>
          <p:cNvSpPr txBox="1"/>
          <p:nvPr/>
        </p:nvSpPr>
        <p:spPr>
          <a:xfrm>
            <a:off x="10380000" y="8033292"/>
            <a:ext cx="3673200" cy="490752"/>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كشف التغيّر المزروع</a:t>
            </a:r>
            <a:endParaRPr sz="1451">
              <a:solidFill>
                <a:srgbClr val="FFFFFF"/>
              </a:solidFill>
              <a:latin typeface="Readex Pro SemiBold"/>
              <a:ea typeface="Readex Pro SemiBold"/>
              <a:cs typeface="Readex Pro SemiBold"/>
              <a:sym typeface="Readex Pro SemiBold"/>
            </a:endParaRPr>
          </a:p>
        </p:txBody>
      </p:sp>
      <p:sp>
        <p:nvSpPr>
          <p:cNvPr id="990" name="Google Shape;747;g3fa608e3085_0_0"/>
          <p:cNvSpPr txBox="1"/>
          <p:nvPr/>
        </p:nvSpPr>
        <p:spPr>
          <a:xfrm>
            <a:off x="4980000" y="8033292"/>
            <a:ext cx="3673200" cy="490752"/>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إنذارات كاذبة على السليم</a:t>
            </a:r>
            <a:endParaRPr sz="1451">
              <a:solidFill>
                <a:srgbClr val="FFFFFF"/>
              </a:solidFill>
              <a:latin typeface="Readex Pro SemiBold"/>
              <a:ea typeface="Readex Pro SemiBold"/>
              <a:cs typeface="Readex Pro SemiBold"/>
              <a:sym typeface="Readex Pro SemiBold"/>
            </a:endParaRPr>
          </a:p>
        </p:txBody>
      </p:sp>
      <p:grpSp>
        <p:nvGrpSpPr>
          <p:cNvPr id="748" name="Google Shape;748;g3fa608e3085_0_0"/>
          <p:cNvGrpSpPr/>
          <p:nvPr/>
        </p:nvGrpSpPr>
        <p:grpSpPr>
          <a:xfrm>
            <a:off x="4980000" y="3991768"/>
            <a:ext cx="1723200" cy="3877231"/>
            <a:chOff x="4980000" y="3991768"/>
            <a:chExt cx="1723200" cy="3877231"/>
          </a:xfrm>
        </p:grpSpPr>
        <p:grpSp>
          <p:nvGrpSpPr>
            <p:cNvPr id="749" name="Google Shape;749;g3fa608e3085_0_0"/>
            <p:cNvGrpSpPr/>
            <p:nvPr/>
          </p:nvGrpSpPr>
          <p:grpSpPr>
            <a:xfrm>
              <a:off x="4980000" y="4425717"/>
              <a:ext cx="1723200" cy="3443282"/>
              <a:chOff x="7838420" y="3212056"/>
              <a:chExt cx="144600" cy="722523"/>
            </a:xfrm>
          </p:grpSpPr>
          <p:sp>
            <p:nvSpPr>
              <p:cNvPr id="750" name="Google Shape;750;g3fa608e3085_0_0"/>
              <p:cNvSpPr/>
              <p:nvPr/>
            </p:nvSpPr>
            <p:spPr>
              <a:xfrm>
                <a:off x="7838420" y="3212056"/>
                <a:ext cx="144600" cy="722400"/>
              </a:xfrm>
              <a:prstGeom prst="roundRect">
                <a:avLst>
                  <a:gd fmla="val 16667" name="adj"/>
                </a:avLst>
              </a:prstGeom>
              <a:solidFill>
                <a:srgbClr val="DCD7FA"/>
              </a:solidFill>
              <a:ln>
                <a:noFill/>
              </a:ln>
            </p:spPr>
            <p:txBody>
              <a:bodyPr anchorCtr="0" anchor="ctr" bIns="132700" lIns="132700" spcFirstLastPara="1" rIns="132700" wrap="square" tIns="132700">
                <a:noAutofit/>
              </a:bodyPr>
              <a:lstStyle/>
              <a:p>
                <a:pPr indent="0" lvl="0" marL="0" rtl="0" algn="ctr">
                  <a:spcBef>
                    <a:spcPts val="0"/>
                  </a:spcBef>
                  <a:spcAft>
                    <a:spcPts val="0"/>
                  </a:spcAft>
                  <a:buNone/>
                </a:pPr>
                <a:r>
                  <a:t/>
                </a:r>
                <a:endParaRPr sz="2032">
                  <a:solidFill>
                    <a:srgbClr val="000000"/>
                  </a:solidFill>
                  <a:latin typeface="Readex Pro"/>
                  <a:ea typeface="Readex Pro"/>
                  <a:cs typeface="Readex Pro"/>
                  <a:sym typeface="Readex Pro"/>
                </a:endParaRPr>
              </a:p>
            </p:txBody>
          </p:sp>
          <p:sp>
            <p:nvSpPr>
              <p:cNvPr id="751" name="Google Shape;751;g3fa608e3085_0_0"/>
              <p:cNvSpPr txBox="1"/>
              <p:nvPr/>
            </p:nvSpPr>
            <p:spPr>
              <a:xfrm>
                <a:off x="7838420" y="3596479"/>
                <a:ext cx="144600" cy="338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161">
                    <a:latin typeface="Readex Pro"/>
                    <a:ea typeface="Readex Pro"/>
                    <a:cs typeface="Readex Pro"/>
                    <a:sym typeface="Readex Pro"/>
                  </a:rPr>
                  <a:t>chrF</a:t>
                </a:r>
                <a:endParaRPr sz="1161">
                  <a:latin typeface="Readex Pro"/>
                  <a:ea typeface="Readex Pro"/>
                  <a:cs typeface="Readex Pro"/>
                  <a:sym typeface="Readex Pro"/>
                </a:endParaRPr>
              </a:p>
            </p:txBody>
          </p:sp>
        </p:grpSp>
        <p:sp>
          <p:nvSpPr>
            <p:cNvPr id="752" name="Google Shape;752;g3fa608e3085_0_0"/>
            <p:cNvSpPr txBox="1"/>
            <p:nvPr/>
          </p:nvSpPr>
          <p:spPr>
            <a:xfrm>
              <a:off x="4980000" y="3991768"/>
              <a:ext cx="1723200" cy="490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73</a:t>
              </a:r>
              <a:r>
                <a:rPr lang="ar-SA" sz="1451">
                  <a:solidFill>
                    <a:srgbClr val="FFFFFF"/>
                  </a:solidFill>
                  <a:latin typeface="Readex Pro SemiBold"/>
                  <a:ea typeface="Readex Pro SemiBold"/>
                  <a:cs typeface="Readex Pro SemiBold"/>
                  <a:sym typeface="Readex Pro SemiBold"/>
                </a:rPr>
                <a:t>%</a:t>
              </a:r>
              <a:endParaRPr sz="1451">
                <a:solidFill>
                  <a:srgbClr val="FFFFFF"/>
                </a:solidFill>
                <a:latin typeface="Readex Pro SemiBold"/>
                <a:ea typeface="Readex Pro SemiBold"/>
                <a:cs typeface="Readex Pro SemiBold"/>
                <a:sym typeface="Readex Pro SemiBold"/>
              </a:endParaRPr>
            </a:p>
          </p:txBody>
        </p:sp>
      </p:grpSp>
      <p:grpSp>
        <p:nvGrpSpPr>
          <p:cNvPr id="758" name="Google Shape;758;g3fa608e3085_0_0"/>
          <p:cNvGrpSpPr/>
          <p:nvPr/>
        </p:nvGrpSpPr>
        <p:grpSpPr>
          <a:xfrm>
            <a:off x="6930000" y="6491686"/>
            <a:ext cx="1723200" cy="1377314"/>
            <a:chOff x="6930000" y="6491686"/>
            <a:chExt cx="1723200" cy="1377314"/>
          </a:xfrm>
        </p:grpSpPr>
        <p:grpSp>
          <p:nvGrpSpPr>
            <p:cNvPr id="759" name="Google Shape;759;g3fa608e3085_0_0"/>
            <p:cNvGrpSpPr/>
            <p:nvPr/>
          </p:nvGrpSpPr>
          <p:grpSpPr>
            <a:xfrm>
              <a:off x="6930000" y="6925635"/>
              <a:ext cx="1723200" cy="943365"/>
              <a:chOff x="7838420" y="2974225"/>
              <a:chExt cx="144600" cy="960629"/>
            </a:xfrm>
          </p:grpSpPr>
          <p:sp>
            <p:nvSpPr>
              <p:cNvPr id="760" name="Google Shape;760;g3fa608e3085_0_0"/>
              <p:cNvSpPr/>
              <p:nvPr/>
            </p:nvSpPr>
            <p:spPr>
              <a:xfrm>
                <a:off x="7838420" y="2974225"/>
                <a:ext cx="144600" cy="960300"/>
              </a:xfrm>
              <a:prstGeom prst="roundRect">
                <a:avLst>
                  <a:gd fmla="val 16667" name="adj"/>
                </a:avLst>
              </a:prstGeom>
              <a:solidFill>
                <a:srgbClr val="2EF2C2"/>
              </a:solidFill>
              <a:ln>
                <a:noFill/>
              </a:ln>
            </p:spPr>
            <p:txBody>
              <a:bodyPr anchorCtr="0" anchor="ctr" bIns="132700" lIns="132700" spcFirstLastPara="1" rIns="132700" wrap="square" tIns="132700">
                <a:noAutofit/>
              </a:bodyPr>
              <a:lstStyle/>
              <a:p>
                <a:pPr indent="0" lvl="0" marL="0" rtl="0" algn="ctr">
                  <a:spcBef>
                    <a:spcPts val="0"/>
                  </a:spcBef>
                  <a:spcAft>
                    <a:spcPts val="0"/>
                  </a:spcAft>
                  <a:buNone/>
                </a:pPr>
                <a:r>
                  <a:t/>
                </a:r>
                <a:endParaRPr sz="2032">
                  <a:solidFill>
                    <a:srgbClr val="000000"/>
                  </a:solidFill>
                  <a:latin typeface="Readex Pro"/>
                  <a:ea typeface="Readex Pro"/>
                  <a:cs typeface="Readex Pro"/>
                  <a:sym typeface="Readex Pro"/>
                </a:endParaRPr>
              </a:p>
            </p:txBody>
          </p:sp>
          <p:sp>
            <p:nvSpPr>
              <p:cNvPr id="761" name="Google Shape;761;g3fa608e3085_0_0"/>
              <p:cNvSpPr txBox="1"/>
              <p:nvPr/>
            </p:nvSpPr>
            <p:spPr>
              <a:xfrm>
                <a:off x="7838420" y="3764455"/>
                <a:ext cx="144600" cy="170400"/>
              </a:xfrm>
              <a:prstGeom prst="rect">
                <a:avLst/>
              </a:prstGeom>
              <a:noFill/>
              <a:ln>
                <a:noFill/>
              </a:ln>
            </p:spPr>
            <p:txBody>
              <a:bodyPr anchorCtr="0" anchor="ctr" bIns="0" lIns="0" spcFirstLastPara="1" rIns="0" wrap="square" tIns="0">
                <a:noAutofit/>
              </a:bodyPr>
              <a:lstStyle/>
              <a:p>
                <a:pPr indent="0" lvl="0" marL="0" rtl="1" algn="ctr">
                  <a:spcBef>
                    <a:spcPts val="0"/>
                  </a:spcBef>
                  <a:spcAft>
                    <a:spcPts val="0"/>
                  </a:spcAft>
                  <a:buNone/>
                </a:pPr>
                <a:r>
                  <a:rPr lang="ar-SA" sz="1161">
                    <a:latin typeface="Readex Pro"/>
                    <a:ea typeface="Readex Pro"/>
                    <a:cs typeface="Readex Pro"/>
                    <a:sym typeface="Readex Pro"/>
                  </a:rPr>
                  <a:t>مِرآة</a:t>
                </a:r>
                <a:endParaRPr sz="1161">
                  <a:solidFill>
                    <a:srgbClr val="000000"/>
                  </a:solidFill>
                  <a:latin typeface="Readex Pro"/>
                  <a:ea typeface="Readex Pro"/>
                  <a:cs typeface="Readex Pro"/>
                  <a:sym typeface="Readex Pro"/>
                </a:endParaRPr>
              </a:p>
            </p:txBody>
          </p:sp>
        </p:grpSp>
        <p:sp>
          <p:nvSpPr>
            <p:cNvPr id="762" name="Google Shape;762;g3fa608e3085_0_0"/>
            <p:cNvSpPr txBox="1"/>
            <p:nvPr/>
          </p:nvSpPr>
          <p:spPr>
            <a:xfrm>
              <a:off x="6930000" y="6491686"/>
              <a:ext cx="1723200" cy="490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20</a:t>
              </a:r>
              <a:r>
                <a:rPr lang="ar-SA" sz="1451">
                  <a:solidFill>
                    <a:srgbClr val="FFFFFF"/>
                  </a:solidFill>
                  <a:latin typeface="Readex Pro SemiBold"/>
                  <a:ea typeface="Readex Pro SemiBold"/>
                  <a:cs typeface="Readex Pro SemiBold"/>
                  <a:sym typeface="Readex Pro SemiBold"/>
                </a:rPr>
                <a:t>%</a:t>
              </a:r>
              <a:endParaRPr sz="1451">
                <a:solidFill>
                  <a:srgbClr val="FFFFFF"/>
                </a:solidFill>
                <a:latin typeface="Readex Pro SemiBold"/>
                <a:ea typeface="Readex Pro SemiBold"/>
                <a:cs typeface="Readex Pro SemiBold"/>
                <a:sym typeface="Readex Pro SemiBold"/>
              </a:endParaRPr>
            </a:p>
          </p:txBody>
        </p:sp>
      </p:grpSp>
      <p:grpSp>
        <p:nvGrpSpPr>
          <p:cNvPr id="763" name="Google Shape;763;g3fa608e3085_0_0"/>
          <p:cNvGrpSpPr/>
          <p:nvPr/>
        </p:nvGrpSpPr>
        <p:grpSpPr>
          <a:xfrm>
            <a:off x="12330000" y="2906899"/>
            <a:ext cx="1723200" cy="4962101"/>
            <a:chOff x="12330000" y="2906899"/>
            <a:chExt cx="1723200" cy="4962101"/>
          </a:xfrm>
        </p:grpSpPr>
        <p:grpSp>
          <p:nvGrpSpPr>
            <p:cNvPr id="764" name="Google Shape;764;g3fa608e3085_0_0"/>
            <p:cNvGrpSpPr/>
            <p:nvPr/>
          </p:nvGrpSpPr>
          <p:grpSpPr>
            <a:xfrm>
              <a:off x="12330000" y="3340848"/>
              <a:ext cx="1723200" cy="4528152"/>
              <a:chOff x="7838420" y="3043418"/>
              <a:chExt cx="144600" cy="891220"/>
            </a:xfrm>
          </p:grpSpPr>
          <p:sp>
            <p:nvSpPr>
              <p:cNvPr id="765" name="Google Shape;765;g3fa608e3085_0_0"/>
              <p:cNvSpPr/>
              <p:nvPr/>
            </p:nvSpPr>
            <p:spPr>
              <a:xfrm>
                <a:off x="7838420" y="3043418"/>
                <a:ext cx="144600" cy="891000"/>
              </a:xfrm>
              <a:prstGeom prst="roundRect">
                <a:avLst>
                  <a:gd fmla="val 16667" name="adj"/>
                </a:avLst>
              </a:prstGeom>
              <a:solidFill>
                <a:srgbClr val="2EF2C2"/>
              </a:solidFill>
              <a:ln>
                <a:noFill/>
              </a:ln>
            </p:spPr>
            <p:txBody>
              <a:bodyPr anchorCtr="0" anchor="ctr" bIns="132700" lIns="132700" spcFirstLastPara="1" rIns="132700" wrap="square" tIns="132700">
                <a:noAutofit/>
              </a:bodyPr>
              <a:lstStyle/>
              <a:p>
                <a:pPr indent="0" lvl="0" marL="0" rtl="0" algn="ctr">
                  <a:spcBef>
                    <a:spcPts val="0"/>
                  </a:spcBef>
                  <a:spcAft>
                    <a:spcPts val="0"/>
                  </a:spcAft>
                  <a:buNone/>
                </a:pPr>
                <a:r>
                  <a:t/>
                </a:r>
                <a:endParaRPr sz="2032">
                  <a:solidFill>
                    <a:srgbClr val="000000"/>
                  </a:solidFill>
                  <a:latin typeface="Readex Pro"/>
                  <a:ea typeface="Readex Pro"/>
                  <a:cs typeface="Readex Pro"/>
                  <a:sym typeface="Readex Pro"/>
                </a:endParaRPr>
              </a:p>
            </p:txBody>
          </p:sp>
          <p:sp>
            <p:nvSpPr>
              <p:cNvPr id="766" name="Google Shape;766;g3fa608e3085_0_0"/>
              <p:cNvSpPr txBox="1"/>
              <p:nvPr/>
            </p:nvSpPr>
            <p:spPr>
              <a:xfrm>
                <a:off x="7838420" y="3803838"/>
                <a:ext cx="144600" cy="130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161">
                    <a:latin typeface="Readex Pro"/>
                    <a:ea typeface="Readex Pro"/>
                    <a:cs typeface="Readex Pro"/>
                    <a:sym typeface="Readex Pro"/>
                  </a:rPr>
                  <a:t>مِرآة</a:t>
                </a:r>
                <a:endParaRPr sz="1161">
                  <a:latin typeface="Readex Pro"/>
                  <a:ea typeface="Readex Pro"/>
                  <a:cs typeface="Readex Pro"/>
                  <a:sym typeface="Readex Pro"/>
                </a:endParaRPr>
              </a:p>
            </p:txBody>
          </p:sp>
        </p:grpSp>
        <p:sp>
          <p:nvSpPr>
            <p:cNvPr id="767" name="Google Shape;767;g3fa608e3085_0_0"/>
            <p:cNvSpPr txBox="1"/>
            <p:nvPr/>
          </p:nvSpPr>
          <p:spPr>
            <a:xfrm>
              <a:off x="12330000" y="2906899"/>
              <a:ext cx="1723200" cy="490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96</a:t>
              </a:r>
              <a:r>
                <a:rPr lang="ar-SA" sz="1451">
                  <a:solidFill>
                    <a:srgbClr val="FFFFFF"/>
                  </a:solidFill>
                  <a:latin typeface="Readex Pro SemiBold"/>
                  <a:ea typeface="Readex Pro SemiBold"/>
                  <a:cs typeface="Readex Pro SemiBold"/>
                  <a:sym typeface="Readex Pro SemiBold"/>
                </a:rPr>
                <a:t>%</a:t>
              </a:r>
              <a:endParaRPr sz="1451">
                <a:solidFill>
                  <a:srgbClr val="FFFFFF"/>
                </a:solidFill>
                <a:latin typeface="Readex Pro SemiBold"/>
                <a:ea typeface="Readex Pro SemiBold"/>
                <a:cs typeface="Readex Pro SemiBold"/>
                <a:sym typeface="Readex Pro SemiBold"/>
              </a:endParaRPr>
            </a:p>
          </p:txBody>
        </p:sp>
      </p:grpSp>
      <p:grpSp>
        <p:nvGrpSpPr>
          <p:cNvPr id="768" name="Google Shape;768;g3fa608e3085_0_0"/>
          <p:cNvGrpSpPr/>
          <p:nvPr/>
        </p:nvGrpSpPr>
        <p:grpSpPr>
          <a:xfrm>
            <a:off x="10380000" y="6774695"/>
            <a:ext cx="1723200" cy="1094304"/>
            <a:chOff x="10380000" y="6774695"/>
            <a:chExt cx="1723200" cy="1094304"/>
          </a:xfrm>
        </p:grpSpPr>
        <p:grpSp>
          <p:nvGrpSpPr>
            <p:cNvPr id="769" name="Google Shape;769;g3fa608e3085_0_0"/>
            <p:cNvGrpSpPr/>
            <p:nvPr/>
          </p:nvGrpSpPr>
          <p:grpSpPr>
            <a:xfrm>
              <a:off x="10380000" y="7208644"/>
              <a:ext cx="1723200" cy="660355"/>
              <a:chOff x="7838420" y="2513618"/>
              <a:chExt cx="144600" cy="1420961"/>
            </a:xfrm>
          </p:grpSpPr>
          <p:sp>
            <p:nvSpPr>
              <p:cNvPr id="770" name="Google Shape;770;g3fa608e3085_0_0"/>
              <p:cNvSpPr/>
              <p:nvPr/>
            </p:nvSpPr>
            <p:spPr>
              <a:xfrm>
                <a:off x="7838420" y="2513618"/>
                <a:ext cx="144600" cy="1420800"/>
              </a:xfrm>
              <a:prstGeom prst="roundRect">
                <a:avLst>
                  <a:gd fmla="val 16667" name="adj"/>
                </a:avLst>
              </a:prstGeom>
              <a:solidFill>
                <a:srgbClr val="DCD7FA"/>
              </a:solidFill>
              <a:ln>
                <a:noFill/>
              </a:ln>
            </p:spPr>
            <p:txBody>
              <a:bodyPr anchorCtr="0" anchor="ctr" bIns="132700" lIns="132700" spcFirstLastPara="1" rIns="132700" wrap="square" tIns="132700">
                <a:noAutofit/>
              </a:bodyPr>
              <a:lstStyle/>
              <a:p>
                <a:pPr indent="0" lvl="0" marL="0" rtl="0" algn="ctr">
                  <a:spcBef>
                    <a:spcPts val="0"/>
                  </a:spcBef>
                  <a:spcAft>
                    <a:spcPts val="0"/>
                  </a:spcAft>
                  <a:buNone/>
                </a:pPr>
                <a:r>
                  <a:t/>
                </a:r>
                <a:endParaRPr sz="2032">
                  <a:solidFill>
                    <a:srgbClr val="000000"/>
                  </a:solidFill>
                  <a:latin typeface="Readex Pro"/>
                  <a:ea typeface="Readex Pro"/>
                  <a:cs typeface="Readex Pro"/>
                  <a:sym typeface="Readex Pro"/>
                </a:endParaRPr>
              </a:p>
            </p:txBody>
          </p:sp>
          <p:sp>
            <p:nvSpPr>
              <p:cNvPr id="771" name="Google Shape;771;g3fa608e3085_0_0"/>
              <p:cNvSpPr txBox="1"/>
              <p:nvPr/>
            </p:nvSpPr>
            <p:spPr>
              <a:xfrm>
                <a:off x="7838420" y="3596479"/>
                <a:ext cx="144600" cy="338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161">
                    <a:latin typeface="Readex Pro"/>
                    <a:ea typeface="Readex Pro"/>
                    <a:cs typeface="Readex Pro"/>
                    <a:sym typeface="Readex Pro"/>
                  </a:rPr>
                  <a:t>chrF</a:t>
                </a:r>
                <a:endParaRPr sz="1161">
                  <a:latin typeface="Readex Pro"/>
                  <a:ea typeface="Readex Pro"/>
                  <a:cs typeface="Readex Pro"/>
                  <a:sym typeface="Readex Pro"/>
                </a:endParaRPr>
              </a:p>
            </p:txBody>
          </p:sp>
        </p:grpSp>
        <p:sp>
          <p:nvSpPr>
            <p:cNvPr id="772" name="Google Shape;772;g3fa608e3085_0_0"/>
            <p:cNvSpPr txBox="1"/>
            <p:nvPr/>
          </p:nvSpPr>
          <p:spPr>
            <a:xfrm>
              <a:off x="10380000" y="6774695"/>
              <a:ext cx="1723200" cy="490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14</a:t>
              </a:r>
              <a:r>
                <a:rPr lang="ar-SA" sz="1451">
                  <a:solidFill>
                    <a:srgbClr val="FFFFFF"/>
                  </a:solidFill>
                  <a:latin typeface="Readex Pro SemiBold"/>
                  <a:ea typeface="Readex Pro SemiBold"/>
                  <a:cs typeface="Readex Pro SemiBold"/>
                  <a:sym typeface="Readex Pro SemiBold"/>
                </a:rPr>
                <a:t>%</a:t>
              </a:r>
              <a:endParaRPr sz="1451">
                <a:solidFill>
                  <a:srgbClr val="FFFFFF"/>
                </a:solidFill>
                <a:latin typeface="Readex Pro SemiBold"/>
                <a:ea typeface="Readex Pro SemiBold"/>
                <a:cs typeface="Readex Pro SemiBold"/>
                <a:sym typeface="Readex Pro SemiBold"/>
              </a:endParaRPr>
            </a:p>
          </p:txBody>
        </p:sp>
      </p:grpSp>
      <p:cxnSp>
        <p:nvCxnSpPr>
          <p:cNvPr id="773" name="Google Shape;773;g3fa608e3085_0_0"/>
          <p:cNvCxnSpPr/>
          <p:nvPr/>
        </p:nvCxnSpPr>
        <p:spPr>
          <a:xfrm flipH="1" rot="10800000">
            <a:off x="2011600" y="3016275"/>
            <a:ext cx="24000" cy="4866600"/>
          </a:xfrm>
          <a:prstGeom prst="straightConnector1">
            <a:avLst/>
          </a:prstGeom>
          <a:noFill/>
          <a:ln cap="flat" cmpd="sng" w="9525">
            <a:solidFill>
              <a:srgbClr val="FAF9FF"/>
            </a:solidFill>
            <a:prstDash val="solid"/>
            <a:round/>
            <a:headEnd len="med" w="med" type="diamond"/>
            <a:tailEnd len="med" w="med" type="triangle"/>
          </a:ln>
        </p:spPr>
      </p:cxnSp>
      <p:sp>
        <p:nvSpPr>
          <p:cNvPr id="774" name="Google Shape;774;g3fa608e3085_0_0"/>
          <p:cNvSpPr txBox="1"/>
          <p:nvPr/>
        </p:nvSpPr>
        <p:spPr>
          <a:xfrm>
            <a:off x="1427184" y="7687400"/>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0</a:t>
            </a:r>
            <a:endParaRPr sz="800">
              <a:solidFill>
                <a:srgbClr val="F2F4FF"/>
              </a:solidFill>
              <a:latin typeface="Readex Pro"/>
              <a:ea typeface="Readex Pro"/>
              <a:cs typeface="Readex Pro"/>
              <a:sym typeface="Readex Pro"/>
            </a:endParaRPr>
          </a:p>
        </p:txBody>
      </p:sp>
      <p:sp>
        <p:nvSpPr>
          <p:cNvPr id="775" name="Google Shape;775;g3fa608e3085_0_0"/>
          <p:cNvSpPr txBox="1"/>
          <p:nvPr/>
        </p:nvSpPr>
        <p:spPr>
          <a:xfrm>
            <a:off x="1427184" y="7216111"/>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10</a:t>
            </a:r>
            <a:endParaRPr sz="800">
              <a:solidFill>
                <a:srgbClr val="F2F4FF"/>
              </a:solidFill>
              <a:latin typeface="Readex Pro"/>
              <a:ea typeface="Readex Pro"/>
              <a:cs typeface="Readex Pro"/>
              <a:sym typeface="Readex Pro"/>
            </a:endParaRPr>
          </a:p>
        </p:txBody>
      </p:sp>
      <p:sp>
        <p:nvSpPr>
          <p:cNvPr id="776" name="Google Shape;776;g3fa608e3085_0_0"/>
          <p:cNvSpPr txBox="1"/>
          <p:nvPr/>
        </p:nvSpPr>
        <p:spPr>
          <a:xfrm>
            <a:off x="1427184" y="6744822"/>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20</a:t>
            </a:r>
            <a:endParaRPr sz="800">
              <a:solidFill>
                <a:srgbClr val="F2F4FF"/>
              </a:solidFill>
              <a:latin typeface="Readex Pro"/>
              <a:ea typeface="Readex Pro"/>
              <a:cs typeface="Readex Pro"/>
              <a:sym typeface="Readex Pro"/>
            </a:endParaRPr>
          </a:p>
        </p:txBody>
      </p:sp>
      <p:sp>
        <p:nvSpPr>
          <p:cNvPr id="777" name="Google Shape;777;g3fa608e3085_0_0"/>
          <p:cNvSpPr txBox="1"/>
          <p:nvPr/>
        </p:nvSpPr>
        <p:spPr>
          <a:xfrm>
            <a:off x="1427184" y="6273534"/>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30</a:t>
            </a:r>
            <a:endParaRPr sz="800">
              <a:solidFill>
                <a:srgbClr val="F2F4FF"/>
              </a:solidFill>
              <a:latin typeface="Readex Pro"/>
              <a:ea typeface="Readex Pro"/>
              <a:cs typeface="Readex Pro"/>
              <a:sym typeface="Readex Pro"/>
            </a:endParaRPr>
          </a:p>
        </p:txBody>
      </p:sp>
      <p:sp>
        <p:nvSpPr>
          <p:cNvPr id="778" name="Google Shape;778;g3fa608e3085_0_0"/>
          <p:cNvSpPr txBox="1"/>
          <p:nvPr/>
        </p:nvSpPr>
        <p:spPr>
          <a:xfrm>
            <a:off x="1427184" y="5802245"/>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40</a:t>
            </a:r>
            <a:endParaRPr sz="800">
              <a:solidFill>
                <a:srgbClr val="F2F4FF"/>
              </a:solidFill>
              <a:latin typeface="Readex Pro"/>
              <a:ea typeface="Readex Pro"/>
              <a:cs typeface="Readex Pro"/>
              <a:sym typeface="Readex Pro"/>
            </a:endParaRPr>
          </a:p>
        </p:txBody>
      </p:sp>
      <p:sp>
        <p:nvSpPr>
          <p:cNvPr id="779" name="Google Shape;779;g3fa608e3085_0_0"/>
          <p:cNvSpPr txBox="1"/>
          <p:nvPr/>
        </p:nvSpPr>
        <p:spPr>
          <a:xfrm>
            <a:off x="1427184" y="5330956"/>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50</a:t>
            </a:r>
            <a:endParaRPr sz="800">
              <a:solidFill>
                <a:srgbClr val="F2F4FF"/>
              </a:solidFill>
              <a:latin typeface="Readex Pro"/>
              <a:ea typeface="Readex Pro"/>
              <a:cs typeface="Readex Pro"/>
              <a:sym typeface="Readex Pro"/>
            </a:endParaRPr>
          </a:p>
        </p:txBody>
      </p:sp>
      <p:sp>
        <p:nvSpPr>
          <p:cNvPr id="780" name="Google Shape;780;g3fa608e3085_0_0"/>
          <p:cNvSpPr txBox="1"/>
          <p:nvPr/>
        </p:nvSpPr>
        <p:spPr>
          <a:xfrm>
            <a:off x="1427184" y="4859667"/>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60</a:t>
            </a:r>
            <a:endParaRPr sz="800">
              <a:solidFill>
                <a:srgbClr val="F2F4FF"/>
              </a:solidFill>
              <a:latin typeface="Readex Pro"/>
              <a:ea typeface="Readex Pro"/>
              <a:cs typeface="Readex Pro"/>
              <a:sym typeface="Readex Pro"/>
            </a:endParaRPr>
          </a:p>
        </p:txBody>
      </p:sp>
      <p:sp>
        <p:nvSpPr>
          <p:cNvPr id="781" name="Google Shape;781;g3fa608e3085_0_0"/>
          <p:cNvSpPr txBox="1"/>
          <p:nvPr/>
        </p:nvSpPr>
        <p:spPr>
          <a:xfrm>
            <a:off x="1427184" y="4388379"/>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70</a:t>
            </a:r>
            <a:endParaRPr sz="800">
              <a:solidFill>
                <a:srgbClr val="F2F4FF"/>
              </a:solidFill>
              <a:latin typeface="Readex Pro"/>
              <a:ea typeface="Readex Pro"/>
              <a:cs typeface="Readex Pro"/>
              <a:sym typeface="Readex Pro"/>
            </a:endParaRPr>
          </a:p>
        </p:txBody>
      </p:sp>
      <p:sp>
        <p:nvSpPr>
          <p:cNvPr id="782" name="Google Shape;782;g3fa608e3085_0_0"/>
          <p:cNvSpPr txBox="1"/>
          <p:nvPr/>
        </p:nvSpPr>
        <p:spPr>
          <a:xfrm>
            <a:off x="1427184" y="3917090"/>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80</a:t>
            </a:r>
            <a:endParaRPr sz="800">
              <a:solidFill>
                <a:srgbClr val="F2F4FF"/>
              </a:solidFill>
              <a:latin typeface="Readex Pro"/>
              <a:ea typeface="Readex Pro"/>
              <a:cs typeface="Readex Pro"/>
              <a:sym typeface="Readex Pro"/>
            </a:endParaRPr>
          </a:p>
        </p:txBody>
      </p:sp>
      <p:sp>
        <p:nvSpPr>
          <p:cNvPr id="783" name="Google Shape;783;g3fa608e3085_0_0"/>
          <p:cNvSpPr txBox="1"/>
          <p:nvPr/>
        </p:nvSpPr>
        <p:spPr>
          <a:xfrm>
            <a:off x="1427184" y="3445801"/>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90</a:t>
            </a:r>
            <a:endParaRPr sz="800">
              <a:solidFill>
                <a:srgbClr val="F2F4FF"/>
              </a:solidFill>
              <a:latin typeface="Readex Pro"/>
              <a:ea typeface="Readex Pro"/>
              <a:cs typeface="Readex Pro"/>
              <a:sym typeface="Readex Pro"/>
            </a:endParaRPr>
          </a:p>
        </p:txBody>
      </p:sp>
      <p:sp>
        <p:nvSpPr>
          <p:cNvPr id="784" name="Google Shape;784;g3fa608e3085_0_0"/>
          <p:cNvSpPr txBox="1"/>
          <p:nvPr/>
        </p:nvSpPr>
        <p:spPr>
          <a:xfrm>
            <a:off x="1372725" y="3025575"/>
            <a:ext cx="5148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100</a:t>
            </a:r>
            <a:endParaRPr sz="800">
              <a:solidFill>
                <a:srgbClr val="F2F4FF"/>
              </a:solidFill>
              <a:latin typeface="Readex Pro"/>
              <a:ea typeface="Readex Pro"/>
              <a:cs typeface="Readex Pro"/>
              <a:sym typeface="Readex Pro"/>
            </a:endParaRPr>
          </a:p>
        </p:txBody>
      </p:sp>
      <p:pic>
        <p:nvPicPr>
          <p:cNvPr id="785" name="Google Shape;785;g3fa608e3085_0_0"/>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cxnSp>
        <p:nvCxnSpPr>
          <p:cNvPr id="786" name="Google Shape;786;g3fa608e3085_0_0"/>
          <p:cNvCxnSpPr/>
          <p:nvPr/>
        </p:nvCxnSpPr>
        <p:spPr>
          <a:xfrm rot="10800000">
            <a:off x="2289875" y="7941775"/>
            <a:ext cx="14453700" cy="0"/>
          </a:xfrm>
          <a:prstGeom prst="straightConnector1">
            <a:avLst/>
          </a:prstGeom>
          <a:noFill/>
          <a:ln cap="flat" cmpd="sng" w="9525">
            <a:solidFill>
              <a:srgbClr val="8E99CC"/>
            </a:solidFill>
            <a:prstDash val="solid"/>
            <a:round/>
            <a:headEnd len="med" w="med" type="none"/>
            <a:tailEnd len="med" w="med"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pic>
        <p:nvPicPr>
          <p:cNvPr id="792" name="Google Shape;792;p23"/>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sp>
        <p:nvSpPr>
          <p:cNvPr id="793" name="Google Shape;793;p23"/>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النتائج</a:t>
            </a:r>
            <a:endParaRPr/>
          </a:p>
        </p:txBody>
      </p:sp>
      <p:sp>
        <p:nvSpPr>
          <p:cNvPr id="794" name="Google Shape;794;p23"/>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على ماذا اختُبرت مِرآة</a:t>
            </a:r>
            <a:endParaRPr/>
          </a:p>
        </p:txBody>
      </p:sp>
      <p:sp>
        <p:nvSpPr>
          <p:cNvPr id="795" name="Google Shape;795;p23"/>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حالات التقييم: تغيّر مزروع لقياس الكشف، وصياغات سليمة لقياس الإنذار الكاذب، وأقوال بلا مصدر لقياس الامتناع</a:t>
            </a:r>
            <a:endParaRPr/>
          </a:p>
        </p:txBody>
      </p:sp>
      <p:sp>
        <p:nvSpPr>
          <p:cNvPr id="796" name="Google Shape;796;p2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797" name="Google Shape;797;p23"/>
          <p:cNvSpPr txBox="1"/>
          <p:nvPr>
            <p:ph idx="3" type="body"/>
          </p:nvPr>
        </p:nvSpPr>
        <p:spPr>
          <a:xfrm>
            <a:off x="1409700" y="890587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CBCFE6"/>
                </a:solidFill>
                <a:latin typeface="Readex Pro"/>
                <a:ea typeface="Readex Pro"/>
                <a:cs typeface="Readex Pro"/>
                <a:sym typeface="Readex Pro"/>
              </a:rPr>
              <a:t>eval/results.md · data/eval/cases.jsonl</a:t>
            </a:r>
            <a:endParaRPr/>
          </a:p>
        </p:txBody>
      </p:sp>
      <p:grpSp>
        <p:nvGrpSpPr>
          <p:cNvPr id="798" name="Google Shape;798;p23"/>
          <p:cNvGrpSpPr/>
          <p:nvPr/>
        </p:nvGrpSpPr>
        <p:grpSpPr>
          <a:xfrm>
            <a:off x="6531752" y="3082259"/>
            <a:ext cx="5501766" cy="5503883"/>
            <a:chOff x="9818123" y="3876685"/>
            <a:chExt cx="3913341" cy="3914847"/>
          </a:xfrm>
        </p:grpSpPr>
        <p:grpSp>
          <p:nvGrpSpPr>
            <p:cNvPr id="799" name="Google Shape;799;p23"/>
            <p:cNvGrpSpPr/>
            <p:nvPr/>
          </p:nvGrpSpPr>
          <p:grpSpPr>
            <a:xfrm>
              <a:off x="9818123" y="3876685"/>
              <a:ext cx="3913341" cy="3914847"/>
              <a:chOff x="7227167" y="3027486"/>
              <a:chExt cx="1559100" cy="1559700"/>
            </a:xfrm>
          </p:grpSpPr>
          <p:sp>
            <p:nvSpPr>
              <p:cNvPr id="800" name="Google Shape;800;p23"/>
              <p:cNvSpPr/>
              <p:nvPr/>
            </p:nvSpPr>
            <p:spPr>
              <a:xfrm rot="2694635">
                <a:off x="7471537" y="3255980"/>
                <a:ext cx="1087390" cy="1087390"/>
              </a:xfrm>
              <a:prstGeom prst="ellipse">
                <a:avLst/>
              </a:prstGeom>
              <a:solidFill>
                <a:srgbClr val="6150EA"/>
              </a:solidFill>
              <a:ln>
                <a:noFill/>
              </a:ln>
            </p:spPr>
            <p:txBody>
              <a:bodyPr anchorCtr="0" anchor="ctr" bIns="399650" lIns="399650" spcFirstLastPara="1" rIns="399650" wrap="square" tIns="399650">
                <a:noAutofit/>
              </a:bodyPr>
              <a:lstStyle/>
              <a:p>
                <a:pPr indent="0" lvl="0" marL="0" rtl="0" algn="ctr">
                  <a:spcBef>
                    <a:spcPts val="0"/>
                  </a:spcBef>
                  <a:spcAft>
                    <a:spcPts val="0"/>
                  </a:spcAft>
                  <a:buNone/>
                </a:pPr>
                <a:r>
                  <a:t/>
                </a:r>
                <a:endParaRPr sz="6120">
                  <a:solidFill>
                    <a:srgbClr val="000000"/>
                  </a:solidFill>
                  <a:latin typeface="Urbanist"/>
                  <a:ea typeface="Urbanist"/>
                  <a:cs typeface="Urbanist"/>
                  <a:sym typeface="Urbanist"/>
                </a:endParaRPr>
              </a:p>
            </p:txBody>
          </p:sp>
          <p:sp>
            <p:nvSpPr>
              <p:cNvPr id="801" name="Google Shape;801;p23"/>
              <p:cNvSpPr/>
              <p:nvPr/>
            </p:nvSpPr>
            <p:spPr>
              <a:xfrm>
                <a:off x="7455575" y="3255975"/>
                <a:ext cx="1102500" cy="1102500"/>
              </a:xfrm>
              <a:prstGeom prst="pie">
                <a:avLst>
                  <a:gd fmla="val 17234042" name="adj1"/>
                  <a:gd fmla="val 2527659" name="adj2"/>
                </a:avLst>
              </a:prstGeom>
              <a:solidFill>
                <a:srgbClr val="2EF2C2"/>
              </a:solidFill>
              <a:ln>
                <a:noFill/>
              </a:ln>
            </p:spPr>
            <p:txBody>
              <a:bodyPr anchorCtr="0" anchor="ctr" bIns="399650" lIns="399650" spcFirstLastPara="1" rIns="399650" wrap="square" tIns="399650">
                <a:noAutofit/>
              </a:bodyPr>
              <a:lstStyle/>
              <a:p>
                <a:pPr indent="0" lvl="0" marL="0" rtl="0" algn="ctr">
                  <a:spcBef>
                    <a:spcPts val="0"/>
                  </a:spcBef>
                  <a:spcAft>
                    <a:spcPts val="0"/>
                  </a:spcAft>
                  <a:buNone/>
                </a:pPr>
                <a:r>
                  <a:t/>
                </a:r>
                <a:endParaRPr sz="6120">
                  <a:solidFill>
                    <a:srgbClr val="000000"/>
                  </a:solidFill>
                  <a:latin typeface="Urbanist"/>
                  <a:ea typeface="Urbanist"/>
                  <a:cs typeface="Urbanist"/>
                  <a:sym typeface="Urbanist"/>
                </a:endParaRPr>
              </a:p>
            </p:txBody>
          </p:sp>
          <p:sp>
            <p:nvSpPr>
              <p:cNvPr descr="A pie chart comparing sales across online stores, physical stores, and social media. " id="802" name="Google Shape;802;p23"/>
              <p:cNvSpPr/>
              <p:nvPr/>
            </p:nvSpPr>
            <p:spPr>
              <a:xfrm>
                <a:off x="7455386" y="3256005"/>
                <a:ext cx="1102662" cy="1102662"/>
              </a:xfrm>
              <a:prstGeom prst="pie">
                <a:avLst>
                  <a:gd fmla="val 2527659" name="adj1"/>
                  <a:gd fmla="val 4365957" name="adj2"/>
                </a:avLst>
              </a:prstGeom>
              <a:solidFill>
                <a:srgbClr val="4A90E2"/>
              </a:solidFill>
              <a:ln>
                <a:noFill/>
              </a:ln>
            </p:spPr>
            <p:txBody>
              <a:bodyPr anchorCtr="0" anchor="ctr" bIns="399650" lIns="399650" spcFirstLastPara="1" rIns="399650" wrap="square" tIns="399650">
                <a:noAutofit/>
              </a:bodyPr>
              <a:lstStyle/>
              <a:p>
                <a:pPr indent="0" lvl="0" marL="0" rtl="0" algn="ctr">
                  <a:spcBef>
                    <a:spcPts val="0"/>
                  </a:spcBef>
                  <a:spcAft>
                    <a:spcPts val="0"/>
                  </a:spcAft>
                  <a:buNone/>
                </a:pPr>
                <a:r>
                  <a:t/>
                </a:r>
                <a:endParaRPr sz="6120">
                  <a:solidFill>
                    <a:srgbClr val="000000"/>
                  </a:solidFill>
                  <a:latin typeface="Urbanist"/>
                  <a:ea typeface="Urbanist"/>
                  <a:cs typeface="Urbanist"/>
                  <a:sym typeface="Urbanist"/>
                </a:endParaRPr>
              </a:p>
            </p:txBody>
          </p:sp>
        </p:grpSp>
        <p:sp>
          <p:nvSpPr>
            <p:cNvPr id="803" name="Google Shape;803;p23"/>
            <p:cNvSpPr/>
            <p:nvPr/>
          </p:nvSpPr>
          <p:spPr>
            <a:xfrm>
              <a:off x="11022135" y="5060983"/>
              <a:ext cx="1546200" cy="1546200"/>
            </a:xfrm>
            <a:prstGeom prst="ellipse">
              <a:avLst/>
            </a:prstGeom>
            <a:solidFill>
              <a:srgbClr val="12183F"/>
            </a:solidFill>
            <a:ln cap="flat" cmpd="sng" w="13400">
              <a:solidFill>
                <a:schemeClr val="dk2"/>
              </a:solidFill>
              <a:prstDash val="solid"/>
              <a:round/>
              <a:headEnd len="sm" w="sm" type="none"/>
              <a:tailEnd len="sm" w="sm" type="none"/>
            </a:ln>
          </p:spPr>
          <p:txBody>
            <a:bodyPr anchorCtr="0" anchor="ctr" bIns="128525" lIns="128525" spcFirstLastPara="1" rIns="128525" wrap="square" tIns="128525">
              <a:noAutofit/>
            </a:bodyPr>
            <a:lstStyle/>
            <a:p>
              <a:pPr indent="0" lvl="0" marL="0" rtl="0" algn="ctr">
                <a:spcBef>
                  <a:spcPts val="0"/>
                </a:spcBef>
                <a:spcAft>
                  <a:spcPts val="0"/>
                </a:spcAft>
                <a:buNone/>
              </a:pPr>
              <a:r>
                <a:t/>
              </a:r>
              <a:endParaRPr sz="1968"/>
            </a:p>
          </p:txBody>
        </p:sp>
      </p:grpSp>
      <p:sp>
        <p:nvSpPr>
          <p:cNvPr id="804" name="Google Shape;804;p23"/>
          <p:cNvSpPr txBox="1"/>
          <p:nvPr/>
        </p:nvSpPr>
        <p:spPr>
          <a:xfrm>
            <a:off x="5810250" y="5630063"/>
            <a:ext cx="1285500" cy="4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60%</a:t>
            </a:r>
            <a:endParaRPr sz="1451">
              <a:solidFill>
                <a:schemeClr val="lt1"/>
              </a:solidFill>
              <a:latin typeface="Readex Pro SemiBold"/>
              <a:ea typeface="Readex Pro SemiBold"/>
              <a:cs typeface="Readex Pro SemiBold"/>
              <a:sym typeface="Readex Pro SemiBold"/>
            </a:endParaRPr>
          </a:p>
        </p:txBody>
      </p:sp>
      <p:sp>
        <p:nvSpPr>
          <p:cNvPr id="805" name="Google Shape;805;p23"/>
          <p:cNvSpPr txBox="1"/>
          <p:nvPr/>
        </p:nvSpPr>
        <p:spPr>
          <a:xfrm>
            <a:off x="5810250" y="6020575"/>
            <a:ext cx="1285500" cy="408000"/>
          </a:xfrm>
          <a:prstGeom prst="rect">
            <a:avLst/>
          </a:prstGeom>
          <a:noFill/>
          <a:ln>
            <a:noFill/>
          </a:ln>
        </p:spPr>
        <p:txBody>
          <a:bodyPr anchorCtr="0" anchor="t" bIns="91425" lIns="91425" spcFirstLastPara="1" rIns="91425" wrap="square" tIns="91425">
            <a:spAutoFit/>
          </a:bodyPr>
          <a:lstStyle/>
          <a:p>
            <a:pPr indent="0" lvl="0" marL="0" rtl="1"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تغيّر مزروع (28)</a:t>
            </a:r>
            <a:endParaRPr sz="1451">
              <a:solidFill>
                <a:schemeClr val="lt1"/>
              </a:solidFill>
              <a:latin typeface="Readex Pro SemiBold"/>
              <a:ea typeface="Readex Pro SemiBold"/>
              <a:cs typeface="Readex Pro SemiBold"/>
              <a:sym typeface="Readex Pro SemiBold"/>
            </a:endParaRPr>
          </a:p>
        </p:txBody>
      </p:sp>
      <p:sp>
        <p:nvSpPr>
          <p:cNvPr id="806" name="Google Shape;806;p23"/>
          <p:cNvSpPr txBox="1"/>
          <p:nvPr/>
        </p:nvSpPr>
        <p:spPr>
          <a:xfrm>
            <a:off x="11017250" y="3994938"/>
            <a:ext cx="1285500" cy="4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32%</a:t>
            </a:r>
            <a:endParaRPr sz="1451">
              <a:solidFill>
                <a:schemeClr val="lt1"/>
              </a:solidFill>
              <a:latin typeface="Readex Pro SemiBold"/>
              <a:ea typeface="Readex Pro SemiBold"/>
              <a:cs typeface="Readex Pro SemiBold"/>
              <a:sym typeface="Readex Pro SemiBold"/>
            </a:endParaRPr>
          </a:p>
        </p:txBody>
      </p:sp>
      <p:sp>
        <p:nvSpPr>
          <p:cNvPr id="807" name="Google Shape;807;p23"/>
          <p:cNvSpPr txBox="1"/>
          <p:nvPr/>
        </p:nvSpPr>
        <p:spPr>
          <a:xfrm>
            <a:off x="11017250" y="4385450"/>
            <a:ext cx="1285500" cy="408000"/>
          </a:xfrm>
          <a:prstGeom prst="rect">
            <a:avLst/>
          </a:prstGeom>
          <a:noFill/>
          <a:ln>
            <a:noFill/>
          </a:ln>
        </p:spPr>
        <p:txBody>
          <a:bodyPr anchorCtr="0" anchor="t" bIns="91425" lIns="91425" spcFirstLastPara="1" rIns="91425" wrap="square" tIns="91425">
            <a:spAutoFit/>
          </a:bodyPr>
          <a:lstStyle/>
          <a:p>
            <a:pPr indent="0" lvl="0" marL="0" rtl="1"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صياغة سليمة (15)</a:t>
            </a:r>
            <a:endParaRPr sz="1451">
              <a:solidFill>
                <a:schemeClr val="lt1"/>
              </a:solidFill>
              <a:latin typeface="Readex Pro SemiBold"/>
              <a:ea typeface="Readex Pro SemiBold"/>
              <a:cs typeface="Readex Pro SemiBold"/>
              <a:sym typeface="Readex Pro SemiBold"/>
            </a:endParaRPr>
          </a:p>
        </p:txBody>
      </p:sp>
      <p:sp>
        <p:nvSpPr>
          <p:cNvPr id="808" name="Google Shape;808;p23"/>
          <p:cNvSpPr txBox="1"/>
          <p:nvPr/>
        </p:nvSpPr>
        <p:spPr>
          <a:xfrm>
            <a:off x="11017250" y="6900063"/>
            <a:ext cx="1285500" cy="4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8%</a:t>
            </a:r>
            <a:endParaRPr sz="1451">
              <a:solidFill>
                <a:schemeClr val="lt1"/>
              </a:solidFill>
              <a:latin typeface="Readex Pro SemiBold"/>
              <a:ea typeface="Readex Pro SemiBold"/>
              <a:cs typeface="Readex Pro SemiBold"/>
              <a:sym typeface="Readex Pro SemiBold"/>
            </a:endParaRPr>
          </a:p>
        </p:txBody>
      </p:sp>
      <p:sp>
        <p:nvSpPr>
          <p:cNvPr id="809" name="Google Shape;809;p23"/>
          <p:cNvSpPr txBox="1"/>
          <p:nvPr/>
        </p:nvSpPr>
        <p:spPr>
          <a:xfrm>
            <a:off x="11017250" y="7290575"/>
            <a:ext cx="1285500" cy="408000"/>
          </a:xfrm>
          <a:prstGeom prst="rect">
            <a:avLst/>
          </a:prstGeom>
          <a:noFill/>
          <a:ln>
            <a:noFill/>
          </a:ln>
        </p:spPr>
        <p:txBody>
          <a:bodyPr anchorCtr="0" anchor="t" bIns="91425" lIns="91425" spcFirstLastPara="1" rIns="91425" wrap="square" tIns="91425">
            <a:spAutoFit/>
          </a:bodyPr>
          <a:lstStyle/>
          <a:p>
            <a:pPr indent="0" lvl="0" marL="0" rtl="1"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امتناع (4)</a:t>
            </a:r>
            <a:endParaRPr sz="1451">
              <a:solidFill>
                <a:schemeClr val="lt1"/>
              </a:solidFill>
              <a:latin typeface="Readex Pro SemiBold"/>
              <a:ea typeface="Readex Pro SemiBold"/>
              <a:cs typeface="Readex Pro SemiBold"/>
              <a:sym typeface="Readex Pro SemiBold"/>
            </a:endParaRPr>
          </a:p>
        </p:txBody>
      </p:sp>
      <p:sp>
        <p:nvSpPr>
          <p:cNvPr id="810" name="Google Shape;810;p23"/>
          <p:cNvSpPr txBox="1"/>
          <p:nvPr/>
        </p:nvSpPr>
        <p:spPr>
          <a:xfrm>
            <a:off x="1790508" y="8033292"/>
            <a:ext cx="14685600" cy="490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47 حالة اصطناعية</a:t>
            </a:r>
            <a:endParaRPr sz="1451">
              <a:solidFill>
                <a:srgbClr val="FFFFFF"/>
              </a:solidFill>
              <a:latin typeface="Readex Pro SemiBold"/>
              <a:ea typeface="Readex Pro SemiBold"/>
              <a:cs typeface="Readex Pro SemiBold"/>
              <a:sym typeface="Readex Pro SemiBold"/>
            </a:endParaRPr>
          </a:p>
        </p:txBody>
      </p:sp>
      <p:pic>
        <p:nvPicPr>
          <p:cNvPr id="811" name="Google Shape;811;p23"/>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25" name="Shape 525"/>
        <p:cNvGrpSpPr/>
        <p:nvPr/>
      </p:nvGrpSpPr>
      <p:grpSpPr>
        <a:xfrm>
          <a:off x="0" y="0"/>
          <a:ext cx="0" cy="0"/>
          <a:chOff x="0" y="0"/>
          <a:chExt cx="0" cy="0"/>
        </a:xfrm>
      </p:grpSpPr>
      <p:pic>
        <p:nvPicPr>
          <p:cNvPr id="526" name="Google Shape;526;p10"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527" name="Google Shape;527;p10"/>
          <p:cNvSpPr txBox="1"/>
          <p:nvPr>
            <p:ph idx="1" type="body"/>
          </p:nvPr>
        </p:nvSpPr>
        <p:spPr>
          <a:xfrm>
            <a:off x="13125450" y="3143250"/>
            <a:ext cx="3619500" cy="12384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8400"/>
              <a:buNone/>
            </a:pPr>
            <a:r>
              <a:rPr b="1" lang="ar-SA" sz="8400">
                <a:solidFill>
                  <a:srgbClr val="2EF2C2"/>
                </a:solidFill>
                <a:latin typeface="Readex Pro"/>
                <a:ea typeface="Readex Pro"/>
                <a:cs typeface="Readex Pro"/>
                <a:sym typeface="Readex Pro"/>
              </a:rPr>
              <a:t>04</a:t>
            </a:r>
            <a:endParaRPr/>
          </a:p>
        </p:txBody>
      </p:sp>
      <p:sp>
        <p:nvSpPr>
          <p:cNvPr id="528" name="Google Shape;528;p10"/>
          <p:cNvSpPr txBox="1"/>
          <p:nvPr>
            <p:ph type="title"/>
          </p:nvPr>
        </p:nvSpPr>
        <p:spPr>
          <a:xfrm>
            <a:off x="9179000" y="4810125"/>
            <a:ext cx="7566000" cy="1238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6000"/>
              <a:buNone/>
            </a:pPr>
            <a:r>
              <a:rPr b="1" lang="ar-SA" sz="6000">
                <a:solidFill>
                  <a:srgbClr val="F2F4FF"/>
                </a:solidFill>
                <a:latin typeface="Readex Pro"/>
                <a:ea typeface="Readex Pro"/>
                <a:cs typeface="Readex Pro"/>
                <a:sym typeface="Readex Pro"/>
              </a:rPr>
              <a:t>القيمة والموثوقية</a:t>
            </a:r>
            <a:endParaRPr/>
          </a:p>
        </p:txBody>
      </p:sp>
      <p:sp>
        <p:nvSpPr>
          <p:cNvPr id="529" name="Google Shape;529;p10"/>
          <p:cNvSpPr txBox="1"/>
          <p:nvPr>
            <p:ph idx="2" type="body"/>
          </p:nvPr>
        </p:nvSpPr>
        <p:spPr>
          <a:xfrm>
            <a:off x="9729275" y="6572250"/>
            <a:ext cx="7015500" cy="675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0" lang="ar-SA" sz="2850">
                <a:solidFill>
                  <a:srgbClr val="CBCFE6"/>
                </a:solidFill>
                <a:latin typeface="Readex Pro"/>
                <a:ea typeface="Readex Pro"/>
                <a:cs typeface="Readex Pro"/>
                <a:sym typeface="Readex Pro"/>
              </a:rPr>
              <a:t>ما تضيفه مِرآة، والضوابط التي لا تتجاوزها</a:t>
            </a:r>
            <a:endParaRPr/>
          </a:p>
        </p:txBody>
      </p:sp>
      <p:pic>
        <p:nvPicPr>
          <p:cNvPr id="530" name="Google Shape;530;p10"/>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pic>
        <p:nvPicPr>
          <p:cNvPr id="881" name="Google Shape;881;p28"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82" name="Google Shape;882;p28"/>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83" name="Google Shape;883;p28"/>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القيمة المضافة</a:t>
            </a:r>
            <a:endParaRPr/>
          </a:p>
        </p:txBody>
      </p:sp>
      <p:sp>
        <p:nvSpPr>
          <p:cNvPr id="884" name="Google Shape;884;p28"/>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ما تضيفه مِرآة إلى الممارسة الحالية</a:t>
            </a:r>
            <a:endParaRPr/>
          </a:p>
        </p:txBody>
      </p:sp>
      <p:sp>
        <p:nvSpPr>
          <p:cNvPr id="885" name="Google Shape;885;p28"/>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أساس المقارنة: ماذا يرى المراجع قبل أن ينشر؟</a:t>
            </a:r>
            <a:endParaRPr/>
          </a:p>
        </p:txBody>
      </p:sp>
      <p:sp>
        <p:nvSpPr>
          <p:cNvPr id="886" name="Google Shape;886;p2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887" name="Google Shape;887;p28"/>
          <p:cNvSpPr txBox="1"/>
          <p:nvPr>
            <p:ph idx="3" type="body"/>
          </p:nvPr>
        </p:nvSpPr>
        <p:spPr>
          <a:xfrm>
            <a:off x="9696450" y="3857625"/>
            <a:ext cx="7143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مِرآة</a:t>
            </a:r>
            <a:endParaRPr/>
          </a:p>
        </p:txBody>
      </p:sp>
      <p:sp>
        <p:nvSpPr>
          <p:cNvPr id="888" name="Google Shape;888;p28"/>
          <p:cNvSpPr txBox="1"/>
          <p:nvPr>
            <p:ph idx="4" type="body"/>
          </p:nvPr>
        </p:nvSpPr>
        <p:spPr>
          <a:xfrm>
            <a:off x="9696450" y="4562475"/>
            <a:ext cx="7143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سجلّ لأثر المعنى عبر السلسلة كلها</a:t>
            </a:r>
            <a:endParaRPr/>
          </a:p>
        </p:txBody>
      </p:sp>
      <p:sp>
        <p:nvSpPr>
          <p:cNvPr id="889" name="Google Shape;889;p28"/>
          <p:cNvSpPr txBox="1"/>
          <p:nvPr>
            <p:ph idx="5" type="body"/>
          </p:nvPr>
        </p:nvSpPr>
        <p:spPr>
          <a:xfrm>
            <a:off x="1409700" y="3857625"/>
            <a:ext cx="7143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الممارسة الحالية</a:t>
            </a:r>
            <a:endParaRPr/>
          </a:p>
        </p:txBody>
      </p:sp>
      <p:sp>
        <p:nvSpPr>
          <p:cNvPr id="890" name="Google Shape;890;p28"/>
          <p:cNvSpPr txBox="1"/>
          <p:nvPr>
            <p:ph idx="6" type="body"/>
          </p:nvPr>
        </p:nvSpPr>
        <p:spPr>
          <a:xfrm>
            <a:off x="1409700" y="4562475"/>
            <a:ext cx="7143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ترجمة نهائية من أداة أو مترجم</a:t>
            </a:r>
            <a:endParaRPr/>
          </a:p>
        </p:txBody>
      </p:sp>
      <p:sp>
        <p:nvSpPr>
          <p:cNvPr id="891" name="Google Shape;891;p28"/>
          <p:cNvSpPr txBox="1"/>
          <p:nvPr>
            <p:ph idx="7" type="body"/>
          </p:nvPr>
        </p:nvSpPr>
        <p:spPr>
          <a:xfrm>
            <a:off x="9696450" y="5905500"/>
            <a:ext cx="7143900" cy="2952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الميزة: ما تغيّر، وأين، وفي أي حلقة، ولماذا يهم</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القيد: تحتاج مدونة مصادر تتسع</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تناسب: المترجم والجهة قبل النشر</a:t>
            </a:r>
            <a:endParaRPr/>
          </a:p>
        </p:txBody>
      </p:sp>
      <p:sp>
        <p:nvSpPr>
          <p:cNvPr id="892" name="Google Shape;892;p28"/>
          <p:cNvSpPr txBox="1"/>
          <p:nvPr>
            <p:ph idx="8" type="body"/>
          </p:nvPr>
        </p:nvSpPr>
        <p:spPr>
          <a:xfrm>
            <a:off x="1409700" y="5905500"/>
            <a:ext cx="7143900" cy="2952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الميزة: سريعة ومألوفة</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القيد: حكم واحد على «جودة الترجمة»، ولا يظهر أين تغيّر المعنى</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تناسب: النصوص غير الحساسة</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pic>
        <p:nvPicPr>
          <p:cNvPr id="709" name="Google Shape;709;p2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710" name="Google Shape;710;p20"/>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6150EA"/>
                </a:solidFill>
                <a:latin typeface="Readex Pro"/>
                <a:ea typeface="Readex Pro"/>
                <a:cs typeface="Readex Pro"/>
                <a:sym typeface="Readex Pro"/>
              </a:rPr>
              <a:t>الموثوقية</a:t>
            </a:r>
            <a:endParaRPr/>
          </a:p>
        </p:txBody>
      </p:sp>
      <p:sp>
        <p:nvSpPr>
          <p:cNvPr id="711" name="Google Shape;711;p20"/>
          <p:cNvSpPr txBox="1"/>
          <p:nvPr>
            <p:ph type="title"/>
          </p:nvPr>
        </p:nvSpPr>
        <p:spPr>
          <a:xfrm>
            <a:off x="6637950" y="1809750"/>
            <a:ext cx="102024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12183F"/>
                </a:solidFill>
                <a:latin typeface="Readex Pro"/>
                <a:ea typeface="Readex Pro"/>
                <a:cs typeface="Readex Pro"/>
                <a:sym typeface="Readex Pro"/>
              </a:rPr>
              <a:t>ضوابط ثابتة في كل خطوة</a:t>
            </a:r>
            <a:endParaRPr/>
          </a:p>
        </p:txBody>
      </p:sp>
      <p:sp>
        <p:nvSpPr>
          <p:cNvPr id="712" name="Google Shape;712;p20"/>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4A5590"/>
                </a:solidFill>
                <a:latin typeface="Readex Pro"/>
                <a:ea typeface="Readex Pro"/>
                <a:cs typeface="Readex Pro"/>
                <a:sym typeface="Readex Pro"/>
              </a:rPr>
              <a:t>الامتناع والإحالة جزء من التصميم، لا عطل</a:t>
            </a:r>
            <a:endParaRPr/>
          </a:p>
        </p:txBody>
      </p:sp>
      <p:sp>
        <p:nvSpPr>
          <p:cNvPr id="713" name="Google Shape;713;p2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sp>
        <p:nvSpPr>
          <p:cNvPr id="714" name="Google Shape;714;p20"/>
          <p:cNvSpPr txBox="1"/>
          <p:nvPr>
            <p:ph idx="3" type="body"/>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لا فتوى ولا ترجيح</a:t>
            </a:r>
            <a:endParaRPr/>
          </a:p>
        </p:txBody>
      </p:sp>
      <p:sp>
        <p:nvSpPr>
          <p:cNvPr id="715" name="Google Shape;715;p20"/>
          <p:cNvSpPr txBox="1"/>
          <p:nvPr>
            <p:ph idx="4" type="body"/>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مِرآة تقابل وتنبّه، والقرار للمراجع؛ والحالة الشخصية تُحال إلى مختص.</a:t>
            </a:r>
            <a:endParaRPr/>
          </a:p>
        </p:txBody>
      </p:sp>
      <p:sp>
        <p:nvSpPr>
          <p:cNvPr id="716" name="Google Shape;716;p20"/>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لا اختلاق للمصادر</a:t>
            </a:r>
            <a:endParaRPr/>
          </a:p>
        </p:txBody>
      </p:sp>
      <p:sp>
        <p:nvSpPr>
          <p:cNvPr id="717" name="Google Shape;717;p20"/>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ما ليس في المدونة: «لم نعثر على هذا النص في المصادر المعتمدة المتاحة لمِرآة».</a:t>
            </a:r>
            <a:endParaRPr/>
          </a:p>
        </p:txBody>
      </p:sp>
      <p:sp>
        <p:nvSpPr>
          <p:cNvPr id="718" name="Google Shape;718;p20"/>
          <p:cNvSpPr txBox="1"/>
          <p:nvPr>
            <p:ph idx="7" type="body"/>
          </p:nvPr>
        </p:nvSpPr>
        <p:spPr>
          <a:xfrm>
            <a:off x="9505950" y="6619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مصادر رسمية</a:t>
            </a:r>
            <a:endParaRPr/>
          </a:p>
        </p:txBody>
      </p:sp>
      <p:sp>
        <p:nvSpPr>
          <p:cNvPr id="719" name="Google Shape;719;p20"/>
          <p:cNvSpPr txBox="1"/>
          <p:nvPr>
            <p:ph idx="8" type="body"/>
          </p:nvPr>
        </p:nvSpPr>
        <p:spPr>
          <a:xfrm>
            <a:off x="9505950" y="7324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المصحف من مجمع الملك فهد، و3548 حديثاً بحكمها، والمذاهب الأربعة بكتبها من الدرر السنية.</a:t>
            </a:r>
            <a:endParaRPr/>
          </a:p>
        </p:txBody>
      </p:sp>
      <p:sp>
        <p:nvSpPr>
          <p:cNvPr id="720" name="Google Shape;720;p20"/>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الخصوصية</a:t>
            </a:r>
            <a:endParaRPr/>
          </a:p>
        </p:txBody>
      </p:sp>
      <p:sp>
        <p:nvSpPr>
          <p:cNvPr id="721" name="Google Shape;721;p20"/>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بيانات اصطناعية، ونص القارئ لا يُحفظ، وصورة الكاميرا لا تغادر المتصفح.</a:t>
            </a:r>
            <a:endParaRPr/>
          </a:p>
        </p:txBody>
      </p:sp>
      <p:pic>
        <p:nvPicPr>
          <p:cNvPr id="722" name="Google Shape;722;p2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25" name="Shape 525"/>
        <p:cNvGrpSpPr/>
        <p:nvPr/>
      </p:nvGrpSpPr>
      <p:grpSpPr>
        <a:xfrm>
          <a:off x="0" y="0"/>
          <a:ext cx="0" cy="0"/>
          <a:chOff x="0" y="0"/>
          <a:chExt cx="0" cy="0"/>
        </a:xfrm>
      </p:grpSpPr>
      <p:pic>
        <p:nvPicPr>
          <p:cNvPr id="526" name="Google Shape;526;p10"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527" name="Google Shape;527;p10"/>
          <p:cNvSpPr txBox="1"/>
          <p:nvPr>
            <p:ph idx="1" type="body"/>
          </p:nvPr>
        </p:nvSpPr>
        <p:spPr>
          <a:xfrm>
            <a:off x="13125450" y="3143250"/>
            <a:ext cx="3619500" cy="12384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8400"/>
              <a:buNone/>
            </a:pPr>
            <a:r>
              <a:rPr b="1" lang="ar-SA" sz="8400">
                <a:solidFill>
                  <a:srgbClr val="2EF2C2"/>
                </a:solidFill>
                <a:latin typeface="Readex Pro"/>
                <a:ea typeface="Readex Pro"/>
                <a:cs typeface="Readex Pro"/>
                <a:sym typeface="Readex Pro"/>
              </a:rPr>
              <a:t>05</a:t>
            </a:r>
            <a:endParaRPr/>
          </a:p>
        </p:txBody>
      </p:sp>
      <p:sp>
        <p:nvSpPr>
          <p:cNvPr id="528" name="Google Shape;528;p10"/>
          <p:cNvSpPr txBox="1"/>
          <p:nvPr>
            <p:ph type="title"/>
          </p:nvPr>
        </p:nvSpPr>
        <p:spPr>
          <a:xfrm>
            <a:off x="9179000" y="4810125"/>
            <a:ext cx="7566000" cy="1238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6000"/>
              <a:buNone/>
            </a:pPr>
            <a:r>
              <a:rPr b="1" lang="ar-SA" sz="6000">
                <a:solidFill>
                  <a:srgbClr val="F2F4FF"/>
                </a:solidFill>
                <a:latin typeface="Readex Pro"/>
                <a:ea typeface="Readex Pro"/>
                <a:cs typeface="Readex Pro"/>
                <a:sym typeface="Readex Pro"/>
              </a:rPr>
              <a:t>الاستمرار والفريق</a:t>
            </a:r>
            <a:endParaRPr/>
          </a:p>
        </p:txBody>
      </p:sp>
      <p:sp>
        <p:nvSpPr>
          <p:cNvPr id="529" name="Google Shape;529;p10"/>
          <p:cNvSpPr txBox="1"/>
          <p:nvPr>
            <p:ph idx="2" type="body"/>
          </p:nvPr>
        </p:nvSpPr>
        <p:spPr>
          <a:xfrm>
            <a:off x="9729275" y="6572250"/>
            <a:ext cx="7015500" cy="675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0" lang="ar-SA" sz="2850">
                <a:solidFill>
                  <a:srgbClr val="CBCFE6"/>
                </a:solidFill>
                <a:latin typeface="Readex Pro"/>
                <a:ea typeface="Readex Pro"/>
                <a:cs typeface="Readex Pro"/>
                <a:sym typeface="Readex Pro"/>
              </a:rPr>
              <a:t>ما أُنجز في أيام التحدي، وكيف يستمر المشروع</a:t>
            </a:r>
            <a:endParaRPr/>
          </a:p>
        </p:txBody>
      </p:sp>
      <p:pic>
        <p:nvPicPr>
          <p:cNvPr id="530" name="Google Shape;530;p10"/>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55" name="Shape 555"/>
        <p:cNvGrpSpPr/>
        <p:nvPr/>
      </p:nvGrpSpPr>
      <p:grpSpPr>
        <a:xfrm>
          <a:off x="0" y="0"/>
          <a:ext cx="0" cy="0"/>
          <a:chOff x="0" y="0"/>
          <a:chExt cx="0" cy="0"/>
        </a:xfrm>
      </p:grpSpPr>
      <p:pic>
        <p:nvPicPr>
          <p:cNvPr id="556" name="Google Shape;556;p12"/>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57" name="Google Shape;557;p12"/>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8" name="Google Shape;558;p12"/>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59" name="Google Shape;559;p12"/>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الاستمرار</a:t>
            </a:r>
            <a:endParaRPr/>
          </a:p>
        </p:txBody>
      </p:sp>
      <p:sp>
        <p:nvSpPr>
          <p:cNvPr id="560" name="Google Shape;560;p12"/>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ما أُنجز خلال أيام التحدي (4–6 أكتوبر)</a:t>
            </a:r>
            <a:endParaRPr/>
          </a:p>
        </p:txBody>
      </p:sp>
      <p:sp>
        <p:nvSpPr>
          <p:cNvPr id="561" name="Google Shape;561;p1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62" name="Google Shape;562;p12"/>
          <p:cNvSpPr txBox="1"/>
          <p:nvPr>
            <p:ph idx="2" type="body"/>
          </p:nvPr>
        </p:nvSpPr>
        <p:spPr>
          <a:xfrm>
            <a:off x="5886450" y="3604500"/>
            <a:ext cx="10953900" cy="2239800"/>
          </a:xfrm>
          <a:prstGeom prst="rect">
            <a:avLst/>
          </a:prstGeom>
          <a:noFill/>
          <a:ln>
            <a:noFill/>
          </a:ln>
        </p:spPr>
        <p:txBody>
          <a:bodyPr anchorCtr="0" anchor="t" bIns="0" lIns="0" spcFirstLastPara="1" rIns="0" wrap="square" tIns="0">
            <a:noAutofit/>
          </a:bodyPr>
          <a:lstStyle/>
          <a:p>
            <a:pPr indent="0" lvl="0" marL="0" rtl="1" algn="r">
              <a:lnSpc>
                <a:spcPct val="115000"/>
              </a:lnSpc>
              <a:spcBef>
                <a:spcPts val="0"/>
              </a:spcBef>
              <a:spcAft>
                <a:spcPts val="0"/>
              </a:spcAft>
              <a:buSzPts val="3225"/>
              <a:buNone/>
            </a:pPr>
            <a:r>
              <a:rPr lang="ar-SA" sz="3225">
                <a:solidFill>
                  <a:srgbClr val="F2F4FF"/>
                </a:solidFill>
                <a:latin typeface="Readex Pro Light"/>
                <a:ea typeface="Readex Pro Light"/>
                <a:cs typeface="Readex Pro Light"/>
                <a:sym typeface="Readex Pro Light"/>
              </a:rPr>
              <a:t>بُني محرك المقابلة قبل التحدي. وفي أيام التحدي أُضيفت المدونة الرسمية (المصحف كاملاً، و3548 حديثاً)، والمذاهب الأربعة مراجعَ في الميزان، وكشف رقم الآية الخاطئ، و«قابِل ذكرك»، و«ماذا تعلّمت اليوم؟»، وصفحة «مصادر مِرآة».</a:t>
            </a:r>
            <a:endParaRPr>
              <a:latin typeface="Readex Pro Light"/>
              <a:ea typeface="Readex Pro Light"/>
              <a:cs typeface="Readex Pro Light"/>
              <a:sym typeface="Readex Pro Light"/>
            </a:endParaRPr>
          </a:p>
        </p:txBody>
      </p:sp>
      <p:sp>
        <p:nvSpPr>
          <p:cNvPr id="563" name="Google Shape;563;p12"/>
          <p:cNvSpPr txBox="1"/>
          <p:nvPr>
            <p:ph idx="3" type="body"/>
          </p:nvPr>
        </p:nvSpPr>
        <p:spPr>
          <a:xfrm>
            <a:off x="5886450" y="7239000"/>
            <a:ext cx="10953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700"/>
              <a:buNone/>
            </a:pPr>
            <a:r>
              <a:rPr b="1" lang="ar-SA" sz="2700">
                <a:solidFill>
                  <a:srgbClr val="2EF2C2"/>
                </a:solidFill>
                <a:latin typeface="Readex Pro"/>
                <a:ea typeface="Readex Pro"/>
                <a:cs typeface="Readex Pro"/>
                <a:sym typeface="Readex Pro"/>
              </a:rPr>
              <a:t>كل خطوة موثّقة بتاريخها</a:t>
            </a:r>
            <a:endParaRPr/>
          </a:p>
        </p:txBody>
      </p:sp>
      <p:sp>
        <p:nvSpPr>
          <p:cNvPr id="564" name="Google Shape;564;p12"/>
          <p:cNvSpPr txBox="1"/>
          <p:nvPr>
            <p:ph idx="4" type="body"/>
          </p:nvPr>
        </p:nvSpPr>
        <p:spPr>
          <a:xfrm>
            <a:off x="5886450" y="8001000"/>
            <a:ext cx="10953900" cy="857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CHANGELOG.md وسجل git بتواريخه الحقيقية: ما قبل التحدي وما بعده مفصولان</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pic>
        <p:nvPicPr>
          <p:cNvPr id="728" name="Google Shape;728;p21"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729" name="Google Shape;729;p21"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730" name="Google Shape;730;p2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graphicFrame>
        <p:nvGraphicFramePr>
          <p:cNvPr id="731" name="Google Shape;731;p21"/>
          <p:cNvGraphicFramePr/>
          <p:nvPr/>
        </p:nvGraphicFramePr>
        <p:xfrm>
          <a:off x="1714500" y="3905250"/>
          <a:ext cx="15430500" cy="3360000"/>
        </p:xfrm>
        <a:graphic>
          <a:graphicData uri="http://schemas.openxmlformats.org/drawingml/2006/table">
            <a:tbl>
              <a:tblPr>
                <a:noFill/>
                <a:tableStyleId>{B8ED9858-D163-4338-9E88-1F424354888F}</a:tableStyleId>
              </a:tblPr>
              <a:tblGrid>
                <a:gridCol w="2286000"/>
                <a:gridCol w="2286000"/>
                <a:gridCol w="7143750"/>
                <a:gridCol w="3714750"/>
              </a:tblGrid>
              <a:tr h="560000">
                <a:tc>
                  <a:txBody>
                    <a:bodyPr/>
                    <a:lstStyle/>
                    <a:p>
                      <a:pPr indent="0" lvl="0" marL="0" marR="0" rtl="1" algn="r">
                        <a:lnSpc>
                          <a:spcPct val="100000"/>
                        </a:lnSpc>
                        <a:spcBef>
                          <a:spcPts val="0"/>
                        </a:spcBef>
                        <a:spcAft>
                          <a:spcPts val="0"/>
                        </a:spcAft>
                        <a:buClr>
                          <a:srgbClr val="000000"/>
                        </a:buClr>
                        <a:buSzPts val="2250"/>
                        <a:buFont typeface="Arial"/>
                        <a:buNone/>
                      </a:pPr>
                      <a:r>
                        <a:rPr b="1" lang="ar-SA" sz="1600" u="none" cap="none" strike="noStrike">
                          <a:solidFill>
                            <a:srgbClr val="6150EA"/>
                          </a:solidFill>
                          <a:latin typeface="Readex Pro"/>
                          <a:ea typeface="Readex Pro"/>
                          <a:cs typeface="Readex Pro"/>
                          <a:sym typeface="Readex Pro"/>
                        </a:rPr>
                        <a:t>الحالة</a:t>
                      </a:r>
                      <a:endParaRPr/>
                    </a:p>
                  </a:txBody>
                  <a:tcPr marT="60000" marB="60000"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1600" u="none" cap="none" strike="noStrike">
                          <a:solidFill>
                            <a:srgbClr val="6150EA"/>
                          </a:solidFill>
                          <a:latin typeface="Readex Pro"/>
                          <a:ea typeface="Readex Pro"/>
                          <a:cs typeface="Readex Pro"/>
                          <a:sym typeface="Readex Pro"/>
                        </a:rPr>
                        <a:t>الرقم</a:t>
                      </a:r>
                      <a:endParaRPr/>
                    </a:p>
                  </a:txBody>
                  <a:tcPr marT="60000" marB="60000"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1600" u="none" cap="none" strike="noStrike">
                          <a:solidFill>
                            <a:srgbClr val="6150EA"/>
                          </a:solidFill>
                          <a:latin typeface="Readex Pro"/>
                          <a:ea typeface="Readex Pro"/>
                          <a:cs typeface="Readex Pro"/>
                          <a:sym typeface="Readex Pro"/>
                        </a:rPr>
                        <a:t>التفاصيل</a:t>
                      </a:r>
                      <a:endParaRPr/>
                    </a:p>
                  </a:txBody>
                  <a:tcPr marT="60000" marB="60000"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1600" u="none" cap="none" strike="noStrike">
                          <a:solidFill>
                            <a:srgbClr val="6150EA"/>
                          </a:solidFill>
                          <a:latin typeface="Readex Pro"/>
                          <a:ea typeface="Readex Pro"/>
                          <a:cs typeface="Readex Pro"/>
                          <a:sym typeface="Readex Pro"/>
                        </a:rPr>
                        <a:t>العنصر</a:t>
                      </a:r>
                      <a:endParaRPr/>
                    </a:p>
                  </a:txBody>
                  <a:tcPr marT="60000" marB="60000"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r>
              <a:tr h="560000">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12183F"/>
                          </a:solidFill>
                          <a:latin typeface="Readex Pro"/>
                          <a:ea typeface="Readex Pro"/>
                          <a:cs typeface="Readex Pro"/>
                          <a:sym typeface="Readex Pro"/>
                        </a:rPr>
                        <a:t>قائم</a:t>
                      </a:r>
                      <a:endParaRPr/>
                    </a:p>
                  </a:txBody>
                  <a:tcPr marT="60000" marB="60000"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12183F"/>
                          </a:solidFill>
                          <a:latin typeface="Readex Pro"/>
                          <a:ea typeface="Readex Pro"/>
                          <a:cs typeface="Readex Pro"/>
                          <a:sym typeface="Readex Pro"/>
                        </a:rPr>
                        <a:t>—</a:t>
                      </a:r>
                      <a:endParaRPr/>
                    </a:p>
                  </a:txBody>
                  <a:tcPr marT="60000" marB="60000"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12183F"/>
                          </a:solidFill>
                          <a:latin typeface="Readex Pro"/>
                          <a:ea typeface="Readex Pro"/>
                          <a:cs typeface="Readex Pro"/>
                          <a:sym typeface="Readex Pro"/>
                        </a:rPr>
                        <a:t>المترجمون والمحررون والجهات، ثم القرّاء والمسلمون الجدد</a:t>
                      </a:r>
                      <a:endParaRPr/>
                    </a:p>
                  </a:txBody>
                  <a:tcPr marT="60000" marB="60000"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12183F"/>
                          </a:solidFill>
                          <a:latin typeface="Readex Pro"/>
                          <a:ea typeface="Readex Pro"/>
                          <a:cs typeface="Readex Pro"/>
                          <a:sym typeface="Readex Pro"/>
                        </a:rPr>
                        <a:t>المستفيدون</a:t>
                      </a:r>
                      <a:endParaRPr/>
                    </a:p>
                  </a:txBody>
                  <a:tcPr marT="60000" marB="60000"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560000">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12183F"/>
                          </a:solidFill>
                          <a:latin typeface="Readex Pro"/>
                          <a:ea typeface="Readex Pro"/>
                          <a:cs typeface="Readex Pro"/>
                          <a:sym typeface="Readex Pro"/>
                        </a:rPr>
                        <a:t>قائم</a:t>
                      </a:r>
                      <a:endParaRPr/>
                    </a:p>
                  </a:txBody>
                  <a:tcPr marT="60000" marB="60000"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12183F"/>
                          </a:solidFill>
                          <a:latin typeface="Readex Pro"/>
                          <a:ea typeface="Readex Pro"/>
                          <a:cs typeface="Readex Pro"/>
                          <a:sym typeface="Readex Pro"/>
                        </a:rPr>
                        <a:t>—</a:t>
                      </a:r>
                      <a:endParaRPr/>
                    </a:p>
                  </a:txBody>
                  <a:tcPr marT="60000" marB="60000"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12183F"/>
                          </a:solidFill>
                          <a:latin typeface="Readex Pro"/>
                          <a:ea typeface="Readex Pro"/>
                          <a:cs typeface="Readex Pro"/>
                          <a:sym typeface="Readex Pro"/>
                        </a:rPr>
                        <a:t>موقع مجاني، وواجهة برمجية للدمج في أدوات التحرير</a:t>
                      </a:r>
                      <a:endParaRPr/>
                    </a:p>
                  </a:txBody>
                  <a:tcPr marT="60000" marB="60000"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12183F"/>
                          </a:solidFill>
                          <a:latin typeface="Readex Pro"/>
                          <a:ea typeface="Readex Pro"/>
                          <a:cs typeface="Readex Pro"/>
                          <a:sym typeface="Readex Pro"/>
                        </a:rPr>
                        <a:t>القنوات</a:t>
                      </a:r>
                      <a:endParaRPr/>
                    </a:p>
                  </a:txBody>
                  <a:tcPr marT="60000" marB="60000"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560000">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12183F"/>
                          </a:solidFill>
                          <a:latin typeface="Readex Pro"/>
                          <a:ea typeface="Readex Pro"/>
                          <a:cs typeface="Readex Pro"/>
                          <a:sym typeface="Readex Pro"/>
                        </a:rPr>
                        <a:t>مُقاس</a:t>
                      </a:r>
                      <a:endParaRPr/>
                    </a:p>
                  </a:txBody>
                  <a:tcPr marT="60000" marB="60000"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12183F"/>
                          </a:solidFill>
                          <a:latin typeface="Readex Pro"/>
                          <a:ea typeface="Readex Pro"/>
                          <a:cs typeface="Readex Pro"/>
                          <a:sym typeface="Readex Pro"/>
                        </a:rPr>
                        <a:t>23–40 دولاراً</a:t>
                      </a:r>
                      <a:endParaRPr/>
                    </a:p>
                  </a:txBody>
                  <a:tcPr marT="60000" marB="60000"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12183F"/>
                          </a:solidFill>
                          <a:latin typeface="Readex Pro"/>
                          <a:ea typeface="Readex Pro"/>
                          <a:cs typeface="Readex Pro"/>
                          <a:sym typeface="Readex Pro"/>
                        </a:rPr>
                        <a:t>النموذج اللغوي لكل 1000 جملة، من سجل الاستدعاءات الفعلي</a:t>
                      </a:r>
                      <a:endParaRPr/>
                    </a:p>
                  </a:txBody>
                  <a:tcPr marT="60000" marB="60000"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12183F"/>
                          </a:solidFill>
                          <a:latin typeface="Readex Pro"/>
                          <a:ea typeface="Readex Pro"/>
                          <a:cs typeface="Readex Pro"/>
                          <a:sym typeface="Readex Pro"/>
                        </a:rPr>
                        <a:t>التكلفة</a:t>
                      </a:r>
                      <a:endParaRPr/>
                    </a:p>
                  </a:txBody>
                  <a:tcPr marT="60000" marB="60000"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560000">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12183F"/>
                          </a:solidFill>
                          <a:latin typeface="Readex Pro"/>
                          <a:ea typeface="Readex Pro"/>
                          <a:cs typeface="Readex Pro"/>
                          <a:sym typeface="Readex Pro"/>
                        </a:rPr>
                        <a:t>مقترح</a:t>
                      </a:r>
                      <a:endParaRPr/>
                    </a:p>
                  </a:txBody>
                  <a:tcPr marT="60000" marB="60000"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12183F"/>
                          </a:solidFill>
                          <a:latin typeface="Readex Pro"/>
                          <a:ea typeface="Readex Pro"/>
                          <a:cs typeface="Readex Pro"/>
                          <a:sym typeface="Readex Pro"/>
                        </a:rPr>
                        <a:t>—</a:t>
                      </a:r>
                      <a:endParaRPr/>
                    </a:p>
                  </a:txBody>
                  <a:tcPr marT="60000" marB="60000"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12183F"/>
                          </a:solidFill>
                          <a:latin typeface="Readex Pro"/>
                          <a:ea typeface="Readex Pro"/>
                          <a:cs typeface="Readex Pro"/>
                          <a:sym typeface="Readex Pro"/>
                        </a:rPr>
                        <a:t>مجاني للأفراد، واسترداد التكلفة للجهات، ومنح ورعايات</a:t>
                      </a:r>
                      <a:endParaRPr/>
                    </a:p>
                  </a:txBody>
                  <a:tcPr marT="60000" marB="60000"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12183F"/>
                          </a:solidFill>
                          <a:latin typeface="Readex Pro"/>
                          <a:ea typeface="Readex Pro"/>
                          <a:cs typeface="Readex Pro"/>
                          <a:sym typeface="Readex Pro"/>
                        </a:rPr>
                        <a:t>الإيرادات</a:t>
                      </a:r>
                      <a:endParaRPr/>
                    </a:p>
                  </a:txBody>
                  <a:tcPr marT="60000" marB="60000"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560000">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12183F"/>
                          </a:solidFill>
                          <a:latin typeface="Readex Pro"/>
                          <a:ea typeface="Readex Pro"/>
                          <a:cs typeface="Readex Pro"/>
                          <a:sym typeface="Readex Pro"/>
                        </a:rPr>
                        <a:t>محتملون</a:t>
                      </a:r>
                      <a:endParaRPr/>
                    </a:p>
                  </a:txBody>
                  <a:tcPr marT="60000" marB="60000"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12183F"/>
                          </a:solidFill>
                          <a:latin typeface="Readex Pro"/>
                          <a:ea typeface="Readex Pro"/>
                          <a:cs typeface="Readex Pro"/>
                          <a:sym typeface="Readex Pro"/>
                        </a:rPr>
                        <a:t>—</a:t>
                      </a:r>
                      <a:endParaRPr/>
                    </a:p>
                  </a:txBody>
                  <a:tcPr marT="60000" marB="60000"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12183F"/>
                          </a:solidFill>
                          <a:latin typeface="Readex Pro"/>
                          <a:ea typeface="Readex Pro"/>
                          <a:cs typeface="Readex Pro"/>
                          <a:sym typeface="Readex Pro"/>
                        </a:rPr>
                        <a:t>جهات المصادر الرسمية، ودور الترجمة والجمعيات المتخصصة</a:t>
                      </a:r>
                      <a:endParaRPr/>
                    </a:p>
                  </a:txBody>
                  <a:tcPr marT="60000" marB="60000"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1600" u="none" cap="none" strike="noStrike">
                          <a:solidFill>
                            <a:srgbClr val="12183F"/>
                          </a:solidFill>
                          <a:latin typeface="Readex Pro"/>
                          <a:ea typeface="Readex Pro"/>
                          <a:cs typeface="Readex Pro"/>
                          <a:sym typeface="Readex Pro"/>
                        </a:rPr>
                        <a:t>الشركاء</a:t>
                      </a:r>
                      <a:endParaRPr/>
                    </a:p>
                  </a:txBody>
                  <a:tcPr marT="60000" marB="60000"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bl>
          </a:graphicData>
        </a:graphic>
      </p:graphicFrame>
      <p:sp>
        <p:nvSpPr>
          <p:cNvPr id="732" name="Google Shape;732;p21"/>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6150EA"/>
                </a:solidFill>
                <a:latin typeface="Readex Pro"/>
                <a:ea typeface="Readex Pro"/>
                <a:cs typeface="Readex Pro"/>
                <a:sym typeface="Readex Pro"/>
              </a:rPr>
              <a:t>الاستدامة</a:t>
            </a:r>
            <a:endParaRPr/>
          </a:p>
        </p:txBody>
      </p:sp>
      <p:sp>
        <p:nvSpPr>
          <p:cNvPr id="733" name="Google Shape;733;p21"/>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12183F"/>
                </a:solidFill>
                <a:latin typeface="Readex Pro"/>
                <a:ea typeface="Readex Pro"/>
                <a:cs typeface="Readex Pro"/>
                <a:sym typeface="Readex Pro"/>
              </a:rPr>
              <a:t>نموذج التشغيل والاستمرار</a:t>
            </a:r>
            <a:endParaRPr/>
          </a:p>
        </p:txBody>
      </p:sp>
      <p:sp>
        <p:nvSpPr>
          <p:cNvPr id="734" name="Google Shape;734;p21"/>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4A5590"/>
                </a:solidFill>
                <a:latin typeface="Readex Pro"/>
                <a:ea typeface="Readex Pro"/>
                <a:cs typeface="Readex Pro"/>
                <a:sym typeface="Readex Pro"/>
              </a:rPr>
              <a:t>تكلفة مُقاسة، وواجهة برمجية للجهات، وشركاء محتملون</a:t>
            </a:r>
            <a:endParaRPr/>
          </a:p>
        </p:txBody>
      </p:sp>
      <p:sp>
        <p:nvSpPr>
          <p:cNvPr id="735" name="Google Shape;735;p21"/>
          <p:cNvSpPr txBox="1"/>
          <p:nvPr>
            <p:ph idx="3" type="body"/>
          </p:nvPr>
        </p:nvSpPr>
        <p:spPr>
          <a:xfrm>
            <a:off x="1409700" y="881062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4A5590"/>
                </a:solidFill>
                <a:latin typeface="Readex Pro"/>
                <a:ea typeface="Readex Pro"/>
                <a:cs typeface="Readex Pro"/>
                <a:sym typeface="Readex Pro"/>
              </a:rPr>
              <a:t>عند تعطل المزوّد: التقارير السابقة من التخزين المؤقت، والميزان والقواعد تعمل بلا نموذج · لم يُتواصل مع الشركاء بعد</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49" name="Shape 649"/>
        <p:cNvGrpSpPr/>
        <p:nvPr/>
      </p:nvGrpSpPr>
      <p:grpSpPr>
        <a:xfrm>
          <a:off x="0" y="0"/>
          <a:ext cx="0" cy="0"/>
          <a:chOff x="0" y="0"/>
          <a:chExt cx="0" cy="0"/>
        </a:xfrm>
      </p:grpSpPr>
      <p:pic>
        <p:nvPicPr>
          <p:cNvPr id="650" name="Google Shape;650;p18"/>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sp>
        <p:nvSpPr>
          <p:cNvPr id="651" name="Google Shape;651;p1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652" name="Google Shape;652;p18"/>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خطة الاستمرار</a:t>
            </a:r>
            <a:endParaRPr/>
          </a:p>
        </p:txBody>
      </p:sp>
      <p:sp>
        <p:nvSpPr>
          <p:cNvPr id="653" name="Google Shape;653;p18"/>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خطة الاستمرار</a:t>
            </a:r>
            <a:endParaRPr/>
          </a:p>
        </p:txBody>
      </p:sp>
      <p:sp>
        <p:nvSpPr>
          <p:cNvPr id="654" name="Google Shape;654;p18"/>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من منتج يعمل اليوم إلى أداة تعتمدها جهات الترجمة</a:t>
            </a:r>
            <a:endParaRPr/>
          </a:p>
        </p:txBody>
      </p:sp>
      <p:sp>
        <p:nvSpPr>
          <p:cNvPr id="655" name="Google Shape;655;p18"/>
          <p:cNvSpPr txBox="1"/>
          <p:nvPr>
            <p:ph idx="3" type="body"/>
          </p:nvPr>
        </p:nvSpPr>
        <p:spPr>
          <a:xfrm>
            <a:off x="13982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01</a:t>
            </a:r>
            <a:endParaRPr/>
          </a:p>
        </p:txBody>
      </p:sp>
      <p:sp>
        <p:nvSpPr>
          <p:cNvPr id="656" name="Google Shape;656;p18"/>
          <p:cNvSpPr txBox="1"/>
          <p:nvPr>
            <p:ph idx="4" type="body"/>
          </p:nvPr>
        </p:nvSpPr>
        <p:spPr>
          <a:xfrm>
            <a:off x="13982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الإطلاق</a:t>
            </a:r>
            <a:endParaRPr/>
          </a:p>
        </p:txBody>
      </p:sp>
      <p:sp>
        <p:nvSpPr>
          <p:cNvPr id="657" name="Google Shape;657;p18"/>
          <p:cNvSpPr txBox="1"/>
          <p:nvPr>
            <p:ph idx="5" type="body"/>
          </p:nvPr>
        </p:nvSpPr>
        <p:spPr>
          <a:xfrm>
            <a:off x="13982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أكتوبر 2026</a:t>
            </a:r>
            <a:endParaRPr/>
          </a:p>
        </p:txBody>
      </p:sp>
      <p:sp>
        <p:nvSpPr>
          <p:cNvPr id="658" name="Google Shape;658;p18"/>
          <p:cNvSpPr txBox="1"/>
          <p:nvPr>
            <p:ph idx="6" type="body"/>
          </p:nvPr>
        </p:nvSpPr>
        <p:spPr>
          <a:xfrm>
            <a:off x="13982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رابط حي، ومدونة رسمية، وتقييم الكود النهائي</a:t>
            </a:r>
            <a:endParaRPr/>
          </a:p>
        </p:txBody>
      </p:sp>
      <p:sp>
        <p:nvSpPr>
          <p:cNvPr id="659" name="Google Shape;659;p18"/>
          <p:cNvSpPr txBox="1"/>
          <p:nvPr>
            <p:ph idx="7" type="body"/>
          </p:nvPr>
        </p:nvSpPr>
        <p:spPr>
          <a:xfrm>
            <a:off x="108394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02</a:t>
            </a:r>
            <a:endParaRPr/>
          </a:p>
        </p:txBody>
      </p:sp>
      <p:sp>
        <p:nvSpPr>
          <p:cNvPr id="660" name="Google Shape;660;p18"/>
          <p:cNvSpPr txBox="1"/>
          <p:nvPr>
            <p:ph idx="8" type="body"/>
          </p:nvPr>
        </p:nvSpPr>
        <p:spPr>
          <a:xfrm>
            <a:off x="108394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المستخدمون</a:t>
            </a:r>
            <a:endParaRPr/>
          </a:p>
        </p:txBody>
      </p:sp>
      <p:sp>
        <p:nvSpPr>
          <p:cNvPr id="661" name="Google Shape;661;p18"/>
          <p:cNvSpPr txBox="1"/>
          <p:nvPr>
            <p:ph idx="9" type="body"/>
          </p:nvPr>
        </p:nvSpPr>
        <p:spPr>
          <a:xfrm>
            <a:off x="108394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نوفمبر 2026</a:t>
            </a:r>
            <a:endParaRPr/>
          </a:p>
        </p:txBody>
      </p:sp>
      <p:sp>
        <p:nvSpPr>
          <p:cNvPr id="662" name="Google Shape;662;p18"/>
          <p:cNvSpPr txBox="1"/>
          <p:nvPr>
            <p:ph idx="13" type="body"/>
          </p:nvPr>
        </p:nvSpPr>
        <p:spPr>
          <a:xfrm>
            <a:off x="108394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اختبار مع مترجمين: الوقت ودقة الكشف</a:t>
            </a:r>
            <a:endParaRPr/>
          </a:p>
        </p:txBody>
      </p:sp>
      <p:sp>
        <p:nvSpPr>
          <p:cNvPr id="663" name="Google Shape;663;p18"/>
          <p:cNvSpPr txBox="1"/>
          <p:nvPr>
            <p:ph idx="14" type="body"/>
          </p:nvPr>
        </p:nvSpPr>
        <p:spPr>
          <a:xfrm>
            <a:off x="76962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03</a:t>
            </a:r>
            <a:endParaRPr/>
          </a:p>
        </p:txBody>
      </p:sp>
      <p:sp>
        <p:nvSpPr>
          <p:cNvPr id="664" name="Google Shape;664;p18"/>
          <p:cNvSpPr txBox="1"/>
          <p:nvPr>
            <p:ph idx="15" type="body"/>
          </p:nvPr>
        </p:nvSpPr>
        <p:spPr>
          <a:xfrm>
            <a:off x="76962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المراجعة الشرعية</a:t>
            </a:r>
            <a:endParaRPr/>
          </a:p>
        </p:txBody>
      </p:sp>
      <p:sp>
        <p:nvSpPr>
          <p:cNvPr id="665" name="Google Shape;665;p18"/>
          <p:cNvSpPr txBox="1"/>
          <p:nvPr>
            <p:ph idx="16" type="body"/>
          </p:nvPr>
        </p:nvSpPr>
        <p:spPr>
          <a:xfrm>
            <a:off x="76962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ديسمبر 2026</a:t>
            </a:r>
            <a:endParaRPr/>
          </a:p>
        </p:txBody>
      </p:sp>
      <p:sp>
        <p:nvSpPr>
          <p:cNvPr id="666" name="Google Shape;666;p18"/>
          <p:cNvSpPr txBox="1"/>
          <p:nvPr>
            <p:ph idx="17" type="body"/>
          </p:nvPr>
        </p:nvSpPr>
        <p:spPr>
          <a:xfrm>
            <a:off x="76962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مراجعة المدونة والمسائل والمصطلحات</a:t>
            </a:r>
            <a:endParaRPr/>
          </a:p>
        </p:txBody>
      </p:sp>
      <p:sp>
        <p:nvSpPr>
          <p:cNvPr id="667" name="Google Shape;667;p18"/>
          <p:cNvSpPr txBox="1"/>
          <p:nvPr>
            <p:ph idx="18" type="body"/>
          </p:nvPr>
        </p:nvSpPr>
        <p:spPr>
          <a:xfrm>
            <a:off x="45529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04</a:t>
            </a:r>
            <a:endParaRPr/>
          </a:p>
        </p:txBody>
      </p:sp>
      <p:sp>
        <p:nvSpPr>
          <p:cNvPr id="668" name="Google Shape;668;p18"/>
          <p:cNvSpPr txBox="1"/>
          <p:nvPr>
            <p:ph idx="19" type="body"/>
          </p:nvPr>
        </p:nvSpPr>
        <p:spPr>
          <a:xfrm>
            <a:off x="45529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توسيع المحتوى</a:t>
            </a:r>
            <a:endParaRPr/>
          </a:p>
        </p:txBody>
      </p:sp>
      <p:sp>
        <p:nvSpPr>
          <p:cNvPr id="669" name="Google Shape;669;p18"/>
          <p:cNvSpPr txBox="1"/>
          <p:nvPr>
            <p:ph idx="20" type="body"/>
          </p:nvPr>
        </p:nvSpPr>
        <p:spPr>
          <a:xfrm>
            <a:off x="45529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2027</a:t>
            </a:r>
            <a:endParaRPr/>
          </a:p>
        </p:txBody>
      </p:sp>
      <p:sp>
        <p:nvSpPr>
          <p:cNvPr id="670" name="Google Shape;670;p18"/>
          <p:cNvSpPr txBox="1"/>
          <p:nvPr>
            <p:ph idx="21" type="body"/>
          </p:nvPr>
        </p:nvSpPr>
        <p:spPr>
          <a:xfrm>
            <a:off x="45529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أقوال المذاهب من مصادرها، ولغات أخرى</a:t>
            </a:r>
            <a:endParaRPr/>
          </a:p>
        </p:txBody>
      </p:sp>
      <p:sp>
        <p:nvSpPr>
          <p:cNvPr id="671" name="Google Shape;671;p18"/>
          <p:cNvSpPr txBox="1"/>
          <p:nvPr>
            <p:ph idx="22" type="body"/>
          </p:nvPr>
        </p:nvSpPr>
        <p:spPr>
          <a:xfrm>
            <a:off x="1409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05</a:t>
            </a:r>
            <a:endParaRPr/>
          </a:p>
        </p:txBody>
      </p:sp>
      <p:sp>
        <p:nvSpPr>
          <p:cNvPr id="672" name="Google Shape;672;p18"/>
          <p:cNvSpPr txBox="1"/>
          <p:nvPr>
            <p:ph idx="23" type="body"/>
          </p:nvPr>
        </p:nvSpPr>
        <p:spPr>
          <a:xfrm>
            <a:off x="1409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الشراكات</a:t>
            </a:r>
            <a:endParaRPr/>
          </a:p>
        </p:txBody>
      </p:sp>
      <p:sp>
        <p:nvSpPr>
          <p:cNvPr id="673" name="Google Shape;673;p18"/>
          <p:cNvSpPr txBox="1"/>
          <p:nvPr>
            <p:ph idx="24" type="body"/>
          </p:nvPr>
        </p:nvSpPr>
        <p:spPr>
          <a:xfrm>
            <a:off x="1409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2027</a:t>
            </a:r>
            <a:endParaRPr/>
          </a:p>
        </p:txBody>
      </p:sp>
      <p:sp>
        <p:nvSpPr>
          <p:cNvPr id="674" name="Google Shape;674;p18"/>
          <p:cNvSpPr txBox="1"/>
          <p:nvPr>
            <p:ph idx="25" type="body"/>
          </p:nvPr>
        </p:nvSpPr>
        <p:spPr>
          <a:xfrm>
            <a:off x="1409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دمج مِرآة في أدوات جهات الترجمة</a:t>
            </a:r>
            <a:endParaRPr/>
          </a:p>
        </p:txBody>
      </p:sp>
      <p:cxnSp>
        <p:nvCxnSpPr>
          <p:cNvPr id="675" name="Google Shape;675;p18"/>
          <p:cNvCxnSpPr/>
          <p:nvPr/>
        </p:nvCxnSpPr>
        <p:spPr>
          <a:xfrm rot="10800000">
            <a:off x="13992300" y="4708975"/>
            <a:ext cx="2838300" cy="0"/>
          </a:xfrm>
          <a:prstGeom prst="straightConnector1">
            <a:avLst/>
          </a:prstGeom>
          <a:noFill/>
          <a:ln cap="flat" cmpd="sng" w="76200">
            <a:solidFill>
              <a:srgbClr val="6150EA"/>
            </a:solidFill>
            <a:prstDash val="solid"/>
            <a:round/>
            <a:headEnd len="med" w="med" type="none"/>
            <a:tailEnd len="med" w="med" type="none"/>
          </a:ln>
        </p:spPr>
      </p:cxnSp>
      <p:pic>
        <p:nvPicPr>
          <p:cNvPr id="676" name="Google Shape;676;p18"/>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cxnSp>
        <p:nvCxnSpPr>
          <p:cNvPr id="677" name="Google Shape;677;p18"/>
          <p:cNvCxnSpPr/>
          <p:nvPr/>
        </p:nvCxnSpPr>
        <p:spPr>
          <a:xfrm rot="10800000">
            <a:off x="108300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8" name="Google Shape;678;p18"/>
          <p:cNvCxnSpPr/>
          <p:nvPr/>
        </p:nvCxnSpPr>
        <p:spPr>
          <a:xfrm rot="10800000">
            <a:off x="76677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9" name="Google Shape;679;p18"/>
          <p:cNvCxnSpPr/>
          <p:nvPr/>
        </p:nvCxnSpPr>
        <p:spPr>
          <a:xfrm rot="10800000">
            <a:off x="45054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80" name="Google Shape;680;p18"/>
          <p:cNvCxnSpPr/>
          <p:nvPr/>
        </p:nvCxnSpPr>
        <p:spPr>
          <a:xfrm rot="10800000">
            <a:off x="1343100" y="4708975"/>
            <a:ext cx="2838300" cy="0"/>
          </a:xfrm>
          <a:prstGeom prst="straightConnector1">
            <a:avLst/>
          </a:prstGeom>
          <a:noFill/>
          <a:ln cap="flat" cmpd="sng" w="76200">
            <a:solidFill>
              <a:srgbClr val="6150EA"/>
            </a:solidFill>
            <a:prstDash val="solid"/>
            <a:round/>
            <a:headEnd len="med" w="med" type="none"/>
            <a:tailEnd len="med" w="med" type="non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pic>
        <p:nvPicPr>
          <p:cNvPr id="686" name="Google Shape;686;p19"/>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pic>
        <p:nvPicPr>
          <p:cNvPr id="687" name="Google Shape;687;p19"/>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88" name="Google Shape;688;p19"/>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الفريق</a:t>
            </a:r>
            <a:endParaRPr/>
          </a:p>
        </p:txBody>
      </p:sp>
      <p:sp>
        <p:nvSpPr>
          <p:cNvPr id="689" name="Google Shape;689;p19"/>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فريق العمل</a:t>
            </a:r>
            <a:endParaRPr/>
          </a:p>
        </p:txBody>
      </p:sp>
      <p:sp>
        <p:nvSpPr>
          <p:cNvPr id="690" name="Google Shape;690;p19"/>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مشاركة فردية</a:t>
            </a:r>
            <a:endParaRPr/>
          </a:p>
        </p:txBody>
      </p:sp>
      <p:sp>
        <p:nvSpPr>
          <p:cNvPr id="691" name="Google Shape;691;p1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692" name="Google Shape;692;p19" descr="favicon-180.png"/>
          <p:cNvPicPr>
            <a:picLocks noGrp="1" noChangeAspect="1"/>
          </p:cNvPicPr>
          <p:nvPr>
            <p:ph idx="3" type="pic"/>
          </p:nvPr>
        </p:nvPicPr>
        <p:blipFill>
          <a:blip r:embed="rId5"/>
          <a:srcRect/>
          <a:stretch>
            <a:fillRect/>
          </a:stretch>
        </p:blipFill>
        <p:spPr>
          <a:xfrm>
            <a:off x="7858125" y="3857625"/>
            <a:ext cx="2571750" cy="2571750"/>
          </a:xfrm>
        </p:spPr>
      </p:pic>
      <p:sp>
        <p:nvSpPr>
          <p:cNvPr id="693" name="Google Shape;693;p19"/>
          <p:cNvSpPr txBox="1"/>
          <p:nvPr>
            <p:ph idx="4" type="body"/>
          </p:nvPr>
        </p:nvSpPr>
        <p:spPr>
          <a:xfrm>
            <a:off x="7381875"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شوق سالم الخليفي</a:t>
            </a:r>
            <a:endParaRPr/>
          </a:p>
        </p:txBody>
      </p:sp>
      <p:sp>
        <p:nvSpPr>
          <p:cNvPr id="694" name="Google Shape;694;p19"/>
          <p:cNvSpPr txBox="1"/>
          <p:nvPr>
            <p:ph idx="5" type="body"/>
          </p:nvPr>
        </p:nvSpPr>
        <p:spPr>
          <a:xfrm>
            <a:off x="7381875"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2EF2C2"/>
                </a:solidFill>
                <a:latin typeface="Readex Pro"/>
                <a:ea typeface="Readex Pro"/>
                <a:cs typeface="Readex Pro"/>
                <a:sym typeface="Readex Pro"/>
              </a:rPr>
              <a:t>الفكرة والمواصفات، والتطوير، والاختبار</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pic>
        <p:nvPicPr>
          <p:cNvPr id="914" name="Google Shape;914;p31"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915" name="Google Shape;915;p31"/>
          <p:cNvSpPr txBox="1"/>
          <p:nvPr>
            <p:ph idx="1" type="body"/>
          </p:nvPr>
        </p:nvSpPr>
        <p:spPr>
          <a:xfrm>
            <a:off x="3810000" y="5676900"/>
            <a:ext cx="106680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0" lang="ar-SA" sz="2700">
                <a:solidFill>
                  <a:srgbClr val="F2F4FF"/>
                </a:solidFill>
                <a:latin typeface="Readex Pro"/>
                <a:ea typeface="Readex Pro"/>
                <a:cs typeface="Readex Pro"/>
                <a:sym typeface="Readex Pro"/>
              </a:rPr>
              <a:t>مِرآة MIRAAH · نحافظ على المعنى، لا على الكلمات فقط</a:t>
            </a:r>
            <a:endParaRPr/>
          </a:p>
        </p:txBody>
      </p:sp>
      <p:sp>
        <p:nvSpPr>
          <p:cNvPr id="916" name="Google Shape;916;p31"/>
          <p:cNvSpPr txBox="1"/>
          <p:nvPr>
            <p:ph idx="2" type="body"/>
          </p:nvPr>
        </p:nvSpPr>
        <p:spPr>
          <a:xfrm>
            <a:off x="3810000" y="6653200"/>
            <a:ext cx="10668000" cy="6669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100"/>
              <a:buNone/>
            </a:pPr>
            <a:r>
              <a:rPr b="0" lang="ar-SA" sz="2100">
                <a:solidFill>
                  <a:srgbClr val="CBCFE6"/>
                </a:solidFill>
                <a:latin typeface="Readex Pro"/>
                <a:ea typeface="Readex Pro"/>
                <a:cs typeface="Readex Pro"/>
                <a:sym typeface="Readex Pro"/>
              </a:rPr>
              <a:t>miraah.onrender.com  ·  github.com/Shouqalkhalifi/MIRAAH-</a:t>
            </a:r>
            <a:endParaRPr/>
          </a:p>
        </p:txBody>
      </p:sp>
      <p:sp>
        <p:nvSpPr>
          <p:cNvPr id="917" name="Google Shape;917;p31"/>
          <p:cNvSpPr txBox="1"/>
          <p:nvPr>
            <p:ph type="title"/>
          </p:nvPr>
        </p:nvSpPr>
        <p:spPr>
          <a:xfrm>
            <a:off x="3810000" y="3819525"/>
            <a:ext cx="10668000" cy="14289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200"/>
              <a:buNone/>
            </a:pPr>
            <a:r>
              <a:rPr b="1" lang="ar-SA" sz="7200">
                <a:solidFill>
                  <a:srgbClr val="2EF2C2"/>
                </a:solidFill>
                <a:latin typeface="Readex Pro"/>
                <a:ea typeface="Readex Pro"/>
                <a:cs typeface="Readex Pro"/>
                <a:sym typeface="Readex Pro"/>
              </a:rPr>
              <a:t>شكراً لكم</a:t>
            </a:r>
            <a:endParaRPr/>
          </a:p>
        </p:txBody>
      </p:sp>
      <p:pic>
        <p:nvPicPr>
          <p:cNvPr id="918" name="Google Shape;918;p31" title="شعار الهاكثون لايت.png"/>
          <p:cNvPicPr preferRelativeResize="0"/>
          <p:nvPr/>
        </p:nvPicPr>
        <p:blipFill>
          <a:blip r:embed="rId4">
            <a:alphaModFix/>
          </a:blip>
          <a:stretch>
            <a:fillRect/>
          </a:stretch>
        </p:blipFill>
        <p:spPr>
          <a:xfrm>
            <a:off x="3158450" y="1277075"/>
            <a:ext cx="6546002" cy="1678025"/>
          </a:xfrm>
          <a:prstGeom prst="rect">
            <a:avLst/>
          </a:prstGeom>
          <a:noFill/>
          <a:ln>
            <a:noFill/>
          </a:ln>
        </p:spPr>
      </p:pic>
      <p:pic>
        <p:nvPicPr>
          <p:cNvPr id="919" name="Google Shape;919;p31"/>
          <p:cNvPicPr preferRelativeResize="0"/>
          <p:nvPr/>
        </p:nvPicPr>
        <p:blipFill rotWithShape="1">
          <a:blip r:embed="rId5">
            <a:alphaModFix/>
          </a:blip>
          <a:srcRect b="0" l="0" r="0" t="0"/>
          <a:stretch/>
        </p:blipFill>
        <p:spPr>
          <a:xfrm>
            <a:off x="13237879" y="1460433"/>
            <a:ext cx="1891696" cy="1195990"/>
          </a:xfrm>
          <a:prstGeom prst="rect">
            <a:avLst/>
          </a:prstGeom>
          <a:noFill/>
          <a:ln>
            <a:noFill/>
          </a:ln>
        </p:spPr>
      </p:pic>
      <p:pic>
        <p:nvPicPr>
          <p:cNvPr id="920" name="Google Shape;920;p31" title="شعار عام الذكاء الاصطناعي.png"/>
          <p:cNvPicPr preferRelativeResize="0"/>
          <p:nvPr/>
        </p:nvPicPr>
        <p:blipFill>
          <a:blip r:embed="rId6">
            <a:alphaModFix/>
          </a:blip>
          <a:stretch>
            <a:fillRect/>
          </a:stretch>
        </p:blipFill>
        <p:spPr>
          <a:xfrm>
            <a:off x="10056994" y="1261812"/>
            <a:ext cx="2908672" cy="1708549"/>
          </a:xfrm>
          <a:prstGeom prst="rect">
            <a:avLst/>
          </a:prstGeom>
          <a:noFill/>
          <a:ln>
            <a:noFill/>
          </a:ln>
        </p:spPr>
      </p:pic>
      <p:pic>
        <p:nvPicPr>
          <p:cNvPr id="921" name="Google Shape;921;p31" title="شعار سدايا.png"/>
          <p:cNvPicPr preferRelativeResize="0"/>
          <p:nvPr/>
        </p:nvPicPr>
        <p:blipFill>
          <a:blip r:embed="rId7">
            <a:alphaModFix/>
          </a:blip>
          <a:stretch>
            <a:fillRect/>
          </a:stretch>
        </p:blipFill>
        <p:spPr>
          <a:xfrm>
            <a:off x="7750489" y="7716733"/>
            <a:ext cx="2292680" cy="1346725"/>
          </a:xfrm>
          <a:prstGeom prst="rect">
            <a:avLst/>
          </a:prstGeom>
          <a:noFill/>
          <a:ln>
            <a:noFill/>
          </a:ln>
        </p:spPr>
      </p:pic>
      <p:pic>
        <p:nvPicPr>
          <p:cNvPr id="922" name="Google Shape;922;p31" title="شعار فيوتشر.png"/>
          <p:cNvPicPr preferRelativeResize="0"/>
          <p:nvPr/>
        </p:nvPicPr>
        <p:blipFill>
          <a:blip r:embed="rId8">
            <a:alphaModFix/>
          </a:blip>
          <a:stretch>
            <a:fillRect/>
          </a:stretch>
        </p:blipFill>
        <p:spPr>
          <a:xfrm>
            <a:off x="3179331" y="7929122"/>
            <a:ext cx="1570852" cy="921955"/>
          </a:xfrm>
          <a:prstGeom prst="rect">
            <a:avLst/>
          </a:prstGeom>
          <a:noFill/>
          <a:ln>
            <a:noFill/>
          </a:ln>
        </p:spPr>
      </p:pic>
      <p:pic>
        <p:nvPicPr>
          <p:cNvPr id="923" name="Google Shape;923;p31" title="شعار التحول.png"/>
          <p:cNvPicPr preferRelativeResize="0"/>
          <p:nvPr/>
        </p:nvPicPr>
        <p:blipFill>
          <a:blip r:embed="rId9">
            <a:alphaModFix/>
          </a:blip>
          <a:stretch>
            <a:fillRect/>
          </a:stretch>
        </p:blipFill>
        <p:spPr>
          <a:xfrm>
            <a:off x="5373933" y="7875719"/>
            <a:ext cx="1752806" cy="1028753"/>
          </a:xfrm>
          <a:prstGeom prst="rect">
            <a:avLst/>
          </a:prstGeom>
          <a:noFill/>
          <a:ln>
            <a:noFill/>
          </a:ln>
        </p:spPr>
      </p:pic>
      <p:sp>
        <p:nvSpPr>
          <p:cNvPr id="924" name="Google Shape;924;p31"/>
          <p:cNvSpPr txBox="1"/>
          <p:nvPr/>
        </p:nvSpPr>
        <p:spPr>
          <a:xfrm>
            <a:off x="14046675" y="8254733"/>
            <a:ext cx="1062000" cy="2958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lang="ar-SA" sz="1800">
                <a:solidFill>
                  <a:srgbClr val="2EF2C2"/>
                </a:solidFill>
                <a:latin typeface="Readex Pro"/>
                <a:ea typeface="Readex Pro"/>
                <a:cs typeface="Readex Pro"/>
                <a:sym typeface="Readex Pro"/>
              </a:rPr>
              <a:t>شركاؤنا</a:t>
            </a:r>
            <a:r>
              <a:rPr lang="ar-SA">
                <a:solidFill>
                  <a:srgbClr val="2EF2C2"/>
                </a:solidFill>
                <a:latin typeface="Readex Pro"/>
                <a:ea typeface="Readex Pro"/>
                <a:cs typeface="Readex Pro"/>
                <a:sym typeface="Readex Pro"/>
              </a:rPr>
              <a:t>:</a:t>
            </a:r>
            <a:endParaRPr sz="1800">
              <a:solidFill>
                <a:srgbClr val="2EF2C2"/>
              </a:solidFill>
              <a:latin typeface="Readex Pro"/>
              <a:ea typeface="Readex Pro"/>
              <a:cs typeface="Readex Pro"/>
              <a:sym typeface="Readex Pro"/>
            </a:endParaRPr>
          </a:p>
        </p:txBody>
      </p:sp>
      <p:cxnSp>
        <p:nvCxnSpPr>
          <p:cNvPr id="925" name="Google Shape;925;p31"/>
          <p:cNvCxnSpPr/>
          <p:nvPr/>
        </p:nvCxnSpPr>
        <p:spPr>
          <a:xfrm>
            <a:off x="7456246" y="8142400"/>
            <a:ext cx="0" cy="453600"/>
          </a:xfrm>
          <a:prstGeom prst="straightConnector1">
            <a:avLst/>
          </a:prstGeom>
          <a:noFill/>
          <a:ln cap="flat" cmpd="sng" w="9525">
            <a:solidFill>
              <a:srgbClr val="2EF2C2"/>
            </a:solidFill>
            <a:prstDash val="solid"/>
            <a:round/>
            <a:headEnd len="med" w="med" type="none"/>
            <a:tailEnd len="med" w="med" type="none"/>
          </a:ln>
        </p:spPr>
      </p:cxnSp>
      <p:cxnSp>
        <p:nvCxnSpPr>
          <p:cNvPr id="926" name="Google Shape;926;p31"/>
          <p:cNvCxnSpPr/>
          <p:nvPr/>
        </p:nvCxnSpPr>
        <p:spPr>
          <a:xfrm>
            <a:off x="5075007" y="8142400"/>
            <a:ext cx="0" cy="453600"/>
          </a:xfrm>
          <a:prstGeom prst="straightConnector1">
            <a:avLst/>
          </a:prstGeom>
          <a:noFill/>
          <a:ln cap="flat" cmpd="sng" w="9525">
            <a:solidFill>
              <a:srgbClr val="2EF2C2"/>
            </a:solidFill>
            <a:prstDash val="solid"/>
            <a:round/>
            <a:headEnd len="med" w="med" type="none"/>
            <a:tailEnd len="med" w="med" type="none"/>
          </a:ln>
        </p:spPr>
      </p:cxnSp>
      <p:pic>
        <p:nvPicPr>
          <p:cNvPr id="927" name="Google Shape;927;p31" title="شعار وزارة الاتصالات.png"/>
          <p:cNvPicPr preferRelativeResize="0"/>
          <p:nvPr/>
        </p:nvPicPr>
        <p:blipFill>
          <a:blip r:embed="rId10">
            <a:alphaModFix/>
          </a:blip>
          <a:stretch>
            <a:fillRect/>
          </a:stretch>
        </p:blipFill>
        <p:spPr>
          <a:xfrm>
            <a:off x="10602750" y="7979050"/>
            <a:ext cx="3035650" cy="847150"/>
          </a:xfrm>
          <a:prstGeom prst="rect">
            <a:avLst/>
          </a:prstGeom>
          <a:noFill/>
          <a:ln>
            <a:noFill/>
          </a:ln>
        </p:spPr>
      </p:pic>
      <p:cxnSp>
        <p:nvCxnSpPr>
          <p:cNvPr id="928" name="Google Shape;928;p31"/>
          <p:cNvCxnSpPr/>
          <p:nvPr/>
        </p:nvCxnSpPr>
        <p:spPr>
          <a:xfrm>
            <a:off x="10366904" y="8142400"/>
            <a:ext cx="0" cy="453600"/>
          </a:xfrm>
          <a:prstGeom prst="straightConnector1">
            <a:avLst/>
          </a:prstGeom>
          <a:noFill/>
          <a:ln cap="flat" cmpd="sng" w="9525">
            <a:solidFill>
              <a:srgbClr val="2EF2C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